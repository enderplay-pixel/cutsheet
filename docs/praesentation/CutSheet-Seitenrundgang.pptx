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</p:sldIdLst>
  <p:notesMasterIdLst>
    <p:notesMasterId r:id="rId8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notesMaster" Target="notesMasters/notesMaster1.xml"/><Relationship Id="rId90" Type="http://schemas.openxmlformats.org/officeDocument/2006/relationships/presProps" Target="presProps.xml"/><Relationship Id="rId91" Type="http://schemas.openxmlformats.org/officeDocument/2006/relationships/viewProps" Target="viewProps.xml"/><Relationship Id="rId92" Type="http://schemas.openxmlformats.org/officeDocument/2006/relationships/theme" Target="theme/theme1.xml"/><Relationship Id="rId9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CutSheet ist ein Werkzeug vom Drehbuch bis zur letzten Klappe – 69 Seiten, ein Datenfluss.
• Kurz vorstellen: Produktionsmanagement für Film und Creator
• Screenshots stammen aus „Nordlicht“: 45 Drehtage, 160 Szenen, 103 Leute im Stab
• Die Zahlen unten: 69 Seiten, 10 Bereiche, 18 PDF-Dokumente, 5 Rollen
ÜBERLEITUNG → Zehn Bereiche, 69 Seiten
Zeit: ca. 45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Die Seitenleiste folgt dem Ablauf einer Produktion.
• Zehn Bereiche von Zugang bis Creator-Modus
• Reihenfolge = Reihenfolge der Arbeit: entwickeln, besetzen, planen, drehen, auswerten
• Die Zahl je Kachel: Seiten im Bereich
ÜBERLEITUNG → Der Weg einer Produktion
Zeit: ca. 45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Jede Stufe schreibt Daten, die die nächste liest – nichts wird doppelt erfasst.
• Drehbuch wird zu Szenen, Szenen zum Drehplan
• Der Drehplan erzeugt die Tagesdispo, die Dispo steuert Set-App, Check-in und Catering
• Berichte am Abend speisen Zeitanalyse, DOOD und Kostenstand
ÜBERLEITUNG → Wie die Seiten zusammenhängen
Zeit: ca. 75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Sechs Datenkerne verbinden alle Filmseiten.
• Mitte: Szenen, Drehplan, Cast &amp; Crew, Motive, Budget, Tagesdispo
• Das Konfliktradar greift auf alle sechs zu
• Seiten ohne Linie führen eigene Daten (Aufgaben, Pinboard, Audit-Log)
ÜBERLEITUNG → Creator-Modus: alles hängt am Video
Zeit: ca. 75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Im Creator-Modus hängt alles am einzelnen Video.
• Die Bereiche außen sind Querschnitte über alle Videos
• Rechts: welche Film-Seiten es auch für Creator gibt
• Kein Filmwerkzeug am Markt hat diesen Modus
ÜBERLEITUNG → Wer darf was?
Zeit: ca. 60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Fünf Rollen, geprüft im Server – nicht nur in der Oberfläche.
• Admin verwaltet Mitglieder und Einstellungen
• Produktion darf zusätzlich Budget, Finanzierung und Drehplan-Versionen
• Regie und Abteilungsleitung bearbeiten Produktionsdaten, Lesezugriff sieht alles
• Jede Änderung steht mit Namen im Audit-Log
ÜBERLEITUNG → Zugang &amp; öffentliche Seiten
Zeit: ca. 60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Alles, was ohne Konto erreichbar ist: Anmeldung, Einladungen und die Dispo-Links für Cast und Crew.
• 7 Seiten: Anmeldung &amp; Registrierung, Passwort vergessen, Neues Passwort, Einladung ins Projekt, Öffentliche Dispo, Impressum, Datenschutzerklärung
ÜBERLEITUNG → Anmeldung &amp; Registrierung
Zeit: ca. 20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Der erste Eindruck: in Sekunden drin, ohne Umweg über eine Verkaufsseite.
• Anmelden und Registrieren auf einer Seite, per Umschalter
• Link zu „Passwort vergessen?“
• Sprachwahl für die Oberfläche
• Schutz gegen Passwort-Raten: Pause nach 8 Fehlversuchen
• Kennzeichen „Test“ in der Testphase vor dem Launch
• Links zu Impressum und Datenschutz
VERBUNDEN MIT: Passwort vergessen, Meine Projekte, Impressum, Datenschutzerklärung
ÜBERLEITUNG → Passwort vergessen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Kein Support-Ticket nötig – und niemand kann herausfinden, wer ein Konto hat.
• E-Mail eingeben, Link anfordern
• Antwortet immer gleich: kein Rückschluss auf bestehende Konten
• Link führt auf „Neues Passwort“
• Zurück zur Anmeldung mit einem Klick
VERBUNDEN MIT: Neues Passwort, Anmeldung &amp; Registrierung
ÜBERLEITUNG → Neues Passwort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Der zweite Teil des Zurücksetzens: sicher, einmalig, selbsterklärend.
• Neues Passwort mit Wiederholung
• Link ist einmalig und läuft ab
• Ungültige Links werden klar gemeldet
• Danach direkt zur Anmeldung
VERBUNDEN MIT: Passwort vergessen, Anmeldung &amp; Registrierung
ÜBERLEITUNG → Einladung ins Projekt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So kommt das Team ins Projekt – mit der richtigen Rolle, ohne Admin-Arbeit.
• Zeigt Projekt und zugewiesene Rolle vor dem Beitritt
• Anmelden oder direkt registrieren
• Rollen: Admin, Produktion, Regie, Abteilungsleitung, Lesezugriff
• Leitet nach dem Beitritt ins Projekt weiter
• Ungültige oder benutzte Links werden erkannt
VERBUNDEN MIT: Stammdaten, Anmeldung &amp; Registrierung, Dashboard
ÜBERLEITUNG → Öffentliche Dispo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Cast und Crew brauchen kein Konto: ein Link, die eigene Call-Zeit, ein Tipp zur Zusage.
• Eigene Call-Zeit groß und zuerst
• Motiv, allgemeiner Call und Tagesplan
• Zusage mit einem Tipp bestätigen
• Ohne Gagen und Telefonnummern anderer
• Optional eigenes Konto anlegen, um mehr zu sehen
• Geöffnete Dispo-Mail wird als „gesehen“ erfasst
ZEIGEN: Die große Call-Zeit und der Knopf zur Zusage.
VERBUNDEN MIT: Tagesdispo, Check-in Board
ÜBERLEITUNG → Impressum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Pflicht für den Betrieb in Deutschland – von überall erreichbar.
• Pflichtangaben, Kontakt, Verantwortlicher
• Haftung für Inhalte und Links
• Von Anmeldung und Dispo-Links aus erreichbar
VERBUNDEN MIT: Anmeldung &amp; Registrierung, Datenschutzerklärung
ÜBERLEITUNG → Datenschutzerklärung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Produktionsdaten sind sensibel; hier steht offen, was wie lange gespeichert wird.
• Konto-, Produktions- und E-Mail-Daten
• Push, Nutzungsanalyse (PostHog EU), lokale Speicherung
• Hosting und Speicherdauer
• Auskunft, Löschung, Berichtigung, Widerspruch
VERBUNDEN MIT: Einstellungen, Anmeldung &amp; Registrierung
ÜBERLEITUNG → Projekte, Konto &amp; Admin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Der Rahmen um jede Produktion: Projekte anlegen, das eigene Konto und die Verwaltung der Plattform.
• Meine Projekte – Alle Produktionen eines Kontos – der Startpunkt nach der Anmeldung.
• Neues Projekt &amp; Onboarding – Legt eine Produktion an – mit Assistent, Vorlagen und Drehbuch-Import.
• Einstellungen – Das eigene Konto: Profil, Sicherheit, Darstellung, Benachrichtigungen, Daten.
• Admin Panel – Verwaltung der ganzen Plattform: Nutzer, Projekte, System und Testprojekt.
• Admin-Statistiken – Wie die Plattform genutzt wird – und was Nutzer zurückmelden.
ÜBERLEITUNG → Meine Projekte
Zeit: ca. 20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Der Startpunkt: alle Produktionen, Film und Creator, an einem Ort.
• Projekte mit Format, Genre, Regie, Status und Zeitraum
• Neues Projekt anlegen
• Duplizieren, archivieren, löschen
• Archiv ein- und ausblenden
• Film- und Creator-Projekte nebeneinander
VERBUNDEN MIT: Neues Projekt &amp; Onboarding, Dashboard, Creator-Dashboard, Einstellungen
ÜBERLEITUNG → Neues Projekt &amp; Onboarding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Vom leeren Konto zum Projekt mit Szenen in wenigen Minuten – dank Drehbuch-Import.
• Titel, Genre, Format, Regie, Produktion
• Vorlagen: Kurzfilm, Spielfilm, Werbung, Doku, Serie, Musikvideo
• Assistent beim ersten Start: Projekt, Team, Drehbuch
• Drehbuch-Import (Final Draft, Celtx, Fountain)
• Szenen, Motive und Figuren entstehen automatisch
VERBUNDEN MIT: Meine Projekte, Szenen (Szenenübersicht), Stammdaten
ÜBERLEITUNG → Einstellungen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Das eigene Konto in eigener Hand: Passwort, Benachrichtigungen, Datenexport, Löschung.
• Name ändern, Passwort ändern
• Hell / Dunkel
• Push-Benachrichtigungen bei Dispo-Versand und Zeitänderungen
• Alle eigenen Daten als JSON exportieren (DSGVO Art. 20)
• Konto löschen mit Passwort-Bestätigung
VERBUNDEN MIT: Meine Projekte, Datenschutzerklärung, Tagesdispo
ÜBERLEITUNG → Admin Panel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Betrieb der Plattform ohne Datenbank-Zugriff – inklusive Testprojekt per Klick.
• Übersicht: Nutzer, Projekte, Szenen, Drehtage, Crew, Skriptblöcke
• Nutzer anlegen, Rolle ändern, Passwort zurücksetzen, löschen
• Alle Projekte einsehen und löschen
• System: Großproduktion „Nordlicht“ per Klick anlegen
• Team-Testkonten mit Rollen, Passwörter einmalig angezeigt
VERBUNDEN MIT: Admin-Statistiken, Meine Projekte, Dashboard
ÜBERLEITUNG → Admin-Statistiken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Zeigt, welche Bereiche wirklich genutzt werden, und sammelt das Feedback.
• Projekte, Nutzer, aktive Produktionen, Registrierungen
• Meistgenutzte Bereiche
• Projekte nach Status
• Neueste Registrierungen
• Feedback der Nutzer: Fehler, Ideen, Allgemeines
VERBUNDEN MIT: Admin Panel, Pinboard
ÜBERLEITUNG → Übersicht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Der Einstieg in jedes Projekt: Lage auf einen Blick, Stammdaten und Aufgaben des Teams.
• Dashboard – Die Lage der Produktion auf einen Blick – mit direktem Sprung zum nächsten Drehtag.
• Stammdaten – Das Fundament: Projektdaten, Kreativteam, Einstellungen und Mitglieder.
• Aufgaben – Die To-dos des Teams – mit Zuständigkeit, Frist und Status.
ÜBERLEITUNG → Dashboard
Zeit: ca. 20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Beantwortet morgens in fünf Sekunden: Was steht an, was klemmt, reicht das Geld?
• Nächster Drehtag mit Countdown und Link zur Dispo
• Kennzahlen: Szenen, Drehtage, Darsteller, Team
• Fortschritt: Drehplan, abgeschlossene Tage, abgedrehte Szenen
• Budget gegen Finanzierung – mit Lücke
• Konfliktradar-Zusammenfassung
• Schnellzugriff auf die wichtigsten Bereiche
ZEIGEN: Rechts oben die Karte „Nächster Drehtag“, unten die rote Finanzierungslücke.
VERBUNDEN MIT: Tagesdispo, Konfliktradar, Drehplan, Budget &amp; Finanzierung, Szenen (Szenenübersicht), Besetzung &amp; Rollen
ÜBERLEITUNG → Stammdaten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Einmal richtig eingetragen, steuern diese Daten Dispo, PDFs, Konflikte und Rechte.
• Titel, Status, Genre, Laufzeit, Logline
• Kreativteam: Regie, Produktion, Kamera, Produktionsfirma
• Drehbeginn und Drehschluss
• Standard-Wrap, Turnaround-Mindestzeit, Währung, Land
• Akzentfarbe – steuert alle PDFs
• Mitarbeiter per Link oder E-Mail einladen, Rollen vergeben
ZEIGEN: Die Akzentfarbe – sie steuert alle PDFs.
VERBUNDEN MIT: Einladung ins Projekt, Tagesdispo, Konfliktradar, Budget &amp; Finanzierung, Tagesbericht
ÜBERLEITUNG → Aufgaben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Ersetzt die To-do-Liste auf dem Zettel – mit Verantwortlichen und Fristen.
• Aufgabe in einer Zeile anlegen
• Status: Offen, In Arbeit, Abnahme, Erledigt
• Zuständig und Fälligkeitsdatum
• Überfällige Aufgaben hervorgehoben
• Jede Änderung landet im Audit-Log
VERBUNDEN MIT: Dashboard, Audit-Log, Aktivitäten
ÜBERLEITUNG → Entwicklung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Vom Drehbuch zur Szene: Schreiben, Aufschlüsseln, Bildsprache und Abstimmung pro Szene.
• Szenen (Szenenübersicht) – Das Rückgrat jeder Planung: alle Szenen mit Aufschlüsselung.
• Drehbuch-Editor – Drehbuch schreiben im Industrieformat – Szenen entstehen dabei automatisch.
• Moodboard – Die Bildsprache als freie Fläche: Bilder, Farben und Notizen.
• Szenen-Kommentare – Abstimmung pro Szene – projektweit gesammelt, mit Erledigt-Status.
ÜBERLEITUNG → Szenen (Szenenübersicht)
Zeit: ca. 20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Jede Planung beginnt hier: Ohne sauberen Breakdown kein verlässlicher Drehplan.
• Nummer, INT/EXT, Tag/Nacht, Motiv, Seiten in Achteln
• Figuren und Inventar pro Szene (Breakdown)
• Geschätzte Drehzeit und interne Notizen
• Filter Tag/Nacht und abgedreht/offen
• Import aus Text („1 INT. KÜCHE – TAG“)
• Export im Fountain-Format
VERBUNDEN MIT: Drehbuch-Editor, Drehplan, Besetzung &amp; Rollen, Motive &amp; Drehorte, Auflösung &amp; Shotlist, Zeitanalyse
ÜBERLEITUNG → Drehbuch-Editor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Schreiben und Planen im selben Werkzeug – Änderungen landen sofort in den Szenen.
• Blocktypen: Szenenüberschrift, Aktion, Figur, Dialog, Anweisung, Übergang, Notiz
• Tab wechselt den Blocktyp wie in Final Draft
• Figurenzusätze V.O., O.S., O.C., WEITER
• Final-Draft-Import (FDX)
• PDF normgerecht, auch mit Anmerkungen
• Fountain-Export
VERBUNDEN MIT: Szenen (Szenenübersicht), Besetzung &amp; Rollen, Suche
ÜBERLEITUNG → Moodboard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Bildsprache sichtbar machen, damit Kamera, Szenenbild und Kostüm dasselbe meinen.
• Bilder per URL oder Datei
• Farbfelder für Farbdramaturgie
• Notizen in Farben
• Frei verschieben, Ansicht zurücksetzen
VERBUNDEN MIT: Szenen (Szenenübersicht), Stammdaten
ÜBERLEITUNG → Szenen-Kommentare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Abstimmung an der Szene statt in fünf Chat-Verläufen.
• Szenen mit Zahl offener Kommentare
• Kommentieren, als gelöst markieren, löschen
• Gelöste und ungelöste getrennt
• Erscheinen im Aktivitätsverlauf
VERBUNDEN MIT: Szenen (Szenenübersicht), Aktivitäten
ÜBERLEITUNG → Casting &amp; Team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Wer ist dabei? Rollen und Darsteller, Verfügbarkeiten, Komparserie, Stab und alle Kontakte.
• Besetzung &amp; Rollen – Figuren und ihre Darsteller – mit Drehtagen, Szenen und Gagen.
• Sperrtage Cast – Wann Darsteller nicht können – und wo das mit dem Drehplan kollidiert.
• Komparsen – Die Komparserie mit Kontakt und Tarifgruppe.
• Stabliste – Das ganze Team nach Abteilungen – mit Kontakt und Tagesgage.
• Kontaktliste – Stab und Darsteller in einer durchsuchbaren Liste.
ÜBERLEITUNG → Besetzung &amp; Rollen
Zeit: ca. 20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Wer spielt wen, an welchen Tagen, zu welcher Gage – die Grundlage für Verträge.
• Figuren mit Alter, Geschlecht, Beschreibung
• Darsteller mit Rolle, Agentur, Tagesgage
• Drehtage und Szenen je Darsteller automatisch
• Summe der Darstellergagen
• Besetzungsliste als PDF, CSV-Export
VERBUNDEN MIT: Szenen (Szenenübersicht), Sperrtage Cast, Tagesdispo, Day Out of Days, Kontaktliste, Budget &amp; Finanzierung
ÜBERLEITUNG → Sperrtage Cast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Verhindert den teuersten Fehler: einen Drehtag, an dem die Hauptrolle nicht kann.
• Sperrtage je Darsteller mit Grund
• Kalender: Sperrtag, Drehtag, frei
• Kollisionen mit geplanten Drehtagen
• Liste aller Sperrtage
VERBUNDEN MIT: Besetzung &amp; Rollen, Drehplan, Konfliktradar
ÜBERLEITUNG → Komparsen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Die Komparserie mit Kontakt und Tarif – direkt auf der Tagesdispo.
• Name, Telefon, E-Mail, Tarifgruppe, Notizen
• Filter nach Gruppe
• Direkt in der Tabelle bearbeiten
• Erscheint als Komparserie im Tagesdispo-PDF
VERBUNDEN MIT: Tagesdispo, Besetzung &amp; Rollen
ÜBERLEITUNG → Stabliste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Das Team nach Abteilungen, mit Tagesgagen – für Dispo, Catering, Lohn und Budget.
• Abteilungen, Position, E-Mail, Telefon
• Gesamtgage pro Tag
• E-Mails einzeln oder alle kopieren
• Stabliste als PDF, CSV-Export
VERBUNDEN MIT: Tagesdispo, Kontaktliste, Timesheets, Catering, Budget &amp; Finanzierung
ÜBERLEITUNG → Kontaktliste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Alle Nummern einmal ins Telefon – als vCard, statt abzuschreiben.
• Suche, Filter Stab/Darsteller
• Abteilung bzw. Rolle, E-Mail, Telefon
• Alle E-Mails kopieren
• vCard fürs Adressbuch (iOS, Android, Outlook)
• CSV-Export
VERBUNDEN MIT: Stabliste, Besetzung &amp; Rollen, E-Mail Center
ÜBERLEITUNG → Planung &amp; Vorbereitung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Wo, wann, womit und für wie viel: Motive, Drehplan, Ressourcen, Budget und Absicherung.
• 12 Seiten: Motive &amp; Drehorte, Drehplan, Stäbchenplan, Terminkalender, Konfliktradar, Equipment, Equipment-Kalender, Fahrzeuge, Catering, Budget &amp; Finanzierung, Kostenstand, Versicherungen
ÜBERLEITUNG → Motive &amp; Drehorte
Zeit: ca. 20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Drehorte mit Kosten, Karte und digital unterschriebenem Vertrag.
• Adresse, Ansprechpartner, Miete pro Tag, Strom
• Koordinaten per OpenStreetMap-Suche, Karte
• Drehtage je Motiv
• Motivvertrag digital unterschreiben, als PDF
• Motivliste als PDF
VERBUNDEN MIT: Szenen (Szenenübersicht), Drehplan, Tagesdispo, Konfliktradar
ÜBERLEITUNG → Drehplan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Das Herz der Vorbereitung: Szenen auf Tage ziehen, Versionen sichern, KI fragen.
• Szenen per Drag &amp; Drop aus der Ablage auf Drehtage
• Drehtage einzeln oder als Zeitraum (bis 60)
• Sperrtage der Darsteller am Tag sichtbar
• Versionen speichern und wiederherstellen
• KI-Optimierung des Plans
• Morning Brief und Drehplan als PDF
ZEIGEN: Links die Ablage mit unverplanten Szenen, rechts die Drehtag-Spalten.
VERBUNDEN MIT: Szenen (Szenenübersicht), Stäbchenplan, Tagesdispo, Sperrtage Cast, Konfliktradar, Terminkalender
ÜBERLEITUNG → Stäbchenplan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Der klassische Stripboard-Blick, den Aufnahmeleitungen seit Jahrzehnten lesen.
• Farbstreifen INT/EXT × Tag/Nacht
• Szenen gesamt, verplant, Seiten, Drehtage
• Nicht verplante Szenen sichtbar
• Liest direkt aus dem Drehplan
VERBUNDEN MIT: Drehplan, Szenen (Szenenübersicht)
ÜBERLEITUNG → Terminkalender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Proben, Besichtigungen, Meetings neben den Drehtagen – und im eigenen Kalender.
• Monatsansicht mit Drehtagen
• Termine mit Typ, Zeitraum, Notizen
• Legende nach Termintyp
• Export als .ics für Google, Apple, Outlook
VERBUNDEN MIT: Drehplan, Dashboard
ÜBERLEITUNG → Konfliktradar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Findet, was Menschen übersehen: Ruhezeiten, Budgetlücken, vergessene Szenen.
• Ruhezeit (Turnaround) je Person verletzt
• Budget gegen Finanzierung, fehlende Budgetfassung
• Nicht eingeplante Szenen, Szene an mehreren Tagen
• Leere Drehtage, doppelte Daten
• Szenen ohne Motiv/Figuren, Motive ohne Adresse
• Jeder Befund mit Sprung an die Stelle
ZEIGEN: Die Ruhezeit-Warnungen – je Person gebündelt mit Anzahl und kürzester Pause.
VERBUNDEN MIT: Drehplan, Tagesdispo, Budget &amp; Finanzierung, Szenen (Szenenübersicht), Motive &amp; Drehorte, Besetzung &amp; Rollen
ÜBERLEITUNG → Equipment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Technik in Listen mit Preisen – die Basis für Buchung und Budget.
• Mehrere Listen (Kamera, Licht, Ton …)
• Menge, Verleiher, Preis/Tag, Tage, Status
• Summe je Liste
• Equipmentliste als PDF
VERBUNDEN MIT: Equipment-Kalender, Budget &amp; Finanzierung, Drehplan
ÜBERLEITUNG → Equipment-Kalender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Zeigt Doppelbuchungen, bevor der Verleiher anruft.
• Wochenleiste je Equipment-Position
• Buchungen mit Zeitraum und Notiz
• Konflikte farbig markiert
• Liste aller Buchungen
VERBUNDEN MIT: Equipment, Drehplan
ÜBERLEITUNG → Fahrzeuge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Wer fährt was mit welchem Kennzeichen – wichtig für Parkgenehmigungen und Shuttle.
• Name, Kennzeichen, Typ
• Fahrer mit Telefon
• Direkt in der Tabelle bearbeiten
VERBUNDEN MIT: Stabliste, Tagesdispo
ÜBERLEITUNG → Catering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Richtige Essenszahl, richtige Diäten – jeden Drehtag aus der Dispo gerechnet.
• Diät je Person: vegetarisch, vegan, glutenfrei, halal …
• Allergien und Notizen
• Tagesliste aus der Dispo des Drehtags
• Ernährungsübersicht mit Zählung
• Tagesliste als PDF
VERBUNDEN MIT: Tagesdispo, Stabliste, Besetzung &amp; Rollen
ÜBERLEITUNG → Budget &amp; Finanzierung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Kalkulation und Finanzierung in Fassungen – plus Förderantrag auf Knopfdruck.
• Kalkulationsfassungen mit Kategorien und Positionen
• Einheit, Menge, Einzelpreis, Summe
• Finanzierungsplan: Geldgeber, Betrag, Anteil, Status
• „Kosten übernehmen“ aus Gagen, Dispo und Equipment
• Kalkulation als PDF
• Förderantrag als PDF: Projekt, Team, Motive, Kosten, Finanzierung
ZEIGEN: Die Knöpfe „Kosten übernehmen“ und „Förderantrag“ oben rechts.
VERBUNDEN MIT: Kostenstand, Besetzung &amp; Rollen, Stabliste, Equipment, Konfliktradar, Dashboard
ÜBERLEITUNG → Kostenstand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Soll gegen Ist während des Drehs – bevor die Überschreitung zum Problem wird.
• Kalkuliert, ausgegeben, verbleibend
• Soll/Ist je Kategorie mit Differenz
• Belege erfassen: Datum, Nummer, Betrag, Position
• Warnschwelle bei Budgetüberschreitung
VERBUNDEN MIT: Budget &amp; Finanzierung, Dashboard
ÜBERLEITUNG → Versicherungen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Alle Policen an einem Ort – wenn am Set etwas passiert, zählt jede Minute.
• Art, Gesellschaft, Policennummer
• Deckungssumme und Prämie
• Beginn und Ende
• Konditionen und Ausschlüsse
VERBUNDEN MIT: Budget &amp; Finanzierung
ÜBERLEITUNG → Drehtage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Der Tag am Set: Dispo, Anwesenheit, Auflösung, Continuity, Berichte und die Set-App fürs Telefon.
• 11 Seiten: Tagesdispo, Check-in Board, Auflösung &amp; Shotlist, Set-Plan, VFX-Tracking, Continuity, Kameraberichte, Tagesbericht, Zeitanalyse, Timesheets, Set-App
ÜBERLEITUNG → Tagesdispo
Zeit: ca. 20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Das wichtigste Dokument jedes Drehtags – gebaut, versendet und bestätigt in einem Ablauf.
• Szenen des Tages mit Motiv, INT/EXT, Seiten
• Cast und Crew mit Call-Zeiten, alle Zeiten verschiebbar
• Sonnenauf-/-untergang und Wetter am Motiv
• Versand per E-Mail, Status: versendet, gesehen, bestätigt
• Persönlicher Dispo-Link je Person
• Tagesdispo als PDF, dazu Script Sides des Tages
ZEIGEN: Call-Zeiten oben, Sonnenzeiten, Knöpfe PDF und Script Sides in der Leiste.
VERBUNDEN MIT: Drehplan, Öffentliche Dispo, Check-in Board, Catering, Set-App, Konfliktradar
ÜBERLEITUNG → Check-in Board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Wer ist da, wer fehlt – live, statt auf einer Papierliste.
• Alle Personen der Tagesdispo nach Call-Zeit
• Einchecken mit Uhrzeit
• Fortschritt: x von y anwesend
• Gastlink zum Selbst-Einchecken
VERBUNDEN MIT: Tagesdispo, Set-App, Öffentliche Dispo
ÜBERLEITUNG → Auflösung &amp; Shotlist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Die Auflösung als gemeinsame Sprache von Regie und Kamera.
• Größe, Bewegung, Objektiv, Dauer
• Bester Take (Circle Take), erledigt abhaken
• Duplizieren, Notizen für VFX/Requisite/Sicherheit
• Suche, Alle auf-/zuklappen bei vielen Szenen
• PDF nach Szenen oder nach Drehtagen
ZEIGEN: Die aufgeklappte Szene mit Einstellungsgröße, Objektiv und Circle Take.
VERBUNDEN MIT: Szenen (Szenenübersicht), Set-App, Kameraberichte, Drehplan
ÜBERLEITUNG → Set-Plan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Ein Bild sagt mehr als zehn Durchsagen: wo Kamera, Licht und Ton stehen.
• Grundriss je Szene oder Motiv
• Symbole: Kamera, Licht, Mikrofon, Darsteller, Requisite …
• Richtung, Größe und Beschriftung je Element
• Notizen zum Set
• Set-Plan als PDF
VERBUNDEN MIT: Szenen (Szenenübersicht), Motive &amp; Drehorte
ÜBERLEITUNG → VFX-Tracking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Jeder VFX-Shot nachverfolgt – sonst fehlt am Ende genau einer.
• Shotnummer, Szene, Beschreibung, Typ
• Artist, Deadline, Komplexität
• Status: offen, in Arbeit, Review, final
• Zähler je Status
VERBUNDEN MIT: Szenen (Szenenübersicht), Postproduktionsplan
ÜBERLEITUNG → Continuity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Anschlüsse retten den Schnitt: Kostüm, Maske, Requisite mit Foto.
• Einträge mit Szene, Darsteller, Kategorie
• Fotos direkt am Eintrag
• Filter nach Szene, Darsteller, Kategorie
• In der Set-App am Telefon abrufbar
VERBUNDEN MIT: Szenen (Szenenübersicht), Besetzung &amp; Rollen, Set-App
ÜBERLEITUNG → Kameraberichte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Was auf welchem Magazin liegt – die Brücke vom Set zur Post.
• Berichte je Kamera A–D mit Magazin und Format
• Takes: Szene, Take, Timecode, Meter
• Circle, Fehlstart, stumm markieren
• Takes und Circle Takes gesamt
• Kamerabericht als PDF
VERBUNDEN MIT: Auflösung &amp; Shotlist, Tagesbericht
ÜBERLEITUNG → Tagesbericht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Was wirklich gedreht wurde – für Produktion, Versicherung und Zeitanalyse.
• Call, First Shot, Mittag, Drehschluss; Netto-Drehzeit
• Seiten, Setups, Kamera- und Tonrollen
• Szenen abgedreht / angedreht, gemessene Minuten
• Warnung bei Abweichung vom Plan
• Drehbericht und interne Notizen, PDF
VERBUNDEN MIT: Zeitanalyse, Drehplan, Dashboard, Kameraberichte
ÜBERLEITUNG → Zeitanalyse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Plan gegen Wirklichkeit je Szene – so wird der nächste Drehplan realistischer.
• Geplant, Ist, Differenz über alle Szenen
• Balken Plan/Ist je Szene
• Überzogen, im Plan, gespart
• Gemessene Zeiten vor Schätzung, Schätzungen markiert
VERBUNDEN MIT: Tagesbericht, Szenen (Szenenübersicht), Drehplan
ÜBERLEITUNG → Timesheets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Überstunden und Penalties sauber erfasst – und direkt in den Lohnexport.
• Einträge je Drehtag für Cast und Crew
• Überstunden automatisch berechnet
• Mahlzeit-Penalty abhaken
• Turnaround-Warnung bei spätem Wrap
• CSV-Export und Lohnexport (Drehtage × Gage + Überstunden)
VERBUNDEN MIT: Stabliste, Besetzung &amp; Rollen, Tagesdispo, Konfliktradar
ÜBERLEITUNG → Set-App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CutSheet am Set: groß, schnell, mit einer Hand – und auch ohne Netz.
• Projekt und Drehtag wählen – bleibt gemerkt
• Dispo: Call-Zeiten groß
• Shots des Tages abhaken, Check-in der Personen
• Continuity je Szene nachschlagen
• Offline drei Tage verfügbar, installierbar aufs Homescreen
ZEIGEN: Drei Telefone: Dispo, Shots, Check-in – echte Daten der Großproduktion.
VERBUNDEN MIT: Tagesdispo, Auflösung &amp; Shotlist, Check-in Board, Continuity
ÜBERLEITUNG → Postproduktion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Nach der letzten Klappe: Einsatztage abrechnen, Postproduktion planen, Musik lizenzieren.
• Day Out of Days – Einsatztage jedes Darstellers – die Grundlage für Verträge und Gagen.
• Postproduktionsplan – Die Phasen nach dem Dreh auf einer Zeitleiste.
• Musikliste / GEMA-Cuesheet – Jeder Musik-Cue mit Rechten – exportfertig für die GEMA.
ÜBERLEITUNG → Day Out of Days
Zeit: ca. 20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Einsatz- und Haltetage je Darsteller – die Grundlage für Gagenabrechnung.
• Matrix Darsteller × Drehtag
• Start, Arbeit, Halten, Ende, einziger Tag
• Arbeits- und Haltetage je Person
• Geschätzte Kosten aus der Tagesgage
• CSV-Export
VERBUNDEN MIT: Besetzung &amp; Rollen, Drehplan, Szenen (Szenenübersicht), Budget &amp; Finanzierung
ÜBERLEITUNG → Postproduktionsplan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Die Zeit nach dem Dreh sichtbar planen: Schnitt, Farbe, Ton, Abnahme.
• Phasen mit Zeitraum, Verantwortlichen, Notizen
• Schnellauswahl: Schnitt, Farbe, Ton, VFX, Musik …
• Zeitleiste der Phasen
• Bearbeiten und löschen
VERBUNDEN MIT: VFX-Tracking, Musikliste / GEMA-Cuesheet
ÜBERLEITUNG → Musikliste / GEMA-Cuesheet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Das GEMA-Cuesheet wird fertig, statt am Ende nachrecherchiert.
• Titel, Komponist, Verlag, Textdichter
• Dauer, Szene, Cue- und Nutzungsart
• Notizen je Cue
• CSV-Export im GEMA-Format
VERBUNDEN MIT: Szenen (Szenenübersicht), Postproduktionsplan
ÜBERLEITUNG → Werkzeuge &amp; Kommunikation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Quer durch alle Phasen: E-Mails, Notizen, Verlauf, Volltextsuche und das Änderungsprotokoll.
• E-Mail Center – Nachrichten an Stab und Darsteller – mit Vorlagen.
• Pinboard – Haftnotizen fürs ganze Team – das Schwarze Brett der Produktion.
• Aktivitäten – Der Verlauf des Projekts – alle 30 Sekunden aktualisiert.
• Suche – Volltextsuche über das ganze Projekt.
• Audit-Log – Das Änderungsprotokoll: jede Änderung mit Person, Zeitpunkt und Eintrag.
ÜBERLEITUNG → E-Mail Center
Zeit: ca. 20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Nachrichten an genau die richtigen Leute – mit Vorlagen.
• Empfänger aus Stab und Besetzung wählen
• Vorlagen für typische Nachrichten
• Betreff und Text verfassen
• Im eigenen E-Mail-Programm öffnen
VERBUNDEN MIT: Stabliste, Besetzung &amp; Rollen, Kontaktliste
ÜBERLEITUNG → Pinboard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Das schwarze Brett der Produktion – für alles, was allen gilt.
• Notizen in vier Farben
• Direkt auf der Karte schreiben
• Löschen, wenn erledigt
• Änderungen im Audit-Log
VERBUNDEN MIT: Aktivitäten, Audit-Log
ÜBERLEITUNG → Aktivitäten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Wer hat was geändert – ohne nachfragen zu müssen.
• Änderungen und Kommentare in zeitlicher Folge
• Filter nach Bereich: Szenen, Cast, Stab, Budget …
• Wer hat was wann getan
VERBUNDEN MIT: Audit-Log, Szenen-Kommentare
ÜBERLEITUNG → Suche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Alles in Sekunden finden: Szene, Satz im Drehbuch, Person, Motiv.
• Szenen, Drehbuchtext, Darsteller, Crew, Motive
• Treffer nach Bereich gruppiert
• Sprung direkt zum Eintrag
• Zusätzlich überall per ⌘K
VERBUNDEN MIT: Szenen (Szenenübersicht), Drehbuch-Editor, Besetzung &amp; Rollen, Stabliste, Motive &amp; Drehorte
ÜBERLEITUNG → Audit-Log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Nachvollziehbarkeit für Produktion und Auftraggeber – jede Änderung mit Namen.
• Angelegt, geändert, gelöscht – farbig
• Benutzer, Entität und Nummer
• Lesbare Details (Titel oder geänderte Felder)
• Ohne Passwörter und Rohdaten
ZEIGEN: Die farbigen Aktionen: angelegt, geändert, gelöscht – mit Namen aus dem Team.
VERBUNDEN MIT: Aktivitäten, Aufgaben, Pinboard
ÜBERLEITUNG → Creator-Modus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Für YouTube- und Social-Produktionen: eigene Bereiche für Kanal, Videos, Veröffentlichung und Geld.
• 14 Seiten: Creator-Dashboard, Videos, Video-Detail, Ideen, Kanal, Redaktionsplan, Serien &amp; Formate, Titel &amp; Thumbnails, Sponsoren &amp; Integrationen, SEO &amp; Metadaten, Rechte &amp; Lizenzen, Auskopplungen, Upload-Checklisten, Video-Performance
ÜBERLEITUNG → Creator-Dashboard
Zeit: ca. 20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Der Kanal auf einen Blick: Reichweite, Geld, nächster Upload.
• Nächste Veröffentlichung mit Countdown und Sprung zum Video
• Videos, Aufrufe, gewonnene Abos, Sponsoring-Honorare
• Fortschritt: veröffentlicht, mit Termin im Redaktionsplan
• Konfliktradar und Schnellzugriff auf die Creator-Bereiche
ZEIGEN: Die Karte „Nächste Veröffentlichung“ und die vier Kanal-Kennzahlen.
VERBUNDEN MIT: Videos, Ideen, Redaktionsplan, Kanal, Sponsoren &amp; Integrationen
ÜBERLEITUNG → Videos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Alle Videos mit Status – vom Einfall bis zur Veröffentlichung.
• Neues Video mit Arbeitstitel, Plattform, Ziel-Laufzeit, Hook
• Geschätzte Laufzeit aus dem Sprechtext
• Wörter im Sprechtext
• Status direkt ändern
VERBUNDEN MIT: Video-Detail, Ideen, Redaktionsplan
ÜBERLEITUNG → Video-Detail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Ein Video komplett an einem Ort: Skript, Teleprompter, Rechte, Sponsor, Zahlen.
• Skript in Abschnitten: Hook, Intro, Sponsor, Segment, Outro
• Teleprompter mit Tempo und Schrift, Skript als PDF
• Titel-Varianten, Thumbnails, Kapitel, Tags, Beschreibung
• Sponsoring mit Kennzeichnungspflicht
• Material mit Lizenz und Content-ID-Risiko
• Auskopplungen, Checkliste, Haltequote
ZEIGEN: Die Skript-Abschnitte mit Soll-Sekunden und der Teleprompter-Knopf oben rechts.
VERBUNDEN MIT: Videos, Titel &amp; Thumbnails, SEO &amp; Metadaten, Sponsoren &amp; Integrationen, Rechte &amp; Lizenzen, Auskopplungen
ÜBERLEITUNG → Ideen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Ideen nicht verlieren und nach Wirkung zu Aufwand entscheiden.
• Idee mit Notiz zu Winkel, Hook, Quelle
• Wirkung und Aufwand bewerten
• Sortiert nach Priorität
• Mit einem Klick zum Video machen
VERBUNDEN MIT: Videos, Video-Detail
ÜBERLEITUNG → Kanal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Rhythmus und Muster erkennen – mit echten YouTube-Zahlen.
• Aufrufe, Likes, gewonnene Abos, Sponsoring
• Veröffentlichungskalender
• Muster über den Kanal
• YouTube verbinden und abgleichen
VERBUNDEN MIT: Video-Performance, Video-Detail, Redaktionsplan
ÜBERLEITUNG → Redaktionsplan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Wann erscheint was – und was ist überfällig?
• Datum, Video, Serie, Plattform, Status
• Im Plan, überfällig, ohne Datum
• Sprung zum Video
VERBUNDEN MIT: Videos, Serien &amp; Formate, Kanal
ÜBERLEITUNG → Serien &amp; Formate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Welche Formate tragen den Kanal? Daten statt Bauchgefühl.
• Videos je Serie, veröffentlicht und geplant
• Aufrufe im Schnitt
• Stärkste Folge und stärkste Serie
• Videos ohne Serie
VERBUNDEN MIT: Videos, Video-Performance
ÜBERLEITUNG → Titel &amp; Thumbnails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Titel und Thumbnails im Vergleich – der größte Hebel für Klicks.
• Varianten je Video
• Thumbnail-Ideen
• Videos ohne Vergleich markiert
VERBUNDEN MIT: Video-Detail, SEO &amp; Metadaten
ÜBERLEITUNG → Sponsoren &amp; Integrationen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Honorare, Fristen und die Kennzeichnungspflicht im Griff.
• Marke, Video, zugesagte Leistungen
• Honorar gesamt und noch offen
• Fristen, überschrittene hervorgehoben
• Werbekennzeichnung geprüft
VERBUNDEN MIT: Video-Detail, Budget &amp; Finanzierung
ÜBERLEITUNG → SEO &amp; Metadaten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Fehlende Metadaten fallen auf, bevor das Video online ist.
• Prüfung je Video
• Was fehlt, steht in der Zeile
• Vollständig vs. mit Mängeln
VERBUNDEN MIT: Video-Detail, Titel &amp; Thumbnails
ÜBERLEITUNG → Rechte &amp; Lizenzen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Content-ID-Risiken erkennen, bevor der Kanal Einnahmen verliert.
• Material je Video
• Ohne Lizenz markiert
• Risiko und Beanstandungen
• Videos mit hohem Risiko gezählt
VERBUNDEN MIT: Video-Detail, Musikliste / GEMA-Cuesheet
ÜBERLEITUNG → Auskopplungen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Aus einem Langvideo viele Shorts – geplant statt improvisiert.
• Clip aus Video, Plattform, Start, Dauer
• Status und Beanstandungen
• Gesamtlänge
VERBUNDEN MIT: Video-Detail
ÜBERLEITUNG → Upload-Checklisten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Nichts vergessen vor dem Upload – für jedes Video sichtbar.
• Fortschritt je Video
• Offene Punkte im Klartext
• Bereit zum Upload vs. ohne Checkliste
VERBUNDEN MIT: Video-Detail
ÜBERLEITUNG → Video-Performance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Wie die Videos laufen, eingeordnet gegen den eigenen Kanal.
• Aufrufe, Klickrate, Haltequote, Abos
• Einordnung gegen den Kanal
• Schnittwerte über alle Videos
VERBUNDEN MIT: Kanal, Serien &amp; Formate, Video-Detail
ÜBERLEITUNG → Alles, was rausgeht – und reinkommt
Zeit: ca. 40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Was CutSheet erzeugt, ist druck- und weitergabefertig.
• 18 PDF-Dokumente mit Akzentfarbe und einheitlicher Fußzeile
• CSV für Lohn, GEMA, Timesheets; vCard fürs Telefon
• Drehbuch-Import aus Final Draft, Celtx, Fountain
• Kalender-Export, Dispo-Links, Offline am Set
ÜBERLEITUNG → 69 Seiten. Ein Werkzeug.
Zeit: ca. 60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69 Seiten, ein Werkzeug – bereit für die Testphase.
• Testversion mit Großproduktion „Nordlicht“ zum Ausprobieren
• Lasttest: 150 gleichzeitige Nutzer ohne Fehler
• 600 automatische Tests im Server
• Fragen und Feedback – direkt in der App über „Feedback“
ENDE – Fragen?
Zeit: ca. 45 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jpg"/><Relationship Id="rId2" Type="http://schemas.openxmlformats.org/officeDocument/2006/relationships/image" Target="../media/image-60-2.jpg"/><Relationship Id="rId3" Type="http://schemas.openxmlformats.org/officeDocument/2006/relationships/image" Target="../media/image-60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001_z_1" descr="/tmp/claude-0/-home-user-cutsheet/6324ba14-9edd-52e0-984d-db7baab43700/scratchpad/deck/img/app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60120"/>
            <a:ext cx="868680" cy="868680"/>
          </a:xfrm>
          <a:prstGeom prst="rect">
            <a:avLst/>
          </a:prstGeom>
        </p:spPr>
      </p:pic>
      <p:sp>
        <p:nvSpPr>
          <p:cNvPr id="3" name="a002_f_2"/>
          <p:cNvSpPr txBox="1"/>
          <p:nvPr/>
        </p:nvSpPr>
        <p:spPr>
          <a:xfrm>
            <a:off x="731520" y="196596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6400" dirty="0"/>
          </a:p>
        </p:txBody>
      </p:sp>
      <p:sp>
        <p:nvSpPr>
          <p:cNvPr id="4" name="a003_f_3"/>
          <p:cNvSpPr txBox="1"/>
          <p:nvPr/>
        </p:nvSpPr>
        <p:spPr>
          <a:xfrm>
            <a:off x="731520" y="29260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Seite. Jede Funktion.</a:t>
            </a:r>
            <a:endParaRPr lang="en-US" sz="2800" dirty="0"/>
          </a:p>
        </p:txBody>
      </p:sp>
      <p:sp>
        <p:nvSpPr>
          <p:cNvPr id="5" name="a004_f_4"/>
          <p:cNvSpPr txBox="1"/>
          <p:nvPr/>
        </p:nvSpPr>
        <p:spPr>
          <a:xfrm>
            <a:off x="731520" y="36118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Produktionsmanagement für Film und Creator – vom Drehbuch bis zur letzten Klappe. Ein Rundgang durch alle 69 Seiten und wie sie zusammenhängen.</a:t>
            </a:r>
            <a:endParaRPr lang="en-US" sz="1400" dirty="0"/>
          </a:p>
        </p:txBody>
      </p:sp>
      <p:sp>
        <p:nvSpPr>
          <p:cNvPr id="6" name="a005_z_5"/>
          <p:cNvSpPr txBox="1"/>
          <p:nvPr/>
        </p:nvSpPr>
        <p:spPr>
          <a:xfrm>
            <a:off x="731520" y="48920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3600" dirty="0"/>
          </a:p>
        </p:txBody>
      </p:sp>
      <p:sp>
        <p:nvSpPr>
          <p:cNvPr id="7" name="a005_f_6"/>
          <p:cNvSpPr txBox="1"/>
          <p:nvPr/>
        </p:nvSpPr>
        <p:spPr>
          <a:xfrm>
            <a:off x="731520" y="5486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Seiten</a:t>
            </a:r>
            <a:endParaRPr lang="en-US" sz="1100" dirty="0"/>
          </a:p>
        </p:txBody>
      </p:sp>
      <p:sp>
        <p:nvSpPr>
          <p:cNvPr id="8" name="a006_z_7"/>
          <p:cNvSpPr txBox="1"/>
          <p:nvPr/>
        </p:nvSpPr>
        <p:spPr>
          <a:xfrm>
            <a:off x="2057400" y="48920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600" dirty="0"/>
          </a:p>
        </p:txBody>
      </p:sp>
      <p:sp>
        <p:nvSpPr>
          <p:cNvPr id="9" name="a006_f_8"/>
          <p:cNvSpPr txBox="1"/>
          <p:nvPr/>
        </p:nvSpPr>
        <p:spPr>
          <a:xfrm>
            <a:off x="2057400" y="5486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Bereiche</a:t>
            </a:r>
            <a:endParaRPr lang="en-US" sz="1100" dirty="0"/>
          </a:p>
        </p:txBody>
      </p:sp>
      <p:sp>
        <p:nvSpPr>
          <p:cNvPr id="10" name="a007_z_9"/>
          <p:cNvSpPr txBox="1"/>
          <p:nvPr/>
        </p:nvSpPr>
        <p:spPr>
          <a:xfrm>
            <a:off x="3383280" y="48920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600" dirty="0"/>
          </a:p>
        </p:txBody>
      </p:sp>
      <p:sp>
        <p:nvSpPr>
          <p:cNvPr id="11" name="a007_f_10"/>
          <p:cNvSpPr txBox="1"/>
          <p:nvPr/>
        </p:nvSpPr>
        <p:spPr>
          <a:xfrm>
            <a:off x="3383280" y="5486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PDF-Dokumente</a:t>
            </a:r>
            <a:endParaRPr lang="en-US" sz="1100" dirty="0"/>
          </a:p>
        </p:txBody>
      </p:sp>
      <p:sp>
        <p:nvSpPr>
          <p:cNvPr id="12" name="a008_z_11"/>
          <p:cNvSpPr txBox="1"/>
          <p:nvPr/>
        </p:nvSpPr>
        <p:spPr>
          <a:xfrm>
            <a:off x="4709160" y="48920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600" dirty="0"/>
          </a:p>
        </p:txBody>
      </p:sp>
      <p:sp>
        <p:nvSpPr>
          <p:cNvPr id="13" name="a008_f_12"/>
          <p:cNvSpPr txBox="1"/>
          <p:nvPr/>
        </p:nvSpPr>
        <p:spPr>
          <a:xfrm>
            <a:off x="4709160" y="5486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Rollen</a:t>
            </a:r>
            <a:endParaRPr lang="en-US" sz="1100" dirty="0"/>
          </a:p>
        </p:txBody>
      </p:sp>
      <p:sp>
        <p:nvSpPr>
          <p:cNvPr id="14" name="a010_f_13"/>
          <p:cNvSpPr/>
          <p:nvPr/>
        </p:nvSpPr>
        <p:spPr>
          <a:xfrm>
            <a:off x="6620256" y="722376"/>
            <a:ext cx="4681728" cy="2967228"/>
          </a:xfrm>
          <a:prstGeom prst="roundRect">
            <a:avLst>
              <a:gd name="adj" fmla="val 3082"/>
            </a:avLst>
          </a:prstGeom>
          <a:solidFill>
            <a:srgbClr val="3A3A3C"/>
          </a:solidFill>
          <a:ln/>
          <a:effectLst>
            <a:outerShdw sx="100000" sy="100000" kx="0" ky="0" algn="bl" rotWithShape="0" blurRad="304800" dist="101600" dir="5400000">
              <a:srgbClr val="000000">
                <a:alpha val="50000"/>
              </a:srgbClr>
            </a:outerShdw>
          </a:effectLst>
        </p:spPr>
      </p:sp>
      <p:pic>
        <p:nvPicPr>
          <p:cNvPr id="15" name="a010_f_14" descr="/tmp/claude-0/-home-user-cutsheet/6324ba14-9edd-52e0-984d-db7baab43700/scratchpad/deck/img/light_projects_168_drehplan-160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777240"/>
            <a:ext cx="4572000" cy="2857500"/>
          </a:xfrm>
          <a:prstGeom prst="rect">
            <a:avLst/>
          </a:prstGeom>
        </p:spPr>
      </p:pic>
      <p:sp>
        <p:nvSpPr>
          <p:cNvPr id="16" name="a011_f_15"/>
          <p:cNvSpPr/>
          <p:nvPr/>
        </p:nvSpPr>
        <p:spPr>
          <a:xfrm>
            <a:off x="7351776" y="2185416"/>
            <a:ext cx="4681728" cy="2967228"/>
          </a:xfrm>
          <a:prstGeom prst="roundRect">
            <a:avLst>
              <a:gd name="adj" fmla="val 3082"/>
            </a:avLst>
          </a:prstGeom>
          <a:solidFill>
            <a:srgbClr val="3A3A3C"/>
          </a:solidFill>
          <a:ln/>
          <a:effectLst>
            <a:outerShdw sx="100000" sy="100000" kx="0" ky="0" algn="bl" rotWithShape="0" blurRad="304800" dist="101600" dir="5400000">
              <a:srgbClr val="000000">
                <a:alpha val="50000"/>
              </a:srgbClr>
            </a:outerShdw>
          </a:effectLst>
        </p:spPr>
      </p:sp>
      <p:pic>
        <p:nvPicPr>
          <p:cNvPr id="17" name="a011_f_16" descr="/tmp/claude-0/-home-user-cutsheet/6324ba14-9edd-52e0-984d-db7baab43700/scratchpad/deck/img/light_projects_168_tagesdispo_7119-1600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2240280"/>
            <a:ext cx="4572000" cy="2857500"/>
          </a:xfrm>
          <a:prstGeom prst="rect">
            <a:avLst/>
          </a:prstGeom>
        </p:spPr>
      </p:pic>
      <p:sp>
        <p:nvSpPr>
          <p:cNvPr id="18" name="a012_f_17"/>
          <p:cNvSpPr/>
          <p:nvPr/>
        </p:nvSpPr>
        <p:spPr>
          <a:xfrm>
            <a:off x="6345936" y="3648456"/>
            <a:ext cx="4681728" cy="2967228"/>
          </a:xfrm>
          <a:prstGeom prst="roundRect">
            <a:avLst>
              <a:gd name="adj" fmla="val 3082"/>
            </a:avLst>
          </a:prstGeom>
          <a:solidFill>
            <a:srgbClr val="3A3A3C"/>
          </a:solidFill>
          <a:ln/>
          <a:effectLst>
            <a:outerShdw sx="100000" sy="100000" kx="0" ky="0" algn="bl" rotWithShape="0" blurRad="304800" dist="101600" dir="5400000">
              <a:srgbClr val="000000">
                <a:alpha val="50000"/>
              </a:srgbClr>
            </a:outerShdw>
          </a:effectLst>
        </p:spPr>
      </p:sp>
      <p:pic>
        <p:nvPicPr>
          <p:cNvPr id="19" name="a012_f_18" descr="/tmp/claude-0/-home-user-cutsheet/6324ba14-9edd-52e0-984d-db7baab43700/scratchpad/deck/img/light_projects_168-1600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703320"/>
            <a:ext cx="4572000" cy="28575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19"/>
          <p:cNvSpPr txBox="1"/>
          <p:nvPr/>
        </p:nvSpPr>
        <p:spPr>
          <a:xfrm>
            <a:off x="54864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Zehn Bereiche, 69 Seiten</a:t>
            </a:r>
            <a:endParaRPr lang="en-US" sz="3600" dirty="0"/>
          </a:p>
        </p:txBody>
      </p:sp>
      <p:sp>
        <p:nvSpPr>
          <p:cNvPr id="3" name="a002_f_20"/>
          <p:cNvSpPr txBox="1"/>
          <p:nvPr/>
        </p:nvSpPr>
        <p:spPr>
          <a:xfrm>
            <a:off x="54864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Seitenleiste folgt dem Ablauf einer Produktion – von der Idee bis zur Auswertung.</a:t>
            </a:r>
            <a:endParaRPr lang="en-US" sz="1500" dirty="0"/>
          </a:p>
        </p:txBody>
      </p:sp>
      <p:sp>
        <p:nvSpPr>
          <p:cNvPr id="4" name="a003_f_21"/>
          <p:cNvSpPr/>
          <p:nvPr/>
        </p:nvSpPr>
        <p:spPr>
          <a:xfrm>
            <a:off x="548640" y="2057400"/>
            <a:ext cx="2084832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5" name="a003_f_22"/>
          <p:cNvSpPr/>
          <p:nvPr/>
        </p:nvSpPr>
        <p:spPr>
          <a:xfrm>
            <a:off x="731520" y="2258568"/>
            <a:ext cx="384048" cy="384048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6" name="a003_f_23"/>
          <p:cNvSpPr txBox="1"/>
          <p:nvPr/>
        </p:nvSpPr>
        <p:spPr>
          <a:xfrm>
            <a:off x="731520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a003_f_24"/>
          <p:cNvSpPr txBox="1"/>
          <p:nvPr/>
        </p:nvSpPr>
        <p:spPr>
          <a:xfrm>
            <a:off x="731520" y="2770632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Zugang &amp; öffentliche Seiten</a:t>
            </a:r>
            <a:endParaRPr lang="en-US" sz="1400" dirty="0"/>
          </a:p>
        </p:txBody>
      </p:sp>
      <p:sp>
        <p:nvSpPr>
          <p:cNvPr id="8" name="a003_f_25"/>
          <p:cNvSpPr txBox="1"/>
          <p:nvPr/>
        </p:nvSpPr>
        <p:spPr>
          <a:xfrm>
            <a:off x="731520" y="347472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28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Seiten</a:t>
            </a:r>
            <a:endParaRPr lang="en-US" sz="1100" dirty="0"/>
          </a:p>
        </p:txBody>
      </p:sp>
      <p:sp>
        <p:nvSpPr>
          <p:cNvPr id="9" name="a004_f_26"/>
          <p:cNvSpPr/>
          <p:nvPr/>
        </p:nvSpPr>
        <p:spPr>
          <a:xfrm>
            <a:off x="2798064" y="2057400"/>
            <a:ext cx="2084832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10" name="a004_f_27"/>
          <p:cNvSpPr/>
          <p:nvPr/>
        </p:nvSpPr>
        <p:spPr>
          <a:xfrm>
            <a:off x="2980944" y="2258568"/>
            <a:ext cx="384048" cy="384048"/>
          </a:xfrm>
          <a:prstGeom prst="ellipse">
            <a:avLst/>
          </a:prstGeom>
          <a:solidFill>
            <a:srgbClr val="636366"/>
          </a:solidFill>
          <a:ln/>
        </p:spPr>
      </p:sp>
      <p:sp>
        <p:nvSpPr>
          <p:cNvPr id="11" name="a004_f_28"/>
          <p:cNvSpPr txBox="1"/>
          <p:nvPr/>
        </p:nvSpPr>
        <p:spPr>
          <a:xfrm>
            <a:off x="2980944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a004_f_29"/>
          <p:cNvSpPr txBox="1"/>
          <p:nvPr/>
        </p:nvSpPr>
        <p:spPr>
          <a:xfrm>
            <a:off x="2980944" y="2770632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Projekte, Konto &amp; Admin</a:t>
            </a:r>
            <a:endParaRPr lang="en-US" sz="1400" dirty="0"/>
          </a:p>
        </p:txBody>
      </p:sp>
      <p:sp>
        <p:nvSpPr>
          <p:cNvPr id="13" name="a004_f_30"/>
          <p:cNvSpPr txBox="1"/>
          <p:nvPr/>
        </p:nvSpPr>
        <p:spPr>
          <a:xfrm>
            <a:off x="2980944" y="347472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Seiten</a:t>
            </a:r>
            <a:endParaRPr lang="en-US" sz="1100" dirty="0"/>
          </a:p>
        </p:txBody>
      </p:sp>
      <p:sp>
        <p:nvSpPr>
          <p:cNvPr id="14" name="a005_f_31"/>
          <p:cNvSpPr/>
          <p:nvPr/>
        </p:nvSpPr>
        <p:spPr>
          <a:xfrm>
            <a:off x="5047488" y="2057400"/>
            <a:ext cx="2084832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15" name="a005_f_32"/>
          <p:cNvSpPr/>
          <p:nvPr/>
        </p:nvSpPr>
        <p:spPr>
          <a:xfrm>
            <a:off x="5230368" y="2258568"/>
            <a:ext cx="384048" cy="384048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6" name="a005_f_33"/>
          <p:cNvSpPr txBox="1"/>
          <p:nvPr/>
        </p:nvSpPr>
        <p:spPr>
          <a:xfrm>
            <a:off x="5230368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a005_f_34"/>
          <p:cNvSpPr txBox="1"/>
          <p:nvPr/>
        </p:nvSpPr>
        <p:spPr>
          <a:xfrm>
            <a:off x="5230368" y="2770632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Übersicht</a:t>
            </a:r>
            <a:endParaRPr lang="en-US" sz="1400" dirty="0"/>
          </a:p>
        </p:txBody>
      </p:sp>
      <p:sp>
        <p:nvSpPr>
          <p:cNvPr id="18" name="a005_f_35"/>
          <p:cNvSpPr txBox="1"/>
          <p:nvPr/>
        </p:nvSpPr>
        <p:spPr>
          <a:xfrm>
            <a:off x="5230368" y="347472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Seiten</a:t>
            </a:r>
            <a:endParaRPr lang="en-US" sz="1100" dirty="0"/>
          </a:p>
        </p:txBody>
      </p:sp>
      <p:sp>
        <p:nvSpPr>
          <p:cNvPr id="19" name="a006_f_36"/>
          <p:cNvSpPr/>
          <p:nvPr/>
        </p:nvSpPr>
        <p:spPr>
          <a:xfrm>
            <a:off x="7296912" y="2057400"/>
            <a:ext cx="2084832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20" name="a006_f_37"/>
          <p:cNvSpPr/>
          <p:nvPr/>
        </p:nvSpPr>
        <p:spPr>
          <a:xfrm>
            <a:off x="7479792" y="2258568"/>
            <a:ext cx="384048" cy="384048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21" name="a006_f_38"/>
          <p:cNvSpPr txBox="1"/>
          <p:nvPr/>
        </p:nvSpPr>
        <p:spPr>
          <a:xfrm>
            <a:off x="7479792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a006_f_39"/>
          <p:cNvSpPr txBox="1"/>
          <p:nvPr/>
        </p:nvSpPr>
        <p:spPr>
          <a:xfrm>
            <a:off x="7479792" y="2770632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Entwicklung</a:t>
            </a:r>
            <a:endParaRPr lang="en-US" sz="1400" dirty="0"/>
          </a:p>
        </p:txBody>
      </p:sp>
      <p:sp>
        <p:nvSpPr>
          <p:cNvPr id="23" name="a006_f_40"/>
          <p:cNvSpPr txBox="1"/>
          <p:nvPr/>
        </p:nvSpPr>
        <p:spPr>
          <a:xfrm>
            <a:off x="7479792" y="347472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Seiten</a:t>
            </a:r>
            <a:endParaRPr lang="en-US" sz="1100" dirty="0"/>
          </a:p>
        </p:txBody>
      </p:sp>
      <p:sp>
        <p:nvSpPr>
          <p:cNvPr id="24" name="a007_f_41"/>
          <p:cNvSpPr/>
          <p:nvPr/>
        </p:nvSpPr>
        <p:spPr>
          <a:xfrm>
            <a:off x="9546336" y="2057400"/>
            <a:ext cx="2084832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25" name="a007_f_42"/>
          <p:cNvSpPr/>
          <p:nvPr/>
        </p:nvSpPr>
        <p:spPr>
          <a:xfrm>
            <a:off x="9729216" y="2258568"/>
            <a:ext cx="384048" cy="384048"/>
          </a:xfrm>
          <a:prstGeom prst="ellipse">
            <a:avLst/>
          </a:prstGeom>
          <a:solidFill>
            <a:srgbClr val="FF2D55"/>
          </a:solidFill>
          <a:ln/>
        </p:spPr>
      </p:sp>
      <p:sp>
        <p:nvSpPr>
          <p:cNvPr id="26" name="a007_f_43"/>
          <p:cNvSpPr txBox="1"/>
          <p:nvPr/>
        </p:nvSpPr>
        <p:spPr>
          <a:xfrm>
            <a:off x="9729216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a007_f_44"/>
          <p:cNvSpPr txBox="1"/>
          <p:nvPr/>
        </p:nvSpPr>
        <p:spPr>
          <a:xfrm>
            <a:off x="9729216" y="2770632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Casting &amp; Team</a:t>
            </a:r>
            <a:endParaRPr lang="en-US" sz="1400" dirty="0"/>
          </a:p>
        </p:txBody>
      </p:sp>
      <p:sp>
        <p:nvSpPr>
          <p:cNvPr id="28" name="a007_f_45"/>
          <p:cNvSpPr txBox="1"/>
          <p:nvPr/>
        </p:nvSpPr>
        <p:spPr>
          <a:xfrm>
            <a:off x="9729216" y="347472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Seiten</a:t>
            </a:r>
            <a:endParaRPr lang="en-US" sz="1100" dirty="0"/>
          </a:p>
        </p:txBody>
      </p:sp>
      <p:sp>
        <p:nvSpPr>
          <p:cNvPr id="29" name="a008_f_46"/>
          <p:cNvSpPr/>
          <p:nvPr/>
        </p:nvSpPr>
        <p:spPr>
          <a:xfrm>
            <a:off x="548640" y="4160520"/>
            <a:ext cx="2084832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30" name="a008_f_47"/>
          <p:cNvSpPr/>
          <p:nvPr/>
        </p:nvSpPr>
        <p:spPr>
          <a:xfrm>
            <a:off x="731520" y="4361688"/>
            <a:ext cx="384048" cy="384048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31" name="a008_f_48"/>
          <p:cNvSpPr txBox="1"/>
          <p:nvPr/>
        </p:nvSpPr>
        <p:spPr>
          <a:xfrm>
            <a:off x="731520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a008_f_49"/>
          <p:cNvSpPr txBox="1"/>
          <p:nvPr/>
        </p:nvSpPr>
        <p:spPr>
          <a:xfrm>
            <a:off x="731520" y="4873752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Planung &amp; Vorbereitung</a:t>
            </a:r>
            <a:endParaRPr lang="en-US" sz="1400" dirty="0"/>
          </a:p>
        </p:txBody>
      </p:sp>
      <p:sp>
        <p:nvSpPr>
          <p:cNvPr id="33" name="a008_f_50"/>
          <p:cNvSpPr txBox="1"/>
          <p:nvPr/>
        </p:nvSpPr>
        <p:spPr>
          <a:xfrm>
            <a:off x="731520" y="557784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Seiten</a:t>
            </a:r>
            <a:endParaRPr lang="en-US" sz="1100" dirty="0"/>
          </a:p>
        </p:txBody>
      </p:sp>
      <p:sp>
        <p:nvSpPr>
          <p:cNvPr id="34" name="a009_f_51"/>
          <p:cNvSpPr/>
          <p:nvPr/>
        </p:nvSpPr>
        <p:spPr>
          <a:xfrm>
            <a:off x="2798064" y="4160520"/>
            <a:ext cx="2084832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35" name="a009_f_52"/>
          <p:cNvSpPr/>
          <p:nvPr/>
        </p:nvSpPr>
        <p:spPr>
          <a:xfrm>
            <a:off x="2980944" y="4361688"/>
            <a:ext cx="384048" cy="384048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36" name="a009_f_53"/>
          <p:cNvSpPr txBox="1"/>
          <p:nvPr/>
        </p:nvSpPr>
        <p:spPr>
          <a:xfrm>
            <a:off x="2980944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37" name="a009_f_54"/>
          <p:cNvSpPr txBox="1"/>
          <p:nvPr/>
        </p:nvSpPr>
        <p:spPr>
          <a:xfrm>
            <a:off x="2980944" y="4873752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Drehtage</a:t>
            </a:r>
            <a:endParaRPr lang="en-US" sz="1400" dirty="0"/>
          </a:p>
        </p:txBody>
      </p:sp>
      <p:sp>
        <p:nvSpPr>
          <p:cNvPr id="38" name="a009_f_55"/>
          <p:cNvSpPr txBox="1"/>
          <p:nvPr/>
        </p:nvSpPr>
        <p:spPr>
          <a:xfrm>
            <a:off x="2980944" y="557784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Seiten</a:t>
            </a:r>
            <a:endParaRPr lang="en-US" sz="1100" dirty="0"/>
          </a:p>
        </p:txBody>
      </p:sp>
      <p:sp>
        <p:nvSpPr>
          <p:cNvPr id="39" name="a010_f_56"/>
          <p:cNvSpPr/>
          <p:nvPr/>
        </p:nvSpPr>
        <p:spPr>
          <a:xfrm>
            <a:off x="5047488" y="4160520"/>
            <a:ext cx="2084832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40" name="a010_f_57"/>
          <p:cNvSpPr/>
          <p:nvPr/>
        </p:nvSpPr>
        <p:spPr>
          <a:xfrm>
            <a:off x="5230368" y="4361688"/>
            <a:ext cx="384048" cy="384048"/>
          </a:xfrm>
          <a:prstGeom prst="ellipse">
            <a:avLst/>
          </a:prstGeom>
          <a:solidFill>
            <a:srgbClr val="5856D6"/>
          </a:solidFill>
          <a:ln/>
        </p:spPr>
      </p:sp>
      <p:sp>
        <p:nvSpPr>
          <p:cNvPr id="41" name="a010_f_58"/>
          <p:cNvSpPr txBox="1"/>
          <p:nvPr/>
        </p:nvSpPr>
        <p:spPr>
          <a:xfrm>
            <a:off x="5230368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42" name="a010_f_59"/>
          <p:cNvSpPr txBox="1"/>
          <p:nvPr/>
        </p:nvSpPr>
        <p:spPr>
          <a:xfrm>
            <a:off x="5230368" y="4873752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Postproduktion</a:t>
            </a:r>
            <a:endParaRPr lang="en-US" sz="1400" dirty="0"/>
          </a:p>
        </p:txBody>
      </p:sp>
      <p:sp>
        <p:nvSpPr>
          <p:cNvPr id="43" name="a010_f_60"/>
          <p:cNvSpPr txBox="1"/>
          <p:nvPr/>
        </p:nvSpPr>
        <p:spPr>
          <a:xfrm>
            <a:off x="5230368" y="557784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8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Seiten</a:t>
            </a:r>
            <a:endParaRPr lang="en-US" sz="1100" dirty="0"/>
          </a:p>
        </p:txBody>
      </p:sp>
      <p:sp>
        <p:nvSpPr>
          <p:cNvPr id="44" name="a011_f_61"/>
          <p:cNvSpPr/>
          <p:nvPr/>
        </p:nvSpPr>
        <p:spPr>
          <a:xfrm>
            <a:off x="7296912" y="4160520"/>
            <a:ext cx="2084832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45" name="a011_f_62"/>
          <p:cNvSpPr/>
          <p:nvPr/>
        </p:nvSpPr>
        <p:spPr>
          <a:xfrm>
            <a:off x="7479792" y="4361688"/>
            <a:ext cx="384048" cy="384048"/>
          </a:xfrm>
          <a:prstGeom prst="ellipse">
            <a:avLst/>
          </a:prstGeom>
          <a:solidFill>
            <a:srgbClr val="30B0C7"/>
          </a:solidFill>
          <a:ln/>
        </p:spPr>
      </p:sp>
      <p:sp>
        <p:nvSpPr>
          <p:cNvPr id="46" name="a011_f_63"/>
          <p:cNvSpPr txBox="1"/>
          <p:nvPr/>
        </p:nvSpPr>
        <p:spPr>
          <a:xfrm>
            <a:off x="7479792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47" name="a011_f_64"/>
          <p:cNvSpPr txBox="1"/>
          <p:nvPr/>
        </p:nvSpPr>
        <p:spPr>
          <a:xfrm>
            <a:off x="7479792" y="4873752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Werkzeuge &amp; Kommunikation</a:t>
            </a:r>
            <a:endParaRPr lang="en-US" sz="1400" dirty="0"/>
          </a:p>
        </p:txBody>
      </p:sp>
      <p:sp>
        <p:nvSpPr>
          <p:cNvPr id="48" name="a011_f_65"/>
          <p:cNvSpPr txBox="1"/>
          <p:nvPr/>
        </p:nvSpPr>
        <p:spPr>
          <a:xfrm>
            <a:off x="7479792" y="557784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0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Seiten</a:t>
            </a:r>
            <a:endParaRPr lang="en-US" sz="1100" dirty="0"/>
          </a:p>
        </p:txBody>
      </p:sp>
      <p:sp>
        <p:nvSpPr>
          <p:cNvPr id="49" name="a012_f_66"/>
          <p:cNvSpPr/>
          <p:nvPr/>
        </p:nvSpPr>
        <p:spPr>
          <a:xfrm>
            <a:off x="9546336" y="4160520"/>
            <a:ext cx="2084832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50" name="a012_f_67"/>
          <p:cNvSpPr/>
          <p:nvPr/>
        </p:nvSpPr>
        <p:spPr>
          <a:xfrm>
            <a:off x="9729216" y="4361688"/>
            <a:ext cx="384048" cy="384048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51" name="a012_f_68"/>
          <p:cNvSpPr txBox="1"/>
          <p:nvPr/>
        </p:nvSpPr>
        <p:spPr>
          <a:xfrm>
            <a:off x="9729216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52" name="a012_f_69"/>
          <p:cNvSpPr txBox="1"/>
          <p:nvPr/>
        </p:nvSpPr>
        <p:spPr>
          <a:xfrm>
            <a:off x="9729216" y="4873752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Creator-Modus</a:t>
            </a:r>
            <a:endParaRPr lang="en-US" sz="1400" dirty="0"/>
          </a:p>
        </p:txBody>
      </p:sp>
      <p:sp>
        <p:nvSpPr>
          <p:cNvPr id="53" name="a012_f_70"/>
          <p:cNvSpPr txBox="1"/>
          <p:nvPr/>
        </p:nvSpPr>
        <p:spPr>
          <a:xfrm>
            <a:off x="9729216" y="557784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Seiten</a:t>
            </a:r>
            <a:endParaRPr lang="en-US" sz="1100" dirty="0"/>
          </a:p>
        </p:txBody>
      </p:sp>
      <p:sp>
        <p:nvSpPr>
          <p:cNvPr id="54" name="s_71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55" name="s_72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8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8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48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48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48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48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48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48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48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48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48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48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48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48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48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48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4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48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48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48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48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4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48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48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48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48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48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48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8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48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48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48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48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48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48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48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48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48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42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48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6" dur="48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42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48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48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42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48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48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42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48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48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42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48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2" dur="480" decel="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8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21" grpId="0" animBg="1"/>
      <p:bldP spid="22" grpId="0" animBg="1"/>
      <p:bldP spid="23" grpId="0" animBg="1"/>
      <p:bldP spid="26" grpId="0" animBg="1"/>
      <p:bldP spid="27" grpId="0" animBg="1"/>
      <p:bldP spid="28" grpId="0" animBg="1"/>
      <p:bldP spid="31" grpId="0" animBg="1"/>
      <p:bldP spid="32" grpId="0" animBg="1"/>
      <p:bldP spid="33" grpId="0" animBg="1"/>
      <p:bldP spid="36" grpId="0" animBg="1"/>
      <p:bldP spid="37" grpId="0" animBg="1"/>
      <p:bldP spid="38" grpId="0" animBg="1"/>
      <p:bldP spid="41" grpId="0" animBg="1"/>
      <p:bldP spid="42" grpId="0" animBg="1"/>
      <p:bldP spid="43" grpId="0" animBg="1"/>
      <p:bldP spid="46" grpId="0" animBg="1"/>
      <p:bldP spid="47" grpId="0" animBg="1"/>
      <p:bldP spid="48" grpId="0" animBg="1"/>
      <p:bldP spid="51" grpId="0" animBg="1"/>
      <p:bldP spid="52" grpId="0" animBg="1"/>
      <p:bldP spid="5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73"/>
          <p:cNvSpPr txBox="1"/>
          <p:nvPr/>
        </p:nvSpPr>
        <p:spPr>
          <a:xfrm>
            <a:off x="54864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Weg einer Produktion</a:t>
            </a:r>
            <a:endParaRPr lang="en-US" sz="3600" dirty="0"/>
          </a:p>
        </p:txBody>
      </p:sp>
      <p:sp>
        <p:nvSpPr>
          <p:cNvPr id="3" name="a002_f_74"/>
          <p:cNvSpPr txBox="1"/>
          <p:nvPr/>
        </p:nvSpPr>
        <p:spPr>
          <a:xfrm>
            <a:off x="54864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Stufe schreibt Daten, die die nächste liest – nichts wird doppelt erfasst.</a:t>
            </a:r>
            <a:endParaRPr lang="en-US" sz="1500" dirty="0"/>
          </a:p>
        </p:txBody>
      </p:sp>
      <p:sp>
        <p:nvSpPr>
          <p:cNvPr id="4" name="a003_f_75"/>
          <p:cNvSpPr/>
          <p:nvPr/>
        </p:nvSpPr>
        <p:spPr>
          <a:xfrm>
            <a:off x="548640" y="2331720"/>
            <a:ext cx="1298448" cy="1005840"/>
          </a:xfrm>
          <a:prstGeom prst="roundRect">
            <a:avLst>
              <a:gd name="adj" fmla="val 12727"/>
            </a:avLst>
          </a:prstGeom>
          <a:solidFill>
            <a:srgbClr val="AF52DE"/>
          </a:solidFill>
          <a:ln/>
        </p:spPr>
      </p:sp>
      <p:sp>
        <p:nvSpPr>
          <p:cNvPr id="5" name="a003_f_76"/>
          <p:cNvSpPr txBox="1"/>
          <p:nvPr/>
        </p:nvSpPr>
        <p:spPr>
          <a:xfrm>
            <a:off x="676656" y="2441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a003_f_77"/>
          <p:cNvSpPr txBox="1"/>
          <p:nvPr/>
        </p:nvSpPr>
        <p:spPr>
          <a:xfrm>
            <a:off x="676656" y="274320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Drehbuch</a:t>
            </a:r>
            <a:endParaRPr lang="en-US" sz="1500" dirty="0"/>
          </a:p>
        </p:txBody>
      </p:sp>
      <p:sp>
        <p:nvSpPr>
          <p:cNvPr id="7" name="a003_f_78"/>
          <p:cNvSpPr txBox="1"/>
          <p:nvPr/>
        </p:nvSpPr>
        <p:spPr>
          <a:xfrm>
            <a:off x="548640" y="344728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Editor, Import</a:t>
            </a:r>
            <a:endParaRPr lang="en-US" sz="1050" dirty="0"/>
          </a:p>
        </p:txBody>
      </p:sp>
      <p:sp>
        <p:nvSpPr>
          <p:cNvPr id="8" name="a003_f_79"/>
          <p:cNvSpPr txBox="1"/>
          <p:nvPr/>
        </p:nvSpPr>
        <p:spPr>
          <a:xfrm>
            <a:off x="566928" y="4023360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F5EAF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Drehbuch-Editor</a:t>
            </a:r>
            <a:endParaRPr lang="en-US" sz="900" dirty="0"/>
          </a:p>
        </p:txBody>
      </p:sp>
      <p:sp>
        <p:nvSpPr>
          <p:cNvPr id="9" name="a003_f_80"/>
          <p:cNvSpPr txBox="1"/>
          <p:nvPr/>
        </p:nvSpPr>
        <p:spPr>
          <a:xfrm>
            <a:off x="566928" y="4407408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F5EAF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Neues Projekt &amp; Onboarding</a:t>
            </a:r>
            <a:endParaRPr lang="en-US" sz="900" dirty="0"/>
          </a:p>
        </p:txBody>
      </p:sp>
      <p:sp>
        <p:nvSpPr>
          <p:cNvPr id="10" name="a004_w_81"/>
          <p:cNvSpPr/>
          <p:nvPr/>
        </p:nvSpPr>
        <p:spPr>
          <a:xfrm>
            <a:off x="1865376" y="2834640"/>
            <a:ext cx="128016" cy="914"/>
          </a:xfrm>
          <a:prstGeom prst="line">
            <a:avLst/>
          </a:prstGeom>
          <a:noFill/>
          <a:ln w="19050">
            <a:solidFill>
              <a:srgbClr val="AEAEB2"/>
            </a:solidFill>
            <a:prstDash val="solid"/>
            <a:tailEnd type="triangle"/>
          </a:ln>
        </p:spPr>
      </p:sp>
      <p:sp>
        <p:nvSpPr>
          <p:cNvPr id="11" name="a005_f_82"/>
          <p:cNvSpPr/>
          <p:nvPr/>
        </p:nvSpPr>
        <p:spPr>
          <a:xfrm>
            <a:off x="2011680" y="2331720"/>
            <a:ext cx="1298448" cy="1005840"/>
          </a:xfrm>
          <a:prstGeom prst="roundRect">
            <a:avLst>
              <a:gd name="adj" fmla="val 12727"/>
            </a:avLst>
          </a:prstGeom>
          <a:solidFill>
            <a:srgbClr val="AF52DE"/>
          </a:solidFill>
          <a:ln/>
        </p:spPr>
      </p:sp>
      <p:sp>
        <p:nvSpPr>
          <p:cNvPr id="12" name="a005_f_83"/>
          <p:cNvSpPr txBox="1"/>
          <p:nvPr/>
        </p:nvSpPr>
        <p:spPr>
          <a:xfrm>
            <a:off x="2139696" y="2441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a005_f_84"/>
          <p:cNvSpPr txBox="1"/>
          <p:nvPr/>
        </p:nvSpPr>
        <p:spPr>
          <a:xfrm>
            <a:off x="2139696" y="274320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</a:t>
            </a:r>
            <a:endParaRPr lang="en-US" sz="1500" dirty="0"/>
          </a:p>
        </p:txBody>
      </p:sp>
      <p:sp>
        <p:nvSpPr>
          <p:cNvPr id="14" name="a005_f_85"/>
          <p:cNvSpPr txBox="1"/>
          <p:nvPr/>
        </p:nvSpPr>
        <p:spPr>
          <a:xfrm>
            <a:off x="2011680" y="344728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Breakdown, Figuren</a:t>
            </a:r>
            <a:endParaRPr lang="en-US" sz="1050" dirty="0"/>
          </a:p>
        </p:txBody>
      </p:sp>
      <p:sp>
        <p:nvSpPr>
          <p:cNvPr id="15" name="a005_f_86"/>
          <p:cNvSpPr txBox="1"/>
          <p:nvPr/>
        </p:nvSpPr>
        <p:spPr>
          <a:xfrm>
            <a:off x="2029968" y="4023360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F5EAF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 (Szenenübersicht)</a:t>
            </a:r>
            <a:endParaRPr lang="en-US" sz="900" dirty="0"/>
          </a:p>
        </p:txBody>
      </p:sp>
      <p:sp>
        <p:nvSpPr>
          <p:cNvPr id="16" name="a005_f_87"/>
          <p:cNvSpPr txBox="1"/>
          <p:nvPr/>
        </p:nvSpPr>
        <p:spPr>
          <a:xfrm>
            <a:off x="2029968" y="4407408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F5EAF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Szenen-Kommentare</a:t>
            </a:r>
            <a:endParaRPr lang="en-US" sz="900" dirty="0"/>
          </a:p>
        </p:txBody>
      </p:sp>
      <p:sp>
        <p:nvSpPr>
          <p:cNvPr id="17" name="a006_w_88"/>
          <p:cNvSpPr/>
          <p:nvPr/>
        </p:nvSpPr>
        <p:spPr>
          <a:xfrm>
            <a:off x="3328416" y="2834640"/>
            <a:ext cx="128016" cy="914"/>
          </a:xfrm>
          <a:prstGeom prst="line">
            <a:avLst/>
          </a:prstGeom>
          <a:noFill/>
          <a:ln w="19050">
            <a:solidFill>
              <a:srgbClr val="AEAEB2"/>
            </a:solidFill>
            <a:prstDash val="solid"/>
            <a:tailEnd type="triangle"/>
          </a:ln>
        </p:spPr>
      </p:sp>
      <p:sp>
        <p:nvSpPr>
          <p:cNvPr id="18" name="a007_f_89"/>
          <p:cNvSpPr/>
          <p:nvPr/>
        </p:nvSpPr>
        <p:spPr>
          <a:xfrm>
            <a:off x="3474720" y="2331720"/>
            <a:ext cx="1298448" cy="1005840"/>
          </a:xfrm>
          <a:prstGeom prst="roundRect">
            <a:avLst>
              <a:gd name="adj" fmla="val 12727"/>
            </a:avLst>
          </a:prstGeom>
          <a:solidFill>
            <a:srgbClr val="FF2D55"/>
          </a:solidFill>
          <a:ln/>
        </p:spPr>
      </p:sp>
      <p:sp>
        <p:nvSpPr>
          <p:cNvPr id="19" name="a007_f_90"/>
          <p:cNvSpPr txBox="1"/>
          <p:nvPr/>
        </p:nvSpPr>
        <p:spPr>
          <a:xfrm>
            <a:off x="3602736" y="2441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a007_f_91"/>
          <p:cNvSpPr txBox="1"/>
          <p:nvPr/>
        </p:nvSpPr>
        <p:spPr>
          <a:xfrm>
            <a:off x="3602736" y="274320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Orte</a:t>
            </a:r>
            <a:endParaRPr lang="en-US" sz="1500" dirty="0"/>
          </a:p>
        </p:txBody>
      </p:sp>
      <p:sp>
        <p:nvSpPr>
          <p:cNvPr id="21" name="a007_f_92"/>
          <p:cNvSpPr txBox="1"/>
          <p:nvPr/>
        </p:nvSpPr>
        <p:spPr>
          <a:xfrm>
            <a:off x="3474720" y="344728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Besetzung, Stab, Motive</a:t>
            </a:r>
            <a:endParaRPr lang="en-US" sz="1050" dirty="0"/>
          </a:p>
        </p:txBody>
      </p:sp>
      <p:sp>
        <p:nvSpPr>
          <p:cNvPr id="22" name="a007_f_93"/>
          <p:cNvSpPr txBox="1"/>
          <p:nvPr/>
        </p:nvSpPr>
        <p:spPr>
          <a:xfrm>
            <a:off x="3493008" y="4023360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FFE9E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Besetzung &amp; Rollen</a:t>
            </a:r>
            <a:endParaRPr lang="en-US" sz="900" dirty="0"/>
          </a:p>
        </p:txBody>
      </p:sp>
      <p:sp>
        <p:nvSpPr>
          <p:cNvPr id="23" name="a007_f_94"/>
          <p:cNvSpPr txBox="1"/>
          <p:nvPr/>
        </p:nvSpPr>
        <p:spPr>
          <a:xfrm>
            <a:off x="3493008" y="4407408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FFE9E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Stabliste</a:t>
            </a:r>
            <a:endParaRPr lang="en-US" sz="900" dirty="0"/>
          </a:p>
        </p:txBody>
      </p:sp>
      <p:sp>
        <p:nvSpPr>
          <p:cNvPr id="24" name="a007_f_95"/>
          <p:cNvSpPr txBox="1"/>
          <p:nvPr/>
        </p:nvSpPr>
        <p:spPr>
          <a:xfrm>
            <a:off x="3493008" y="4791456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FFE9E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Motive &amp; Drehorte</a:t>
            </a:r>
            <a:endParaRPr lang="en-US" sz="900" dirty="0"/>
          </a:p>
        </p:txBody>
      </p:sp>
      <p:sp>
        <p:nvSpPr>
          <p:cNvPr id="25" name="a008_w_96"/>
          <p:cNvSpPr/>
          <p:nvPr/>
        </p:nvSpPr>
        <p:spPr>
          <a:xfrm>
            <a:off x="4791456" y="2834640"/>
            <a:ext cx="128016" cy="914"/>
          </a:xfrm>
          <a:prstGeom prst="line">
            <a:avLst/>
          </a:prstGeom>
          <a:noFill/>
          <a:ln w="19050">
            <a:solidFill>
              <a:srgbClr val="AEAEB2"/>
            </a:solidFill>
            <a:prstDash val="solid"/>
            <a:tailEnd type="triangle"/>
          </a:ln>
        </p:spPr>
      </p:sp>
      <p:sp>
        <p:nvSpPr>
          <p:cNvPr id="26" name="a009_f_97"/>
          <p:cNvSpPr/>
          <p:nvPr/>
        </p:nvSpPr>
        <p:spPr>
          <a:xfrm>
            <a:off x="4937760" y="2331720"/>
            <a:ext cx="1298448" cy="1005840"/>
          </a:xfrm>
          <a:prstGeom prst="roundRect">
            <a:avLst>
              <a:gd name="adj" fmla="val 12727"/>
            </a:avLst>
          </a:prstGeom>
          <a:solidFill>
            <a:srgbClr val="FF9500"/>
          </a:solidFill>
          <a:ln/>
        </p:spPr>
      </p:sp>
      <p:sp>
        <p:nvSpPr>
          <p:cNvPr id="27" name="a009_f_98"/>
          <p:cNvSpPr txBox="1"/>
          <p:nvPr/>
        </p:nvSpPr>
        <p:spPr>
          <a:xfrm>
            <a:off x="5065776" y="2441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a009_f_99"/>
          <p:cNvSpPr txBox="1"/>
          <p:nvPr/>
        </p:nvSpPr>
        <p:spPr>
          <a:xfrm>
            <a:off x="5065776" y="274320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Drehplan</a:t>
            </a:r>
            <a:endParaRPr lang="en-US" sz="1500" dirty="0"/>
          </a:p>
        </p:txBody>
      </p:sp>
      <p:sp>
        <p:nvSpPr>
          <p:cNvPr id="29" name="a009_f_100"/>
          <p:cNvSpPr txBox="1"/>
          <p:nvPr/>
        </p:nvSpPr>
        <p:spPr>
          <a:xfrm>
            <a:off x="4937760" y="344728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Tage, Versionen, KI</a:t>
            </a:r>
            <a:endParaRPr lang="en-US" sz="1050" dirty="0"/>
          </a:p>
        </p:txBody>
      </p:sp>
      <p:sp>
        <p:nvSpPr>
          <p:cNvPr id="30" name="a009_f_101"/>
          <p:cNvSpPr txBox="1"/>
          <p:nvPr/>
        </p:nvSpPr>
        <p:spPr>
          <a:xfrm>
            <a:off x="4956048" y="4023360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FFF3E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Drehplan</a:t>
            </a:r>
            <a:endParaRPr lang="en-US" sz="900" dirty="0"/>
          </a:p>
        </p:txBody>
      </p:sp>
      <p:sp>
        <p:nvSpPr>
          <p:cNvPr id="31" name="a009_f_102"/>
          <p:cNvSpPr txBox="1"/>
          <p:nvPr/>
        </p:nvSpPr>
        <p:spPr>
          <a:xfrm>
            <a:off x="4956048" y="4407408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FFF3E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Stäbchenplan</a:t>
            </a:r>
            <a:endParaRPr lang="en-US" sz="900" dirty="0"/>
          </a:p>
        </p:txBody>
      </p:sp>
      <p:sp>
        <p:nvSpPr>
          <p:cNvPr id="32" name="a009_f_103"/>
          <p:cNvSpPr txBox="1"/>
          <p:nvPr/>
        </p:nvSpPr>
        <p:spPr>
          <a:xfrm>
            <a:off x="4956048" y="4791456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FFF3E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Konfliktradar</a:t>
            </a:r>
            <a:endParaRPr lang="en-US" sz="900" dirty="0"/>
          </a:p>
        </p:txBody>
      </p:sp>
      <p:sp>
        <p:nvSpPr>
          <p:cNvPr id="33" name="a010_w_104"/>
          <p:cNvSpPr/>
          <p:nvPr/>
        </p:nvSpPr>
        <p:spPr>
          <a:xfrm>
            <a:off x="6254496" y="2834640"/>
            <a:ext cx="128016" cy="914"/>
          </a:xfrm>
          <a:prstGeom prst="line">
            <a:avLst/>
          </a:prstGeom>
          <a:noFill/>
          <a:ln w="19050">
            <a:solidFill>
              <a:srgbClr val="AEAEB2"/>
            </a:solidFill>
            <a:prstDash val="solid"/>
            <a:tailEnd type="triangle"/>
          </a:ln>
        </p:spPr>
      </p:sp>
      <p:sp>
        <p:nvSpPr>
          <p:cNvPr id="34" name="a011_f_105"/>
          <p:cNvSpPr/>
          <p:nvPr/>
        </p:nvSpPr>
        <p:spPr>
          <a:xfrm>
            <a:off x="6400800" y="2331720"/>
            <a:ext cx="1298448" cy="1005840"/>
          </a:xfrm>
          <a:prstGeom prst="roundRect">
            <a:avLst>
              <a:gd name="adj" fmla="val 12727"/>
            </a:avLst>
          </a:prstGeom>
          <a:solidFill>
            <a:srgbClr val="34C759"/>
          </a:solidFill>
          <a:ln/>
        </p:spPr>
      </p:sp>
      <p:sp>
        <p:nvSpPr>
          <p:cNvPr id="35" name="a011_f_106"/>
          <p:cNvSpPr txBox="1"/>
          <p:nvPr/>
        </p:nvSpPr>
        <p:spPr>
          <a:xfrm>
            <a:off x="6528816" y="2441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a011_f_107"/>
          <p:cNvSpPr txBox="1"/>
          <p:nvPr/>
        </p:nvSpPr>
        <p:spPr>
          <a:xfrm>
            <a:off x="6528816" y="274320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Tagesdispo</a:t>
            </a:r>
            <a:endParaRPr lang="en-US" sz="1500" dirty="0"/>
          </a:p>
        </p:txBody>
      </p:sp>
      <p:sp>
        <p:nvSpPr>
          <p:cNvPr id="37" name="a011_f_108"/>
          <p:cNvSpPr txBox="1"/>
          <p:nvPr/>
        </p:nvSpPr>
        <p:spPr>
          <a:xfrm>
            <a:off x="6400800" y="344728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Versand, Links</a:t>
            </a:r>
            <a:endParaRPr lang="en-US" sz="1050" dirty="0"/>
          </a:p>
        </p:txBody>
      </p:sp>
      <p:sp>
        <p:nvSpPr>
          <p:cNvPr id="38" name="a011_f_109"/>
          <p:cNvSpPr txBox="1"/>
          <p:nvPr/>
        </p:nvSpPr>
        <p:spPr>
          <a:xfrm>
            <a:off x="6419088" y="4023360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E8F8E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Tagesdispo</a:t>
            </a:r>
            <a:endParaRPr lang="en-US" sz="900" dirty="0"/>
          </a:p>
        </p:txBody>
      </p:sp>
      <p:sp>
        <p:nvSpPr>
          <p:cNvPr id="39" name="a011_f_110"/>
          <p:cNvSpPr txBox="1"/>
          <p:nvPr/>
        </p:nvSpPr>
        <p:spPr>
          <a:xfrm>
            <a:off x="6419088" y="4407408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E8F8E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Öffentliche Dispo</a:t>
            </a:r>
            <a:endParaRPr lang="en-US" sz="900" dirty="0"/>
          </a:p>
        </p:txBody>
      </p:sp>
      <p:sp>
        <p:nvSpPr>
          <p:cNvPr id="40" name="a012_w_111"/>
          <p:cNvSpPr/>
          <p:nvPr/>
        </p:nvSpPr>
        <p:spPr>
          <a:xfrm>
            <a:off x="7717536" y="2834640"/>
            <a:ext cx="128016" cy="914"/>
          </a:xfrm>
          <a:prstGeom prst="line">
            <a:avLst/>
          </a:prstGeom>
          <a:noFill/>
          <a:ln w="19050">
            <a:solidFill>
              <a:srgbClr val="AEAEB2"/>
            </a:solidFill>
            <a:prstDash val="solid"/>
            <a:tailEnd type="triangle"/>
          </a:ln>
        </p:spPr>
      </p:sp>
      <p:sp>
        <p:nvSpPr>
          <p:cNvPr id="41" name="a013_f_112"/>
          <p:cNvSpPr/>
          <p:nvPr/>
        </p:nvSpPr>
        <p:spPr>
          <a:xfrm>
            <a:off x="7863840" y="2331720"/>
            <a:ext cx="1298448" cy="1005840"/>
          </a:xfrm>
          <a:prstGeom prst="roundRect">
            <a:avLst>
              <a:gd name="adj" fmla="val 12727"/>
            </a:avLst>
          </a:prstGeom>
          <a:solidFill>
            <a:srgbClr val="34C759"/>
          </a:solidFill>
          <a:ln/>
        </p:spPr>
      </p:sp>
      <p:sp>
        <p:nvSpPr>
          <p:cNvPr id="42" name="a013_f_113"/>
          <p:cNvSpPr txBox="1"/>
          <p:nvPr/>
        </p:nvSpPr>
        <p:spPr>
          <a:xfrm>
            <a:off x="7991856" y="2441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43" name="a013_f_114"/>
          <p:cNvSpPr txBox="1"/>
          <p:nvPr/>
        </p:nvSpPr>
        <p:spPr>
          <a:xfrm>
            <a:off x="7991856" y="274320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Set</a:t>
            </a:r>
            <a:endParaRPr lang="en-US" sz="1500" dirty="0"/>
          </a:p>
        </p:txBody>
      </p:sp>
      <p:sp>
        <p:nvSpPr>
          <p:cNvPr id="44" name="a013_f_115"/>
          <p:cNvSpPr txBox="1"/>
          <p:nvPr/>
        </p:nvSpPr>
        <p:spPr>
          <a:xfrm>
            <a:off x="7863840" y="344728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Set-App, Check-in, Shots</a:t>
            </a:r>
            <a:endParaRPr lang="en-US" sz="1050" dirty="0"/>
          </a:p>
        </p:txBody>
      </p:sp>
      <p:sp>
        <p:nvSpPr>
          <p:cNvPr id="45" name="a013_f_116"/>
          <p:cNvSpPr txBox="1"/>
          <p:nvPr/>
        </p:nvSpPr>
        <p:spPr>
          <a:xfrm>
            <a:off x="7882128" y="4023360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E8F8E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Set-App</a:t>
            </a:r>
            <a:endParaRPr lang="en-US" sz="900" dirty="0"/>
          </a:p>
        </p:txBody>
      </p:sp>
      <p:sp>
        <p:nvSpPr>
          <p:cNvPr id="46" name="a013_f_117"/>
          <p:cNvSpPr txBox="1"/>
          <p:nvPr/>
        </p:nvSpPr>
        <p:spPr>
          <a:xfrm>
            <a:off x="7882128" y="4407408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E8F8E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 Board</a:t>
            </a:r>
            <a:endParaRPr lang="en-US" sz="900" dirty="0"/>
          </a:p>
        </p:txBody>
      </p:sp>
      <p:sp>
        <p:nvSpPr>
          <p:cNvPr id="47" name="a013_f_118"/>
          <p:cNvSpPr txBox="1"/>
          <p:nvPr/>
        </p:nvSpPr>
        <p:spPr>
          <a:xfrm>
            <a:off x="7882128" y="4791456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E8F8E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Auflösung &amp; Shotlist</a:t>
            </a:r>
            <a:endParaRPr lang="en-US" sz="900" dirty="0"/>
          </a:p>
        </p:txBody>
      </p:sp>
      <p:sp>
        <p:nvSpPr>
          <p:cNvPr id="48" name="a014_w_119"/>
          <p:cNvSpPr/>
          <p:nvPr/>
        </p:nvSpPr>
        <p:spPr>
          <a:xfrm>
            <a:off x="9180576" y="2834640"/>
            <a:ext cx="128016" cy="914"/>
          </a:xfrm>
          <a:prstGeom prst="line">
            <a:avLst/>
          </a:prstGeom>
          <a:noFill/>
          <a:ln w="19050">
            <a:solidFill>
              <a:srgbClr val="AEAEB2"/>
            </a:solidFill>
            <a:prstDash val="solid"/>
            <a:tailEnd type="triangle"/>
          </a:ln>
        </p:spPr>
      </p:sp>
      <p:sp>
        <p:nvSpPr>
          <p:cNvPr id="49" name="a015_f_120"/>
          <p:cNvSpPr/>
          <p:nvPr/>
        </p:nvSpPr>
        <p:spPr>
          <a:xfrm>
            <a:off x="9326880" y="2331720"/>
            <a:ext cx="1298448" cy="1005840"/>
          </a:xfrm>
          <a:prstGeom prst="roundRect">
            <a:avLst>
              <a:gd name="adj" fmla="val 12727"/>
            </a:avLst>
          </a:prstGeom>
          <a:solidFill>
            <a:srgbClr val="34C759"/>
          </a:solidFill>
          <a:ln/>
        </p:spPr>
      </p:sp>
      <p:sp>
        <p:nvSpPr>
          <p:cNvPr id="50" name="a015_f_121"/>
          <p:cNvSpPr txBox="1"/>
          <p:nvPr/>
        </p:nvSpPr>
        <p:spPr>
          <a:xfrm>
            <a:off x="9454896" y="2441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51" name="a015_f_122"/>
          <p:cNvSpPr txBox="1"/>
          <p:nvPr/>
        </p:nvSpPr>
        <p:spPr>
          <a:xfrm>
            <a:off x="9454896" y="274320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Berichte</a:t>
            </a:r>
            <a:endParaRPr lang="en-US" sz="1500" dirty="0"/>
          </a:p>
        </p:txBody>
      </p:sp>
      <p:sp>
        <p:nvSpPr>
          <p:cNvPr id="52" name="a015_f_123"/>
          <p:cNvSpPr txBox="1"/>
          <p:nvPr/>
        </p:nvSpPr>
        <p:spPr>
          <a:xfrm>
            <a:off x="9326880" y="344728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Tag, Kamera, Zeiten</a:t>
            </a:r>
            <a:endParaRPr lang="en-US" sz="1050" dirty="0"/>
          </a:p>
        </p:txBody>
      </p:sp>
      <p:sp>
        <p:nvSpPr>
          <p:cNvPr id="53" name="a015_f_124"/>
          <p:cNvSpPr txBox="1"/>
          <p:nvPr/>
        </p:nvSpPr>
        <p:spPr>
          <a:xfrm>
            <a:off x="9345168" y="4023360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E8F8E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Tagesbericht</a:t>
            </a:r>
            <a:endParaRPr lang="en-US" sz="900" dirty="0"/>
          </a:p>
        </p:txBody>
      </p:sp>
      <p:sp>
        <p:nvSpPr>
          <p:cNvPr id="54" name="a015_f_125"/>
          <p:cNvSpPr txBox="1"/>
          <p:nvPr/>
        </p:nvSpPr>
        <p:spPr>
          <a:xfrm>
            <a:off x="9345168" y="4407408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E8F8E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Kameraberichte</a:t>
            </a:r>
            <a:endParaRPr lang="en-US" sz="900" dirty="0"/>
          </a:p>
        </p:txBody>
      </p:sp>
      <p:sp>
        <p:nvSpPr>
          <p:cNvPr id="55" name="a015_f_126"/>
          <p:cNvSpPr txBox="1"/>
          <p:nvPr/>
        </p:nvSpPr>
        <p:spPr>
          <a:xfrm>
            <a:off x="9345168" y="4791456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E8F8E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Timesheets</a:t>
            </a:r>
            <a:endParaRPr lang="en-US" sz="900" dirty="0"/>
          </a:p>
        </p:txBody>
      </p:sp>
      <p:sp>
        <p:nvSpPr>
          <p:cNvPr id="56" name="a016_w_127"/>
          <p:cNvSpPr/>
          <p:nvPr/>
        </p:nvSpPr>
        <p:spPr>
          <a:xfrm>
            <a:off x="10643616" y="2834640"/>
            <a:ext cx="128016" cy="914"/>
          </a:xfrm>
          <a:prstGeom prst="line">
            <a:avLst/>
          </a:prstGeom>
          <a:noFill/>
          <a:ln w="19050">
            <a:solidFill>
              <a:srgbClr val="AEAEB2"/>
            </a:solidFill>
            <a:prstDash val="solid"/>
            <a:tailEnd type="triangle"/>
          </a:ln>
        </p:spPr>
      </p:sp>
      <p:sp>
        <p:nvSpPr>
          <p:cNvPr id="57" name="a017_f_128"/>
          <p:cNvSpPr/>
          <p:nvPr/>
        </p:nvSpPr>
        <p:spPr>
          <a:xfrm>
            <a:off x="10789920" y="2331720"/>
            <a:ext cx="1298448" cy="1005840"/>
          </a:xfrm>
          <a:prstGeom prst="roundRect">
            <a:avLst>
              <a:gd name="adj" fmla="val 12727"/>
            </a:avLst>
          </a:prstGeom>
          <a:solidFill>
            <a:srgbClr val="5856D6"/>
          </a:solidFill>
          <a:ln/>
        </p:spPr>
      </p:sp>
      <p:sp>
        <p:nvSpPr>
          <p:cNvPr id="58" name="a017_f_129"/>
          <p:cNvSpPr txBox="1"/>
          <p:nvPr/>
        </p:nvSpPr>
        <p:spPr>
          <a:xfrm>
            <a:off x="10917936" y="2441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59" name="a017_f_130"/>
          <p:cNvSpPr txBox="1"/>
          <p:nvPr/>
        </p:nvSpPr>
        <p:spPr>
          <a:xfrm>
            <a:off x="10917936" y="274320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500" dirty="0"/>
          </a:p>
        </p:txBody>
      </p:sp>
      <p:sp>
        <p:nvSpPr>
          <p:cNvPr id="60" name="a017_f_131"/>
          <p:cNvSpPr txBox="1"/>
          <p:nvPr/>
        </p:nvSpPr>
        <p:spPr>
          <a:xfrm>
            <a:off x="10789920" y="344728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Zeit, DOOD, Kosten, Post</a:t>
            </a:r>
            <a:endParaRPr lang="en-US" sz="1050" dirty="0"/>
          </a:p>
        </p:txBody>
      </p:sp>
      <p:sp>
        <p:nvSpPr>
          <p:cNvPr id="61" name="a017_f_132"/>
          <p:cNvSpPr txBox="1"/>
          <p:nvPr/>
        </p:nvSpPr>
        <p:spPr>
          <a:xfrm>
            <a:off x="10808208" y="4023360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EEEEF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Zeitanalyse</a:t>
            </a:r>
            <a:endParaRPr lang="en-US" sz="900" dirty="0"/>
          </a:p>
        </p:txBody>
      </p:sp>
      <p:sp>
        <p:nvSpPr>
          <p:cNvPr id="62" name="a017_f_133"/>
          <p:cNvSpPr txBox="1"/>
          <p:nvPr/>
        </p:nvSpPr>
        <p:spPr>
          <a:xfrm>
            <a:off x="10808208" y="4407408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EEEEF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Out of Days</a:t>
            </a:r>
            <a:endParaRPr lang="en-US" sz="900" dirty="0"/>
          </a:p>
        </p:txBody>
      </p:sp>
      <p:sp>
        <p:nvSpPr>
          <p:cNvPr id="63" name="a017_f_134"/>
          <p:cNvSpPr txBox="1"/>
          <p:nvPr/>
        </p:nvSpPr>
        <p:spPr>
          <a:xfrm>
            <a:off x="10808208" y="4791456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EEEEF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Kostenstand</a:t>
            </a:r>
            <a:endParaRPr lang="en-US" sz="900" dirty="0"/>
          </a:p>
        </p:txBody>
      </p:sp>
      <p:sp>
        <p:nvSpPr>
          <p:cNvPr id="64" name="a017_f_135"/>
          <p:cNvSpPr txBox="1"/>
          <p:nvPr/>
        </p:nvSpPr>
        <p:spPr>
          <a:xfrm>
            <a:off x="10808208" y="5175504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EEEEF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Postproduktionsplan</a:t>
            </a:r>
            <a:endParaRPr lang="en-US" sz="900" dirty="0"/>
          </a:p>
        </p:txBody>
      </p:sp>
      <p:sp>
        <p:nvSpPr>
          <p:cNvPr id="65" name="a020_f_136"/>
          <p:cNvSpPr txBox="1"/>
          <p:nvPr/>
        </p:nvSpPr>
        <p:spPr>
          <a:xfrm>
            <a:off x="548640" y="5897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Konfliktradar, Suche, Aktivitäten und Audit-Log begleiten jede Stufe.</a:t>
            </a:r>
            <a:endParaRPr lang="en-US" sz="1200" dirty="0"/>
          </a:p>
        </p:txBody>
      </p:sp>
      <p:sp>
        <p:nvSpPr>
          <p:cNvPr id="66" name="s_137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67" name="s_138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48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48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48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48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48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48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48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48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48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48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48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4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48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48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48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48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4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48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8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48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4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4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48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48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48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42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8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48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42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48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48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48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48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48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48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48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48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48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48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48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42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48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48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42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48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48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42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48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2" dur="48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42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48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480" decel="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42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48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0" dur="480" decel="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42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48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4" dur="48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22" presetClass="entr" presetSubtype="8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48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42" presetClass="entr" presetSubtype="0" fill="hold" grpId="0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48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1" dur="480" decel="10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42" presetClass="entr" presetSubtype="0" fill="hold" grpId="0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48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5" dur="480" decel="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presetID="42" presetClass="entr" presetSubtype="0" fill="hold" grpId="0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48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9" dur="480" decel="100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0" presetID="42" presetClass="entr" presetSubtype="0" fill="hold" grpId="0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48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3" dur="480" decel="100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4" presetID="42" presetClass="entr" presetSubtype="0" fill="hold" grpId="0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48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7" dur="480" decel="100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8" presetID="42" presetClass="entr" presetSubtype="0" fill="hold" grpId="0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48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480" decel="100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2" presetID="42" presetClass="entr" presetSubtype="0" fill="hold" grpId="0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48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5" dur="480" decel="100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6" presetID="42" presetClass="entr" presetSubtype="0" fill="hold" grpId="0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48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9" dur="480" decel="100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42" presetClass="entr" presetSubtype="0" fill="hold" grpId="0" nodeType="withEffect">
                                  <p:stCondLst>
                                    <p:cond delay="289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48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3" dur="480" decel="100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139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die Seiten zusammenhängen</a:t>
            </a:r>
            <a:endParaRPr lang="en-US" sz="3200" dirty="0"/>
          </a:p>
        </p:txBody>
      </p:sp>
      <p:sp>
        <p:nvSpPr>
          <p:cNvPr id="3" name="a002_f_140"/>
          <p:cNvSpPr txBox="1"/>
          <p:nvPr/>
        </p:nvSpPr>
        <p:spPr>
          <a:xfrm>
            <a:off x="548640" y="1005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Sechs Datenkerne in der Mitte, jede Filmseite außen – eine Linie heißt: liest oder schreibt diese Daten.</a:t>
            </a:r>
            <a:endParaRPr lang="en-US" sz="1300" dirty="0"/>
          </a:p>
        </p:txBody>
      </p:sp>
      <p:sp>
        <p:nvSpPr>
          <p:cNvPr id="4" name="a004_w_141"/>
          <p:cNvSpPr/>
          <p:nvPr/>
        </p:nvSpPr>
        <p:spPr>
          <a:xfrm>
            <a:off x="6099048" y="2990088"/>
            <a:ext cx="1781761" cy="434340"/>
          </a:xfrm>
          <a:prstGeom prst="line">
            <a:avLst/>
          </a:prstGeom>
          <a:noFill/>
          <a:ln w="25400">
            <a:solidFill>
              <a:srgbClr val="8E8E93"/>
            </a:solidFill>
            <a:prstDash val="solid"/>
          </a:ln>
        </p:spPr>
      </p:sp>
      <p:sp>
        <p:nvSpPr>
          <p:cNvPr id="5" name="a004_w_142"/>
          <p:cNvSpPr/>
          <p:nvPr/>
        </p:nvSpPr>
        <p:spPr>
          <a:xfrm flipH="1">
            <a:off x="4317287" y="3424428"/>
            <a:ext cx="3563521" cy="914"/>
          </a:xfrm>
          <a:prstGeom prst="line">
            <a:avLst/>
          </a:prstGeom>
          <a:noFill/>
          <a:ln w="25400">
            <a:solidFill>
              <a:srgbClr val="8E8E93"/>
            </a:solidFill>
            <a:prstDash val="solid"/>
          </a:ln>
        </p:spPr>
      </p:sp>
      <p:sp>
        <p:nvSpPr>
          <p:cNvPr id="6" name="a004_w_143"/>
          <p:cNvSpPr/>
          <p:nvPr/>
        </p:nvSpPr>
        <p:spPr>
          <a:xfrm>
            <a:off x="4317287" y="3424428"/>
            <a:ext cx="3563521" cy="868680"/>
          </a:xfrm>
          <a:prstGeom prst="line">
            <a:avLst/>
          </a:prstGeom>
          <a:noFill/>
          <a:ln w="25400">
            <a:solidFill>
              <a:srgbClr val="8E8E93"/>
            </a:solidFill>
            <a:prstDash val="solid"/>
          </a:ln>
        </p:spPr>
      </p:sp>
      <p:sp>
        <p:nvSpPr>
          <p:cNvPr id="7" name="a004_w_144"/>
          <p:cNvSpPr/>
          <p:nvPr/>
        </p:nvSpPr>
        <p:spPr>
          <a:xfrm>
            <a:off x="4317287" y="3424428"/>
            <a:ext cx="1781761" cy="1303020"/>
          </a:xfrm>
          <a:prstGeom prst="line">
            <a:avLst/>
          </a:prstGeom>
          <a:noFill/>
          <a:ln w="25400">
            <a:solidFill>
              <a:srgbClr val="8E8E93"/>
            </a:solidFill>
            <a:prstDash val="solid"/>
          </a:ln>
        </p:spPr>
      </p:sp>
      <p:sp>
        <p:nvSpPr>
          <p:cNvPr id="8" name="a004_w_145"/>
          <p:cNvSpPr/>
          <p:nvPr/>
        </p:nvSpPr>
        <p:spPr>
          <a:xfrm flipH="1">
            <a:off x="4317287" y="4293108"/>
            <a:ext cx="3563521" cy="914"/>
          </a:xfrm>
          <a:prstGeom prst="line">
            <a:avLst/>
          </a:prstGeom>
          <a:noFill/>
          <a:ln w="25400">
            <a:solidFill>
              <a:srgbClr val="8E8E93"/>
            </a:solidFill>
            <a:prstDash val="solid"/>
          </a:ln>
        </p:spPr>
      </p:sp>
      <p:sp>
        <p:nvSpPr>
          <p:cNvPr id="9" name="a004_w_146"/>
          <p:cNvSpPr/>
          <p:nvPr/>
        </p:nvSpPr>
        <p:spPr>
          <a:xfrm>
            <a:off x="6099048" y="2990088"/>
            <a:ext cx="1781761" cy="1303020"/>
          </a:xfrm>
          <a:prstGeom prst="line">
            <a:avLst/>
          </a:prstGeom>
          <a:noFill/>
          <a:ln w="25400">
            <a:solidFill>
              <a:srgbClr val="8E8E93"/>
            </a:solidFill>
            <a:prstDash val="solid"/>
          </a:ln>
        </p:spPr>
      </p:sp>
      <p:sp>
        <p:nvSpPr>
          <p:cNvPr id="10" name="a011_w_147"/>
          <p:cNvSpPr/>
          <p:nvPr/>
        </p:nvSpPr>
        <p:spPr>
          <a:xfrm flipH="1">
            <a:off x="6099048" y="1578866"/>
            <a:ext cx="397144" cy="1411222"/>
          </a:xfrm>
          <a:prstGeom prst="line">
            <a:avLst/>
          </a:prstGeom>
          <a:noFill/>
          <a:ln w="11430">
            <a:solidFill>
              <a:srgbClr val="0071E3">
                <a:alpha val="55000"/>
              </a:srgbClr>
            </a:solidFill>
            <a:prstDash val="solid"/>
          </a:ln>
        </p:spPr>
      </p:sp>
      <p:sp>
        <p:nvSpPr>
          <p:cNvPr id="11" name="a011_w_148"/>
          <p:cNvSpPr/>
          <p:nvPr/>
        </p:nvSpPr>
        <p:spPr>
          <a:xfrm>
            <a:off x="6496192" y="1578866"/>
            <a:ext cx="1384617" cy="1845562"/>
          </a:xfrm>
          <a:prstGeom prst="line">
            <a:avLst/>
          </a:prstGeom>
          <a:noFill/>
          <a:ln w="11430">
            <a:solidFill>
              <a:srgbClr val="0071E3">
                <a:alpha val="55000"/>
              </a:srgbClr>
            </a:solidFill>
            <a:prstDash val="solid"/>
          </a:ln>
        </p:spPr>
      </p:sp>
      <p:sp>
        <p:nvSpPr>
          <p:cNvPr id="12" name="a011_w_149"/>
          <p:cNvSpPr/>
          <p:nvPr/>
        </p:nvSpPr>
        <p:spPr>
          <a:xfrm>
            <a:off x="6496192" y="1578866"/>
            <a:ext cx="1384617" cy="2714242"/>
          </a:xfrm>
          <a:prstGeom prst="line">
            <a:avLst/>
          </a:prstGeom>
          <a:noFill/>
          <a:ln w="11430">
            <a:solidFill>
              <a:srgbClr val="0071E3">
                <a:alpha val="55000"/>
              </a:srgbClr>
            </a:solidFill>
            <a:prstDash val="solid"/>
          </a:ln>
        </p:spPr>
      </p:sp>
      <p:sp>
        <p:nvSpPr>
          <p:cNvPr id="13" name="a011_w_150"/>
          <p:cNvSpPr/>
          <p:nvPr/>
        </p:nvSpPr>
        <p:spPr>
          <a:xfrm flipH="1">
            <a:off x="4317287" y="1578866"/>
            <a:ext cx="2178905" cy="2714242"/>
          </a:xfrm>
          <a:prstGeom prst="line">
            <a:avLst/>
          </a:prstGeom>
          <a:noFill/>
          <a:ln w="11430">
            <a:solidFill>
              <a:srgbClr val="0071E3">
                <a:alpha val="55000"/>
              </a:srgbClr>
            </a:solidFill>
            <a:prstDash val="solid"/>
          </a:ln>
        </p:spPr>
      </p:sp>
      <p:sp>
        <p:nvSpPr>
          <p:cNvPr id="14" name="a011_w_151"/>
          <p:cNvSpPr/>
          <p:nvPr/>
        </p:nvSpPr>
        <p:spPr>
          <a:xfrm flipH="1">
            <a:off x="4317287" y="2118347"/>
            <a:ext cx="2775851" cy="1306081"/>
          </a:xfrm>
          <a:prstGeom prst="line">
            <a:avLst/>
          </a:prstGeom>
          <a:noFill/>
          <a:ln w="11430">
            <a:solidFill>
              <a:srgbClr val="0071E3">
                <a:alpha val="55000"/>
              </a:srgbClr>
            </a:solidFill>
            <a:prstDash val="solid"/>
          </a:ln>
        </p:spPr>
      </p:sp>
      <p:sp>
        <p:nvSpPr>
          <p:cNvPr id="15" name="a011_w_152"/>
          <p:cNvSpPr/>
          <p:nvPr/>
        </p:nvSpPr>
        <p:spPr>
          <a:xfrm flipH="1">
            <a:off x="4317287" y="2118347"/>
            <a:ext cx="2775851" cy="2174761"/>
          </a:xfrm>
          <a:prstGeom prst="line">
            <a:avLst/>
          </a:prstGeom>
          <a:noFill/>
          <a:ln w="11430">
            <a:solidFill>
              <a:srgbClr val="0071E3">
                <a:alpha val="55000"/>
              </a:srgbClr>
            </a:solidFill>
            <a:prstDash val="solid"/>
          </a:ln>
        </p:spPr>
      </p:sp>
      <p:sp>
        <p:nvSpPr>
          <p:cNvPr id="16" name="a013_w_153"/>
          <p:cNvSpPr/>
          <p:nvPr/>
        </p:nvSpPr>
        <p:spPr>
          <a:xfrm flipH="1">
            <a:off x="6099048" y="2303834"/>
            <a:ext cx="2237618" cy="686254"/>
          </a:xfrm>
          <a:prstGeom prst="line">
            <a:avLst/>
          </a:prstGeom>
          <a:noFill/>
          <a:ln w="11430">
            <a:solidFill>
              <a:srgbClr val="AF52DE">
                <a:alpha val="55000"/>
              </a:srgbClr>
            </a:solidFill>
            <a:prstDash val="solid"/>
          </a:ln>
        </p:spPr>
      </p:sp>
      <p:sp>
        <p:nvSpPr>
          <p:cNvPr id="17" name="a013_w_154"/>
          <p:cNvSpPr/>
          <p:nvPr/>
        </p:nvSpPr>
        <p:spPr>
          <a:xfrm flipH="1">
            <a:off x="6099048" y="2049407"/>
            <a:ext cx="3325201" cy="940681"/>
          </a:xfrm>
          <a:prstGeom prst="line">
            <a:avLst/>
          </a:prstGeom>
          <a:noFill/>
          <a:ln w="11430">
            <a:solidFill>
              <a:srgbClr val="AF52DE">
                <a:alpha val="55000"/>
              </a:srgbClr>
            </a:solidFill>
            <a:prstDash val="solid"/>
          </a:ln>
        </p:spPr>
      </p:sp>
      <p:sp>
        <p:nvSpPr>
          <p:cNvPr id="18" name="a013_w_155"/>
          <p:cNvSpPr/>
          <p:nvPr/>
        </p:nvSpPr>
        <p:spPr>
          <a:xfrm flipH="1">
            <a:off x="6099048" y="2528639"/>
            <a:ext cx="4424849" cy="461449"/>
          </a:xfrm>
          <a:prstGeom prst="line">
            <a:avLst/>
          </a:prstGeom>
          <a:noFill/>
          <a:ln w="11430">
            <a:solidFill>
              <a:srgbClr val="AF52DE">
                <a:alpha val="55000"/>
              </a:srgbClr>
            </a:solidFill>
            <a:prstDash val="solid"/>
          </a:ln>
        </p:spPr>
      </p:sp>
      <p:sp>
        <p:nvSpPr>
          <p:cNvPr id="19" name="a015_w_156"/>
          <p:cNvSpPr/>
          <p:nvPr/>
        </p:nvSpPr>
        <p:spPr>
          <a:xfrm flipH="1">
            <a:off x="7880809" y="3043468"/>
            <a:ext cx="2284312" cy="1249640"/>
          </a:xfrm>
          <a:prstGeom prst="line">
            <a:avLst/>
          </a:prstGeom>
          <a:noFill/>
          <a:ln w="11430">
            <a:solidFill>
              <a:srgbClr val="FF2D55">
                <a:alpha val="55000"/>
              </a:srgbClr>
            </a:solidFill>
            <a:prstDash val="solid"/>
          </a:ln>
        </p:spPr>
      </p:sp>
      <p:sp>
        <p:nvSpPr>
          <p:cNvPr id="20" name="a015_w_157"/>
          <p:cNvSpPr/>
          <p:nvPr/>
        </p:nvSpPr>
        <p:spPr>
          <a:xfrm>
            <a:off x="6099048" y="2990088"/>
            <a:ext cx="4066072" cy="53380"/>
          </a:xfrm>
          <a:prstGeom prst="line">
            <a:avLst/>
          </a:prstGeom>
          <a:noFill/>
          <a:ln w="11430">
            <a:solidFill>
              <a:srgbClr val="FF2D55">
                <a:alpha val="55000"/>
              </a:srgbClr>
            </a:solidFill>
            <a:prstDash val="solid"/>
          </a:ln>
        </p:spPr>
      </p:sp>
      <p:sp>
        <p:nvSpPr>
          <p:cNvPr id="21" name="a015_w_158"/>
          <p:cNvSpPr/>
          <p:nvPr/>
        </p:nvSpPr>
        <p:spPr>
          <a:xfrm flipH="1">
            <a:off x="4317287" y="3043468"/>
            <a:ext cx="5847833" cy="1249640"/>
          </a:xfrm>
          <a:prstGeom prst="line">
            <a:avLst/>
          </a:prstGeom>
          <a:noFill/>
          <a:ln w="11430">
            <a:solidFill>
              <a:srgbClr val="FF2D55">
                <a:alpha val="55000"/>
              </a:srgbClr>
            </a:solidFill>
            <a:prstDash val="solid"/>
          </a:ln>
        </p:spPr>
      </p:sp>
      <p:sp>
        <p:nvSpPr>
          <p:cNvPr id="22" name="a015_w_159"/>
          <p:cNvSpPr/>
          <p:nvPr/>
        </p:nvSpPr>
        <p:spPr>
          <a:xfrm flipH="1">
            <a:off x="7880809" y="3120663"/>
            <a:ext cx="3367515" cy="1172445"/>
          </a:xfrm>
          <a:prstGeom prst="line">
            <a:avLst/>
          </a:prstGeom>
          <a:noFill/>
          <a:ln w="11430">
            <a:solidFill>
              <a:srgbClr val="FF2D55">
                <a:alpha val="55000"/>
              </a:srgbClr>
            </a:solidFill>
            <a:prstDash val="solid"/>
          </a:ln>
        </p:spPr>
      </p:sp>
      <p:sp>
        <p:nvSpPr>
          <p:cNvPr id="23" name="a015_w_160"/>
          <p:cNvSpPr/>
          <p:nvPr/>
        </p:nvSpPr>
        <p:spPr>
          <a:xfrm flipH="1">
            <a:off x="7880809" y="3120663"/>
            <a:ext cx="3367515" cy="303765"/>
          </a:xfrm>
          <a:prstGeom prst="line">
            <a:avLst/>
          </a:prstGeom>
          <a:noFill/>
          <a:ln w="11430">
            <a:solidFill>
              <a:srgbClr val="FF2D55">
                <a:alpha val="55000"/>
              </a:srgbClr>
            </a:solidFill>
            <a:prstDash val="solid"/>
          </a:ln>
        </p:spPr>
      </p:sp>
      <p:sp>
        <p:nvSpPr>
          <p:cNvPr id="24" name="a015_w_161"/>
          <p:cNvSpPr/>
          <p:nvPr/>
        </p:nvSpPr>
        <p:spPr>
          <a:xfrm flipH="1">
            <a:off x="7880809" y="3534895"/>
            <a:ext cx="2714187" cy="758213"/>
          </a:xfrm>
          <a:prstGeom prst="line">
            <a:avLst/>
          </a:prstGeom>
          <a:noFill/>
          <a:ln w="11430">
            <a:solidFill>
              <a:srgbClr val="FF2D55">
                <a:alpha val="55000"/>
              </a:srgbClr>
            </a:solidFill>
            <a:prstDash val="solid"/>
          </a:ln>
        </p:spPr>
      </p:sp>
      <p:sp>
        <p:nvSpPr>
          <p:cNvPr id="25" name="a015_w_162"/>
          <p:cNvSpPr/>
          <p:nvPr/>
        </p:nvSpPr>
        <p:spPr>
          <a:xfrm>
            <a:off x="4317287" y="3424428"/>
            <a:ext cx="6277709" cy="110467"/>
          </a:xfrm>
          <a:prstGeom prst="line">
            <a:avLst/>
          </a:prstGeom>
          <a:noFill/>
          <a:ln w="11430">
            <a:solidFill>
              <a:srgbClr val="FF2D55">
                <a:alpha val="55000"/>
              </a:srgbClr>
            </a:solidFill>
            <a:prstDash val="solid"/>
          </a:ln>
        </p:spPr>
      </p:sp>
      <p:sp>
        <p:nvSpPr>
          <p:cNvPr id="26" name="a015_w_163"/>
          <p:cNvSpPr/>
          <p:nvPr/>
        </p:nvSpPr>
        <p:spPr>
          <a:xfrm flipH="1">
            <a:off x="7880809" y="3775279"/>
            <a:ext cx="3655290" cy="517829"/>
          </a:xfrm>
          <a:prstGeom prst="line">
            <a:avLst/>
          </a:prstGeom>
          <a:noFill/>
          <a:ln w="11430">
            <a:solidFill>
              <a:srgbClr val="FF2D55">
                <a:alpha val="55000"/>
              </a:srgbClr>
            </a:solidFill>
            <a:prstDash val="solid"/>
          </a:ln>
        </p:spPr>
      </p:sp>
      <p:sp>
        <p:nvSpPr>
          <p:cNvPr id="27" name="a015_w_164"/>
          <p:cNvSpPr/>
          <p:nvPr/>
        </p:nvSpPr>
        <p:spPr>
          <a:xfrm flipH="1">
            <a:off x="4317287" y="3775279"/>
            <a:ext cx="7218811" cy="517829"/>
          </a:xfrm>
          <a:prstGeom prst="line">
            <a:avLst/>
          </a:prstGeom>
          <a:noFill/>
          <a:ln w="11430">
            <a:solidFill>
              <a:srgbClr val="FF2D55">
                <a:alpha val="55000"/>
              </a:srgbClr>
            </a:solidFill>
            <a:prstDash val="solid"/>
          </a:ln>
        </p:spPr>
      </p:sp>
      <p:sp>
        <p:nvSpPr>
          <p:cNvPr id="28" name="a015_w_165"/>
          <p:cNvSpPr/>
          <p:nvPr/>
        </p:nvSpPr>
        <p:spPr>
          <a:xfrm flipH="1">
            <a:off x="7880809" y="4053786"/>
            <a:ext cx="2762812" cy="239322"/>
          </a:xfrm>
          <a:prstGeom prst="line">
            <a:avLst/>
          </a:prstGeom>
          <a:noFill/>
          <a:ln w="11430">
            <a:solidFill>
              <a:srgbClr val="FF2D55">
                <a:alpha val="55000"/>
              </a:srgbClr>
            </a:solidFill>
            <a:prstDash val="solid"/>
          </a:ln>
        </p:spPr>
      </p:sp>
      <p:sp>
        <p:nvSpPr>
          <p:cNvPr id="29" name="a017_w_166"/>
          <p:cNvSpPr/>
          <p:nvPr/>
        </p:nvSpPr>
        <p:spPr>
          <a:xfrm flipH="1">
            <a:off x="6099048" y="4436974"/>
            <a:ext cx="5263769" cy="290474"/>
          </a:xfrm>
          <a:prstGeom prst="line">
            <a:avLst/>
          </a:prstGeom>
          <a:noFill/>
          <a:ln w="11430">
            <a:solidFill>
              <a:srgbClr val="FF9500">
                <a:alpha val="55000"/>
              </a:srgbClr>
            </a:solidFill>
            <a:prstDash val="solid"/>
          </a:ln>
        </p:spPr>
      </p:sp>
      <p:sp>
        <p:nvSpPr>
          <p:cNvPr id="30" name="a017_w_167"/>
          <p:cNvSpPr/>
          <p:nvPr/>
        </p:nvSpPr>
        <p:spPr>
          <a:xfrm>
            <a:off x="7880809" y="3424428"/>
            <a:ext cx="3482009" cy="1012546"/>
          </a:xfrm>
          <a:prstGeom prst="line">
            <a:avLst/>
          </a:prstGeom>
          <a:noFill/>
          <a:ln w="11430">
            <a:solidFill>
              <a:srgbClr val="FF9500">
                <a:alpha val="55000"/>
              </a:srgbClr>
            </a:solidFill>
            <a:prstDash val="solid"/>
          </a:ln>
        </p:spPr>
      </p:sp>
      <p:sp>
        <p:nvSpPr>
          <p:cNvPr id="31" name="a017_w_168"/>
          <p:cNvSpPr/>
          <p:nvPr/>
        </p:nvSpPr>
        <p:spPr>
          <a:xfrm>
            <a:off x="7880809" y="3424428"/>
            <a:ext cx="2426062" cy="1131711"/>
          </a:xfrm>
          <a:prstGeom prst="line">
            <a:avLst/>
          </a:prstGeom>
          <a:noFill/>
          <a:ln w="11430">
            <a:solidFill>
              <a:srgbClr val="FF9500">
                <a:alpha val="55000"/>
              </a:srgbClr>
            </a:solidFill>
            <a:prstDash val="solid"/>
          </a:ln>
        </p:spPr>
      </p:sp>
      <p:sp>
        <p:nvSpPr>
          <p:cNvPr id="32" name="a017_w_169"/>
          <p:cNvSpPr/>
          <p:nvPr/>
        </p:nvSpPr>
        <p:spPr>
          <a:xfrm>
            <a:off x="6099048" y="2990088"/>
            <a:ext cx="4207823" cy="1566051"/>
          </a:xfrm>
          <a:prstGeom prst="line">
            <a:avLst/>
          </a:prstGeom>
          <a:noFill/>
          <a:ln w="11430">
            <a:solidFill>
              <a:srgbClr val="FF9500">
                <a:alpha val="55000"/>
              </a:srgbClr>
            </a:solidFill>
            <a:prstDash val="solid"/>
          </a:ln>
        </p:spPr>
      </p:sp>
      <p:sp>
        <p:nvSpPr>
          <p:cNvPr id="33" name="a017_w_170"/>
          <p:cNvSpPr/>
          <p:nvPr/>
        </p:nvSpPr>
        <p:spPr>
          <a:xfrm>
            <a:off x="7880809" y="4293108"/>
            <a:ext cx="2426062" cy="263031"/>
          </a:xfrm>
          <a:prstGeom prst="line">
            <a:avLst/>
          </a:prstGeom>
          <a:noFill/>
          <a:ln w="11430">
            <a:solidFill>
              <a:srgbClr val="FF9500">
                <a:alpha val="55000"/>
              </a:srgbClr>
            </a:solidFill>
            <a:prstDash val="solid"/>
          </a:ln>
        </p:spPr>
      </p:sp>
      <p:sp>
        <p:nvSpPr>
          <p:cNvPr id="34" name="a017_w_171"/>
          <p:cNvSpPr/>
          <p:nvPr/>
        </p:nvSpPr>
        <p:spPr>
          <a:xfrm>
            <a:off x="7880809" y="3424428"/>
            <a:ext cx="2862366" cy="1625210"/>
          </a:xfrm>
          <a:prstGeom prst="line">
            <a:avLst/>
          </a:prstGeom>
          <a:noFill/>
          <a:ln w="11430">
            <a:solidFill>
              <a:srgbClr val="FF9500">
                <a:alpha val="55000"/>
              </a:srgbClr>
            </a:solidFill>
            <a:prstDash val="solid"/>
          </a:ln>
        </p:spPr>
      </p:sp>
      <p:sp>
        <p:nvSpPr>
          <p:cNvPr id="35" name="a017_w_172"/>
          <p:cNvSpPr/>
          <p:nvPr/>
        </p:nvSpPr>
        <p:spPr>
          <a:xfrm>
            <a:off x="6099048" y="2990088"/>
            <a:ext cx="4644127" cy="2059550"/>
          </a:xfrm>
          <a:prstGeom prst="line">
            <a:avLst/>
          </a:prstGeom>
          <a:noFill/>
          <a:ln w="11430">
            <a:solidFill>
              <a:srgbClr val="FF9500">
                <a:alpha val="55000"/>
              </a:srgbClr>
            </a:solidFill>
            <a:prstDash val="solid"/>
          </a:ln>
        </p:spPr>
      </p:sp>
      <p:sp>
        <p:nvSpPr>
          <p:cNvPr id="36" name="a017_w_173"/>
          <p:cNvSpPr/>
          <p:nvPr/>
        </p:nvSpPr>
        <p:spPr>
          <a:xfrm>
            <a:off x="7880809" y="3424428"/>
            <a:ext cx="1732494" cy="1574928"/>
          </a:xfrm>
          <a:prstGeom prst="line">
            <a:avLst/>
          </a:prstGeom>
          <a:noFill/>
          <a:ln w="11430">
            <a:solidFill>
              <a:srgbClr val="FF9500">
                <a:alpha val="55000"/>
              </a:srgbClr>
            </a:solidFill>
            <a:prstDash val="solid"/>
          </a:ln>
        </p:spPr>
      </p:sp>
      <p:sp>
        <p:nvSpPr>
          <p:cNvPr id="37" name="a017_w_174"/>
          <p:cNvSpPr/>
          <p:nvPr/>
        </p:nvSpPr>
        <p:spPr>
          <a:xfrm>
            <a:off x="6099048" y="2990088"/>
            <a:ext cx="3630668" cy="2571229"/>
          </a:xfrm>
          <a:prstGeom prst="line">
            <a:avLst/>
          </a:prstGeom>
          <a:noFill/>
          <a:ln w="11430">
            <a:solidFill>
              <a:srgbClr val="FF9500">
                <a:alpha val="55000"/>
              </a:srgbClr>
            </a:solidFill>
            <a:prstDash val="solid"/>
          </a:ln>
        </p:spPr>
      </p:sp>
      <p:sp>
        <p:nvSpPr>
          <p:cNvPr id="38" name="a017_w_175"/>
          <p:cNvSpPr/>
          <p:nvPr/>
        </p:nvSpPr>
        <p:spPr>
          <a:xfrm>
            <a:off x="7880809" y="3424428"/>
            <a:ext cx="1848907" cy="2136889"/>
          </a:xfrm>
          <a:prstGeom prst="line">
            <a:avLst/>
          </a:prstGeom>
          <a:noFill/>
          <a:ln w="11430">
            <a:solidFill>
              <a:srgbClr val="FF9500">
                <a:alpha val="55000"/>
              </a:srgbClr>
            </a:solidFill>
            <a:prstDash val="solid"/>
          </a:ln>
        </p:spPr>
      </p:sp>
      <p:sp>
        <p:nvSpPr>
          <p:cNvPr id="39" name="a017_w_176"/>
          <p:cNvSpPr/>
          <p:nvPr/>
        </p:nvSpPr>
        <p:spPr>
          <a:xfrm>
            <a:off x="7880809" y="4293108"/>
            <a:ext cx="1848907" cy="1268209"/>
          </a:xfrm>
          <a:prstGeom prst="line">
            <a:avLst/>
          </a:prstGeom>
          <a:noFill/>
          <a:ln w="11430">
            <a:solidFill>
              <a:srgbClr val="FF9500">
                <a:alpha val="55000"/>
              </a:srgbClr>
            </a:solidFill>
            <a:prstDash val="solid"/>
          </a:ln>
        </p:spPr>
      </p:sp>
      <p:sp>
        <p:nvSpPr>
          <p:cNvPr id="40" name="a017_w_177"/>
          <p:cNvSpPr/>
          <p:nvPr/>
        </p:nvSpPr>
        <p:spPr>
          <a:xfrm>
            <a:off x="6099048" y="4727448"/>
            <a:ext cx="3630668" cy="833869"/>
          </a:xfrm>
          <a:prstGeom prst="line">
            <a:avLst/>
          </a:prstGeom>
          <a:noFill/>
          <a:ln w="11430">
            <a:solidFill>
              <a:srgbClr val="FF9500">
                <a:alpha val="55000"/>
              </a:srgbClr>
            </a:solidFill>
            <a:prstDash val="solid"/>
          </a:ln>
        </p:spPr>
      </p:sp>
      <p:sp>
        <p:nvSpPr>
          <p:cNvPr id="41" name="a017_w_178"/>
          <p:cNvSpPr/>
          <p:nvPr/>
        </p:nvSpPr>
        <p:spPr>
          <a:xfrm>
            <a:off x="4317287" y="4293108"/>
            <a:ext cx="5412429" cy="1268209"/>
          </a:xfrm>
          <a:prstGeom prst="line">
            <a:avLst/>
          </a:prstGeom>
          <a:noFill/>
          <a:ln w="11430">
            <a:solidFill>
              <a:srgbClr val="FF9500">
                <a:alpha val="55000"/>
              </a:srgbClr>
            </a:solidFill>
            <a:prstDash val="solid"/>
          </a:ln>
        </p:spPr>
      </p:sp>
      <p:sp>
        <p:nvSpPr>
          <p:cNvPr id="42" name="a017_w_179"/>
          <p:cNvSpPr/>
          <p:nvPr/>
        </p:nvSpPr>
        <p:spPr>
          <a:xfrm>
            <a:off x="4317287" y="3424428"/>
            <a:ext cx="5412429" cy="2136889"/>
          </a:xfrm>
          <a:prstGeom prst="line">
            <a:avLst/>
          </a:prstGeom>
          <a:noFill/>
          <a:ln w="11430">
            <a:solidFill>
              <a:srgbClr val="FF9500">
                <a:alpha val="55000"/>
              </a:srgbClr>
            </a:solidFill>
            <a:prstDash val="solid"/>
          </a:ln>
        </p:spPr>
      </p:sp>
      <p:sp>
        <p:nvSpPr>
          <p:cNvPr id="43" name="a017_w_180"/>
          <p:cNvSpPr/>
          <p:nvPr/>
        </p:nvSpPr>
        <p:spPr>
          <a:xfrm>
            <a:off x="4317287" y="4293108"/>
            <a:ext cx="4304443" cy="1052745"/>
          </a:xfrm>
          <a:prstGeom prst="line">
            <a:avLst/>
          </a:prstGeom>
          <a:noFill/>
          <a:ln w="11430">
            <a:solidFill>
              <a:srgbClr val="FF9500">
                <a:alpha val="55000"/>
              </a:srgbClr>
            </a:solidFill>
            <a:prstDash val="solid"/>
          </a:ln>
        </p:spPr>
      </p:sp>
      <p:sp>
        <p:nvSpPr>
          <p:cNvPr id="44" name="a017_w_181"/>
          <p:cNvSpPr/>
          <p:nvPr/>
        </p:nvSpPr>
        <p:spPr>
          <a:xfrm flipH="1">
            <a:off x="6891217" y="4293108"/>
            <a:ext cx="989591" cy="1827299"/>
          </a:xfrm>
          <a:prstGeom prst="line">
            <a:avLst/>
          </a:prstGeom>
          <a:noFill/>
          <a:ln w="11430">
            <a:solidFill>
              <a:srgbClr val="FF9500">
                <a:alpha val="55000"/>
              </a:srgbClr>
            </a:solidFill>
            <a:prstDash val="solid"/>
          </a:ln>
        </p:spPr>
      </p:sp>
      <p:sp>
        <p:nvSpPr>
          <p:cNvPr id="45" name="a017_w_182"/>
          <p:cNvSpPr/>
          <p:nvPr/>
        </p:nvSpPr>
        <p:spPr>
          <a:xfrm>
            <a:off x="4317287" y="3424428"/>
            <a:ext cx="2573930" cy="2695979"/>
          </a:xfrm>
          <a:prstGeom prst="line">
            <a:avLst/>
          </a:prstGeom>
          <a:noFill/>
          <a:ln w="11430">
            <a:solidFill>
              <a:srgbClr val="FF9500">
                <a:alpha val="55000"/>
              </a:srgbClr>
            </a:solidFill>
            <a:prstDash val="solid"/>
          </a:ln>
        </p:spPr>
      </p:sp>
      <p:sp>
        <p:nvSpPr>
          <p:cNvPr id="46" name="a017_w_183"/>
          <p:cNvSpPr/>
          <p:nvPr/>
        </p:nvSpPr>
        <p:spPr>
          <a:xfrm>
            <a:off x="4317287" y="4293108"/>
            <a:ext cx="1781761" cy="1348740"/>
          </a:xfrm>
          <a:prstGeom prst="line">
            <a:avLst/>
          </a:prstGeom>
          <a:noFill/>
          <a:ln w="11430">
            <a:solidFill>
              <a:srgbClr val="FF9500">
                <a:alpha val="55000"/>
              </a:srgbClr>
            </a:solidFill>
            <a:prstDash val="solid"/>
          </a:ln>
        </p:spPr>
      </p:sp>
      <p:sp>
        <p:nvSpPr>
          <p:cNvPr id="47" name="a017_w_184"/>
          <p:cNvSpPr/>
          <p:nvPr/>
        </p:nvSpPr>
        <p:spPr>
          <a:xfrm flipH="1">
            <a:off x="6099048" y="4293108"/>
            <a:ext cx="1781761" cy="1348740"/>
          </a:xfrm>
          <a:prstGeom prst="line">
            <a:avLst/>
          </a:prstGeom>
          <a:noFill/>
          <a:ln w="11430">
            <a:solidFill>
              <a:srgbClr val="FF9500">
                <a:alpha val="55000"/>
              </a:srgbClr>
            </a:solidFill>
            <a:prstDash val="solid"/>
          </a:ln>
        </p:spPr>
      </p:sp>
      <p:sp>
        <p:nvSpPr>
          <p:cNvPr id="48" name="a017_w_185"/>
          <p:cNvSpPr/>
          <p:nvPr/>
        </p:nvSpPr>
        <p:spPr>
          <a:xfrm>
            <a:off x="4317287" y="4293108"/>
            <a:ext cx="989591" cy="1827299"/>
          </a:xfrm>
          <a:prstGeom prst="line">
            <a:avLst/>
          </a:prstGeom>
          <a:noFill/>
          <a:ln w="11430">
            <a:solidFill>
              <a:srgbClr val="FF9500">
                <a:alpha val="55000"/>
              </a:srgbClr>
            </a:solidFill>
            <a:prstDash val="solid"/>
          </a:ln>
        </p:spPr>
      </p:sp>
      <p:sp>
        <p:nvSpPr>
          <p:cNvPr id="49" name="a017_w_186"/>
          <p:cNvSpPr/>
          <p:nvPr/>
        </p:nvSpPr>
        <p:spPr>
          <a:xfrm>
            <a:off x="4317287" y="4293108"/>
            <a:ext cx="464572" cy="1273138"/>
          </a:xfrm>
          <a:prstGeom prst="line">
            <a:avLst/>
          </a:prstGeom>
          <a:noFill/>
          <a:ln w="11430">
            <a:solidFill>
              <a:srgbClr val="FF9500">
                <a:alpha val="55000"/>
              </a:srgbClr>
            </a:solidFill>
            <a:prstDash val="solid"/>
          </a:ln>
        </p:spPr>
      </p:sp>
      <p:sp>
        <p:nvSpPr>
          <p:cNvPr id="50" name="a019_w_187"/>
          <p:cNvSpPr/>
          <p:nvPr/>
        </p:nvSpPr>
        <p:spPr>
          <a:xfrm flipH="1">
            <a:off x="3789715" y="3424428"/>
            <a:ext cx="527572" cy="2504195"/>
          </a:xfrm>
          <a:prstGeom prst="line">
            <a:avLst/>
          </a:prstGeom>
          <a:noFill/>
          <a:ln w="11430">
            <a:solidFill>
              <a:srgbClr val="34C759">
                <a:alpha val="55000"/>
              </a:srgbClr>
            </a:solidFill>
            <a:prstDash val="solid"/>
          </a:ln>
        </p:spPr>
      </p:sp>
      <p:sp>
        <p:nvSpPr>
          <p:cNvPr id="51" name="a019_w_188"/>
          <p:cNvSpPr/>
          <p:nvPr/>
        </p:nvSpPr>
        <p:spPr>
          <a:xfrm flipH="1">
            <a:off x="3789715" y="3424428"/>
            <a:ext cx="4091094" cy="2504195"/>
          </a:xfrm>
          <a:prstGeom prst="line">
            <a:avLst/>
          </a:prstGeom>
          <a:noFill/>
          <a:ln w="11430">
            <a:solidFill>
              <a:srgbClr val="34C759">
                <a:alpha val="55000"/>
              </a:srgbClr>
            </a:solidFill>
            <a:prstDash val="solid"/>
          </a:ln>
        </p:spPr>
      </p:sp>
      <p:sp>
        <p:nvSpPr>
          <p:cNvPr id="52" name="a019_w_189"/>
          <p:cNvSpPr/>
          <p:nvPr/>
        </p:nvSpPr>
        <p:spPr>
          <a:xfrm flipH="1">
            <a:off x="3789715" y="4293108"/>
            <a:ext cx="4091094" cy="1635515"/>
          </a:xfrm>
          <a:prstGeom prst="line">
            <a:avLst/>
          </a:prstGeom>
          <a:noFill/>
          <a:ln w="11430">
            <a:solidFill>
              <a:srgbClr val="34C759">
                <a:alpha val="55000"/>
              </a:srgbClr>
            </a:solidFill>
            <a:prstDash val="solid"/>
          </a:ln>
        </p:spPr>
      </p:sp>
      <p:sp>
        <p:nvSpPr>
          <p:cNvPr id="53" name="a019_w_190"/>
          <p:cNvSpPr/>
          <p:nvPr/>
        </p:nvSpPr>
        <p:spPr>
          <a:xfrm flipH="1">
            <a:off x="3789715" y="4727448"/>
            <a:ext cx="2309333" cy="1201175"/>
          </a:xfrm>
          <a:prstGeom prst="line">
            <a:avLst/>
          </a:prstGeom>
          <a:noFill/>
          <a:ln w="11430">
            <a:solidFill>
              <a:srgbClr val="34C759">
                <a:alpha val="55000"/>
              </a:srgbClr>
            </a:solidFill>
            <a:prstDash val="solid"/>
          </a:ln>
        </p:spPr>
      </p:sp>
      <p:sp>
        <p:nvSpPr>
          <p:cNvPr id="54" name="a019_w_191"/>
          <p:cNvSpPr/>
          <p:nvPr/>
        </p:nvSpPr>
        <p:spPr>
          <a:xfrm flipH="1">
            <a:off x="3789715" y="2990088"/>
            <a:ext cx="2309333" cy="2938535"/>
          </a:xfrm>
          <a:prstGeom prst="line">
            <a:avLst/>
          </a:prstGeom>
          <a:noFill/>
          <a:ln w="11430">
            <a:solidFill>
              <a:srgbClr val="34C759">
                <a:alpha val="55000"/>
              </a:srgbClr>
            </a:solidFill>
            <a:prstDash val="solid"/>
          </a:ln>
        </p:spPr>
      </p:sp>
      <p:sp>
        <p:nvSpPr>
          <p:cNvPr id="55" name="a019_w_192"/>
          <p:cNvSpPr/>
          <p:nvPr/>
        </p:nvSpPr>
        <p:spPr>
          <a:xfrm flipH="1">
            <a:off x="3576366" y="3424428"/>
            <a:ext cx="740921" cy="1921425"/>
          </a:xfrm>
          <a:prstGeom prst="line">
            <a:avLst/>
          </a:prstGeom>
          <a:noFill/>
          <a:ln w="11430">
            <a:solidFill>
              <a:srgbClr val="34C759">
                <a:alpha val="55000"/>
              </a:srgbClr>
            </a:solidFill>
            <a:prstDash val="solid"/>
          </a:ln>
        </p:spPr>
      </p:sp>
      <p:sp>
        <p:nvSpPr>
          <p:cNvPr id="56" name="a019_w_193"/>
          <p:cNvSpPr/>
          <p:nvPr/>
        </p:nvSpPr>
        <p:spPr>
          <a:xfrm flipH="1">
            <a:off x="2468380" y="2990088"/>
            <a:ext cx="3630668" cy="2571229"/>
          </a:xfrm>
          <a:prstGeom prst="line">
            <a:avLst/>
          </a:prstGeom>
          <a:noFill/>
          <a:ln w="11430">
            <a:solidFill>
              <a:srgbClr val="34C759">
                <a:alpha val="55000"/>
              </a:srgbClr>
            </a:solidFill>
            <a:prstDash val="solid"/>
          </a:ln>
        </p:spPr>
      </p:sp>
      <p:sp>
        <p:nvSpPr>
          <p:cNvPr id="57" name="a019_w_194"/>
          <p:cNvSpPr/>
          <p:nvPr/>
        </p:nvSpPr>
        <p:spPr>
          <a:xfrm flipH="1">
            <a:off x="2468380" y="3424428"/>
            <a:ext cx="5412429" cy="2136889"/>
          </a:xfrm>
          <a:prstGeom prst="line">
            <a:avLst/>
          </a:prstGeom>
          <a:noFill/>
          <a:ln w="11430">
            <a:solidFill>
              <a:srgbClr val="34C759">
                <a:alpha val="55000"/>
              </a:srgbClr>
            </a:solidFill>
            <a:prstDash val="solid"/>
          </a:ln>
        </p:spPr>
      </p:sp>
      <p:sp>
        <p:nvSpPr>
          <p:cNvPr id="58" name="a019_w_195"/>
          <p:cNvSpPr/>
          <p:nvPr/>
        </p:nvSpPr>
        <p:spPr>
          <a:xfrm flipH="1">
            <a:off x="2584793" y="2990088"/>
            <a:ext cx="3514255" cy="2009268"/>
          </a:xfrm>
          <a:prstGeom prst="line">
            <a:avLst/>
          </a:prstGeom>
          <a:noFill/>
          <a:ln w="11430">
            <a:solidFill>
              <a:srgbClr val="34C759">
                <a:alpha val="55000"/>
              </a:srgbClr>
            </a:solidFill>
            <a:prstDash val="solid"/>
          </a:ln>
        </p:spPr>
      </p:sp>
      <p:sp>
        <p:nvSpPr>
          <p:cNvPr id="59" name="a019_w_196"/>
          <p:cNvSpPr/>
          <p:nvPr/>
        </p:nvSpPr>
        <p:spPr>
          <a:xfrm flipH="1">
            <a:off x="2584793" y="4727448"/>
            <a:ext cx="3514255" cy="271908"/>
          </a:xfrm>
          <a:prstGeom prst="line">
            <a:avLst/>
          </a:prstGeom>
          <a:noFill/>
          <a:ln w="11430">
            <a:solidFill>
              <a:srgbClr val="34C759">
                <a:alpha val="55000"/>
              </a:srgbClr>
            </a:solidFill>
            <a:prstDash val="solid"/>
          </a:ln>
        </p:spPr>
      </p:sp>
      <p:sp>
        <p:nvSpPr>
          <p:cNvPr id="60" name="a019_w_197"/>
          <p:cNvSpPr/>
          <p:nvPr/>
        </p:nvSpPr>
        <p:spPr>
          <a:xfrm flipH="1">
            <a:off x="1454921" y="2990088"/>
            <a:ext cx="4644127" cy="2059550"/>
          </a:xfrm>
          <a:prstGeom prst="line">
            <a:avLst/>
          </a:prstGeom>
          <a:noFill/>
          <a:ln w="11430">
            <a:solidFill>
              <a:srgbClr val="34C759">
                <a:alpha val="55000"/>
              </a:srgbClr>
            </a:solidFill>
            <a:prstDash val="solid"/>
          </a:ln>
        </p:spPr>
      </p:sp>
      <p:sp>
        <p:nvSpPr>
          <p:cNvPr id="61" name="a019_w_198"/>
          <p:cNvSpPr/>
          <p:nvPr/>
        </p:nvSpPr>
        <p:spPr>
          <a:xfrm flipH="1">
            <a:off x="1891225" y="2990088"/>
            <a:ext cx="4207823" cy="1566051"/>
          </a:xfrm>
          <a:prstGeom prst="line">
            <a:avLst/>
          </a:prstGeom>
          <a:noFill/>
          <a:ln w="11430">
            <a:solidFill>
              <a:srgbClr val="34C759">
                <a:alpha val="55000"/>
              </a:srgbClr>
            </a:solidFill>
            <a:prstDash val="solid"/>
          </a:ln>
        </p:spPr>
      </p:sp>
      <p:sp>
        <p:nvSpPr>
          <p:cNvPr id="62" name="a019_w_199"/>
          <p:cNvSpPr/>
          <p:nvPr/>
        </p:nvSpPr>
        <p:spPr>
          <a:xfrm flipH="1">
            <a:off x="1891225" y="4293108"/>
            <a:ext cx="5989583" cy="263031"/>
          </a:xfrm>
          <a:prstGeom prst="line">
            <a:avLst/>
          </a:prstGeom>
          <a:noFill/>
          <a:ln w="11430">
            <a:solidFill>
              <a:srgbClr val="34C759">
                <a:alpha val="55000"/>
              </a:srgbClr>
            </a:solidFill>
            <a:prstDash val="solid"/>
          </a:ln>
        </p:spPr>
      </p:sp>
      <p:sp>
        <p:nvSpPr>
          <p:cNvPr id="63" name="a019_w_200"/>
          <p:cNvSpPr/>
          <p:nvPr/>
        </p:nvSpPr>
        <p:spPr>
          <a:xfrm flipH="1">
            <a:off x="835279" y="3424428"/>
            <a:ext cx="7045530" cy="1012546"/>
          </a:xfrm>
          <a:prstGeom prst="line">
            <a:avLst/>
          </a:prstGeom>
          <a:noFill/>
          <a:ln w="11430">
            <a:solidFill>
              <a:srgbClr val="34C759">
                <a:alpha val="55000"/>
              </a:srgbClr>
            </a:solidFill>
            <a:prstDash val="solid"/>
          </a:ln>
        </p:spPr>
      </p:sp>
      <p:sp>
        <p:nvSpPr>
          <p:cNvPr id="64" name="a019_w_201"/>
          <p:cNvSpPr/>
          <p:nvPr/>
        </p:nvSpPr>
        <p:spPr>
          <a:xfrm flipH="1">
            <a:off x="1554476" y="3424428"/>
            <a:ext cx="6326333" cy="629358"/>
          </a:xfrm>
          <a:prstGeom prst="line">
            <a:avLst/>
          </a:prstGeom>
          <a:noFill/>
          <a:ln w="11430">
            <a:solidFill>
              <a:srgbClr val="34C759">
                <a:alpha val="55000"/>
              </a:srgbClr>
            </a:solidFill>
            <a:prstDash val="solid"/>
          </a:ln>
        </p:spPr>
      </p:sp>
      <p:sp>
        <p:nvSpPr>
          <p:cNvPr id="65" name="a019_w_202"/>
          <p:cNvSpPr/>
          <p:nvPr/>
        </p:nvSpPr>
        <p:spPr>
          <a:xfrm flipH="1">
            <a:off x="1554476" y="2990088"/>
            <a:ext cx="4544572" cy="1063698"/>
          </a:xfrm>
          <a:prstGeom prst="line">
            <a:avLst/>
          </a:prstGeom>
          <a:noFill/>
          <a:ln w="11430">
            <a:solidFill>
              <a:srgbClr val="34C759">
                <a:alpha val="55000"/>
              </a:srgbClr>
            </a:solidFill>
            <a:prstDash val="solid"/>
          </a:ln>
        </p:spPr>
      </p:sp>
      <p:sp>
        <p:nvSpPr>
          <p:cNvPr id="66" name="a019_w_203"/>
          <p:cNvSpPr/>
          <p:nvPr/>
        </p:nvSpPr>
        <p:spPr>
          <a:xfrm flipH="1">
            <a:off x="661998" y="2990088"/>
            <a:ext cx="5437050" cy="785191"/>
          </a:xfrm>
          <a:prstGeom prst="line">
            <a:avLst/>
          </a:prstGeom>
          <a:noFill/>
          <a:ln w="11430">
            <a:solidFill>
              <a:srgbClr val="34C759">
                <a:alpha val="55000"/>
              </a:srgbClr>
            </a:solidFill>
            <a:prstDash val="solid"/>
          </a:ln>
        </p:spPr>
      </p:sp>
      <p:sp>
        <p:nvSpPr>
          <p:cNvPr id="67" name="a019_w_204"/>
          <p:cNvSpPr/>
          <p:nvPr/>
        </p:nvSpPr>
        <p:spPr>
          <a:xfrm flipH="1">
            <a:off x="661998" y="3424428"/>
            <a:ext cx="7218811" cy="350851"/>
          </a:xfrm>
          <a:prstGeom prst="line">
            <a:avLst/>
          </a:prstGeom>
          <a:noFill/>
          <a:ln w="11430">
            <a:solidFill>
              <a:srgbClr val="34C759">
                <a:alpha val="55000"/>
              </a:srgbClr>
            </a:solidFill>
            <a:prstDash val="solid"/>
          </a:ln>
        </p:spPr>
      </p:sp>
      <p:sp>
        <p:nvSpPr>
          <p:cNvPr id="68" name="a019_w_205"/>
          <p:cNvSpPr/>
          <p:nvPr/>
        </p:nvSpPr>
        <p:spPr>
          <a:xfrm>
            <a:off x="1603100" y="3534895"/>
            <a:ext cx="6277709" cy="758213"/>
          </a:xfrm>
          <a:prstGeom prst="line">
            <a:avLst/>
          </a:prstGeom>
          <a:noFill/>
          <a:ln w="11430">
            <a:solidFill>
              <a:srgbClr val="34C759">
                <a:alpha val="55000"/>
              </a:srgbClr>
            </a:solidFill>
            <a:prstDash val="solid"/>
          </a:ln>
        </p:spPr>
      </p:sp>
      <p:sp>
        <p:nvSpPr>
          <p:cNvPr id="69" name="a019_w_206"/>
          <p:cNvSpPr/>
          <p:nvPr/>
        </p:nvSpPr>
        <p:spPr>
          <a:xfrm flipH="1">
            <a:off x="1603100" y="3424428"/>
            <a:ext cx="6277709" cy="110467"/>
          </a:xfrm>
          <a:prstGeom prst="line">
            <a:avLst/>
          </a:prstGeom>
          <a:noFill/>
          <a:ln w="11430">
            <a:solidFill>
              <a:srgbClr val="34C759">
                <a:alpha val="55000"/>
              </a:srgbClr>
            </a:solidFill>
            <a:prstDash val="solid"/>
          </a:ln>
        </p:spPr>
      </p:sp>
      <p:sp>
        <p:nvSpPr>
          <p:cNvPr id="70" name="a019_w_207"/>
          <p:cNvSpPr/>
          <p:nvPr/>
        </p:nvSpPr>
        <p:spPr>
          <a:xfrm>
            <a:off x="949772" y="3120663"/>
            <a:ext cx="3367515" cy="303765"/>
          </a:xfrm>
          <a:prstGeom prst="line">
            <a:avLst/>
          </a:prstGeom>
          <a:noFill/>
          <a:ln w="11430">
            <a:solidFill>
              <a:srgbClr val="34C759">
                <a:alpha val="55000"/>
              </a:srgbClr>
            </a:solidFill>
            <a:prstDash val="solid"/>
          </a:ln>
        </p:spPr>
      </p:sp>
      <p:sp>
        <p:nvSpPr>
          <p:cNvPr id="71" name="a019_w_208"/>
          <p:cNvSpPr/>
          <p:nvPr/>
        </p:nvSpPr>
        <p:spPr>
          <a:xfrm flipH="1">
            <a:off x="949772" y="2990088"/>
            <a:ext cx="5149276" cy="130575"/>
          </a:xfrm>
          <a:prstGeom prst="line">
            <a:avLst/>
          </a:prstGeom>
          <a:noFill/>
          <a:ln w="11430">
            <a:solidFill>
              <a:srgbClr val="34C759">
                <a:alpha val="55000"/>
              </a:srgbClr>
            </a:solidFill>
            <a:prstDash val="solid"/>
          </a:ln>
        </p:spPr>
      </p:sp>
      <p:sp>
        <p:nvSpPr>
          <p:cNvPr id="72" name="a021_w_209"/>
          <p:cNvSpPr/>
          <p:nvPr/>
        </p:nvSpPr>
        <p:spPr>
          <a:xfrm>
            <a:off x="2032976" y="3043468"/>
            <a:ext cx="5847833" cy="1249640"/>
          </a:xfrm>
          <a:prstGeom prst="line">
            <a:avLst/>
          </a:prstGeom>
          <a:noFill/>
          <a:ln w="11430">
            <a:solidFill>
              <a:srgbClr val="5856D6">
                <a:alpha val="55000"/>
              </a:srgbClr>
            </a:solidFill>
            <a:prstDash val="solid"/>
          </a:ln>
        </p:spPr>
      </p:sp>
      <p:sp>
        <p:nvSpPr>
          <p:cNvPr id="73" name="a021_w_210"/>
          <p:cNvSpPr/>
          <p:nvPr/>
        </p:nvSpPr>
        <p:spPr>
          <a:xfrm>
            <a:off x="2032976" y="3043468"/>
            <a:ext cx="5847833" cy="380960"/>
          </a:xfrm>
          <a:prstGeom prst="line">
            <a:avLst/>
          </a:prstGeom>
          <a:noFill/>
          <a:ln w="11430">
            <a:solidFill>
              <a:srgbClr val="5856D6">
                <a:alpha val="55000"/>
              </a:srgbClr>
            </a:solidFill>
            <a:prstDash val="solid"/>
          </a:ln>
        </p:spPr>
      </p:sp>
      <p:sp>
        <p:nvSpPr>
          <p:cNvPr id="74" name="a021_w_211"/>
          <p:cNvSpPr/>
          <p:nvPr/>
        </p:nvSpPr>
        <p:spPr>
          <a:xfrm flipH="1">
            <a:off x="2032976" y="2990088"/>
            <a:ext cx="4066072" cy="53380"/>
          </a:xfrm>
          <a:prstGeom prst="line">
            <a:avLst/>
          </a:prstGeom>
          <a:noFill/>
          <a:ln w="11430">
            <a:solidFill>
              <a:srgbClr val="5856D6">
                <a:alpha val="55000"/>
              </a:srgbClr>
            </a:solidFill>
            <a:prstDash val="solid"/>
          </a:ln>
        </p:spPr>
      </p:sp>
      <p:sp>
        <p:nvSpPr>
          <p:cNvPr id="75" name="a021_w_212"/>
          <p:cNvSpPr/>
          <p:nvPr/>
        </p:nvSpPr>
        <p:spPr>
          <a:xfrm>
            <a:off x="2032976" y="3043468"/>
            <a:ext cx="2284312" cy="1249640"/>
          </a:xfrm>
          <a:prstGeom prst="line">
            <a:avLst/>
          </a:prstGeom>
          <a:noFill/>
          <a:ln w="11430">
            <a:solidFill>
              <a:srgbClr val="5856D6">
                <a:alpha val="55000"/>
              </a:srgbClr>
            </a:solidFill>
            <a:prstDash val="solid"/>
          </a:ln>
        </p:spPr>
      </p:sp>
      <p:sp>
        <p:nvSpPr>
          <p:cNvPr id="76" name="a021_w_213"/>
          <p:cNvSpPr/>
          <p:nvPr/>
        </p:nvSpPr>
        <p:spPr>
          <a:xfrm>
            <a:off x="2807649" y="2621178"/>
            <a:ext cx="3291399" cy="368910"/>
          </a:xfrm>
          <a:prstGeom prst="line">
            <a:avLst/>
          </a:prstGeom>
          <a:noFill/>
          <a:ln w="11430">
            <a:solidFill>
              <a:srgbClr val="5856D6">
                <a:alpha val="55000"/>
              </a:srgbClr>
            </a:solidFill>
            <a:prstDash val="solid"/>
          </a:ln>
        </p:spPr>
      </p:sp>
      <p:sp>
        <p:nvSpPr>
          <p:cNvPr id="77" name="a023_w_214"/>
          <p:cNvSpPr/>
          <p:nvPr/>
        </p:nvSpPr>
        <p:spPr>
          <a:xfrm>
            <a:off x="2773847" y="2049407"/>
            <a:ext cx="5106961" cy="2243701"/>
          </a:xfrm>
          <a:prstGeom prst="line">
            <a:avLst/>
          </a:prstGeom>
          <a:noFill/>
          <a:ln w="11430">
            <a:solidFill>
              <a:srgbClr val="30B0C7">
                <a:alpha val="55000"/>
              </a:srgbClr>
            </a:solidFill>
            <a:prstDash val="solid"/>
          </a:ln>
        </p:spPr>
      </p:sp>
      <p:sp>
        <p:nvSpPr>
          <p:cNvPr id="78" name="a023_w_215"/>
          <p:cNvSpPr/>
          <p:nvPr/>
        </p:nvSpPr>
        <p:spPr>
          <a:xfrm>
            <a:off x="5104957" y="2118347"/>
            <a:ext cx="994091" cy="871741"/>
          </a:xfrm>
          <a:prstGeom prst="line">
            <a:avLst/>
          </a:prstGeom>
          <a:noFill/>
          <a:ln w="11430">
            <a:solidFill>
              <a:srgbClr val="30B0C7">
                <a:alpha val="55000"/>
              </a:srgbClr>
            </a:solidFill>
            <a:prstDash val="solid"/>
          </a:ln>
        </p:spPr>
      </p:sp>
      <p:sp>
        <p:nvSpPr>
          <p:cNvPr id="79" name="a023_w_216"/>
          <p:cNvSpPr/>
          <p:nvPr/>
        </p:nvSpPr>
        <p:spPr>
          <a:xfrm>
            <a:off x="5104957" y="2118347"/>
            <a:ext cx="2775851" cy="2174761"/>
          </a:xfrm>
          <a:prstGeom prst="line">
            <a:avLst/>
          </a:prstGeom>
          <a:noFill/>
          <a:ln w="11430">
            <a:solidFill>
              <a:srgbClr val="30B0C7">
                <a:alpha val="55000"/>
              </a:srgbClr>
            </a:solidFill>
            <a:prstDash val="solid"/>
          </a:ln>
        </p:spPr>
      </p:sp>
      <p:sp>
        <p:nvSpPr>
          <p:cNvPr id="80" name="a023_w_217"/>
          <p:cNvSpPr/>
          <p:nvPr/>
        </p:nvSpPr>
        <p:spPr>
          <a:xfrm>
            <a:off x="5104957" y="2118347"/>
            <a:ext cx="994091" cy="2609101"/>
          </a:xfrm>
          <a:prstGeom prst="line">
            <a:avLst/>
          </a:prstGeom>
          <a:noFill/>
          <a:ln w="11430">
            <a:solidFill>
              <a:srgbClr val="30B0C7">
                <a:alpha val="55000"/>
              </a:srgbClr>
            </a:solidFill>
            <a:prstDash val="solid"/>
          </a:ln>
        </p:spPr>
      </p:sp>
      <p:sp>
        <p:nvSpPr>
          <p:cNvPr id="81" name="a003_z_218"/>
          <p:cNvSpPr txBox="1"/>
          <p:nvPr/>
        </p:nvSpPr>
        <p:spPr>
          <a:xfrm>
            <a:off x="5321808" y="2770632"/>
            <a:ext cx="1554480" cy="438912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 &amp; Drehbuch</a:t>
            </a:r>
            <a:endParaRPr lang="en-US" sz="1050" dirty="0"/>
          </a:p>
        </p:txBody>
      </p:sp>
      <p:sp>
        <p:nvSpPr>
          <p:cNvPr id="82" name="a003_z_219"/>
          <p:cNvSpPr txBox="1"/>
          <p:nvPr/>
        </p:nvSpPr>
        <p:spPr>
          <a:xfrm>
            <a:off x="7103569" y="3204972"/>
            <a:ext cx="1554480" cy="438912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Drehplan &amp; Drehtage</a:t>
            </a:r>
            <a:endParaRPr lang="en-US" sz="1050" dirty="0"/>
          </a:p>
        </p:txBody>
      </p:sp>
      <p:sp>
        <p:nvSpPr>
          <p:cNvPr id="83" name="a003_z_220"/>
          <p:cNvSpPr txBox="1"/>
          <p:nvPr/>
        </p:nvSpPr>
        <p:spPr>
          <a:xfrm>
            <a:off x="7103569" y="4073652"/>
            <a:ext cx="1554480" cy="438912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 &amp; Crew</a:t>
            </a:r>
            <a:endParaRPr lang="en-US" sz="1050" dirty="0"/>
          </a:p>
        </p:txBody>
      </p:sp>
      <p:sp>
        <p:nvSpPr>
          <p:cNvPr id="84" name="a003_z_221"/>
          <p:cNvSpPr txBox="1"/>
          <p:nvPr/>
        </p:nvSpPr>
        <p:spPr>
          <a:xfrm>
            <a:off x="5321808" y="4507992"/>
            <a:ext cx="1554480" cy="438912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Motive</a:t>
            </a:r>
            <a:endParaRPr lang="en-US" sz="1050" dirty="0"/>
          </a:p>
        </p:txBody>
      </p:sp>
      <p:sp>
        <p:nvSpPr>
          <p:cNvPr id="85" name="a003_z_222"/>
          <p:cNvSpPr txBox="1"/>
          <p:nvPr/>
        </p:nvSpPr>
        <p:spPr>
          <a:xfrm>
            <a:off x="3540047" y="4073652"/>
            <a:ext cx="1554480" cy="438912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&amp; Kosten</a:t>
            </a:r>
            <a:endParaRPr lang="en-US" sz="1050" dirty="0"/>
          </a:p>
        </p:txBody>
      </p:sp>
      <p:sp>
        <p:nvSpPr>
          <p:cNvPr id="86" name="a003_z_223"/>
          <p:cNvSpPr txBox="1"/>
          <p:nvPr/>
        </p:nvSpPr>
        <p:spPr>
          <a:xfrm>
            <a:off x="3540047" y="3204972"/>
            <a:ext cx="1554480" cy="438912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Tagesdispo</a:t>
            </a:r>
            <a:endParaRPr lang="en-US" sz="1050" dirty="0"/>
          </a:p>
        </p:txBody>
      </p:sp>
      <p:sp>
        <p:nvSpPr>
          <p:cNvPr id="87" name="a010_f_224"/>
          <p:cNvSpPr txBox="1"/>
          <p:nvPr/>
        </p:nvSpPr>
        <p:spPr>
          <a:xfrm>
            <a:off x="5965840" y="1450850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0071E3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800" dirty="0"/>
          </a:p>
        </p:txBody>
      </p:sp>
      <p:sp>
        <p:nvSpPr>
          <p:cNvPr id="88" name="a010_f_225"/>
          <p:cNvSpPr txBox="1"/>
          <p:nvPr/>
        </p:nvSpPr>
        <p:spPr>
          <a:xfrm>
            <a:off x="6562787" y="1990331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0071E3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Stammdaten</a:t>
            </a:r>
            <a:endParaRPr lang="en-US" sz="800" dirty="0"/>
          </a:p>
        </p:txBody>
      </p:sp>
      <p:sp>
        <p:nvSpPr>
          <p:cNvPr id="89" name="a010_f_226"/>
          <p:cNvSpPr txBox="1"/>
          <p:nvPr/>
        </p:nvSpPr>
        <p:spPr>
          <a:xfrm>
            <a:off x="7512275" y="1595591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0071E3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Aufgaben</a:t>
            </a:r>
            <a:endParaRPr lang="en-US" sz="800" dirty="0"/>
          </a:p>
        </p:txBody>
      </p:sp>
      <p:sp>
        <p:nvSpPr>
          <p:cNvPr id="90" name="a012_f_227"/>
          <p:cNvSpPr txBox="1"/>
          <p:nvPr/>
        </p:nvSpPr>
        <p:spPr>
          <a:xfrm>
            <a:off x="7806314" y="2175818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AF52DE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</a:t>
            </a:r>
            <a:endParaRPr lang="en-US" sz="800" dirty="0"/>
          </a:p>
        </p:txBody>
      </p:sp>
      <p:sp>
        <p:nvSpPr>
          <p:cNvPr id="91" name="a012_f_228"/>
          <p:cNvSpPr txBox="1"/>
          <p:nvPr/>
        </p:nvSpPr>
        <p:spPr>
          <a:xfrm>
            <a:off x="8893897" y="1921391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AF52DE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Drehbuch-Editor</a:t>
            </a:r>
            <a:endParaRPr lang="en-US" sz="800" dirty="0"/>
          </a:p>
        </p:txBody>
      </p:sp>
      <p:sp>
        <p:nvSpPr>
          <p:cNvPr id="92" name="a012_f_229"/>
          <p:cNvSpPr txBox="1"/>
          <p:nvPr/>
        </p:nvSpPr>
        <p:spPr>
          <a:xfrm>
            <a:off x="8860095" y="2493162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AF52DE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Moodboard</a:t>
            </a:r>
            <a:endParaRPr lang="en-US" sz="800" dirty="0"/>
          </a:p>
        </p:txBody>
      </p:sp>
      <p:sp>
        <p:nvSpPr>
          <p:cNvPr id="93" name="a012_f_230"/>
          <p:cNvSpPr txBox="1"/>
          <p:nvPr/>
        </p:nvSpPr>
        <p:spPr>
          <a:xfrm>
            <a:off x="9993545" y="2400623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AF52DE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Szenen-Kommentare</a:t>
            </a:r>
            <a:endParaRPr lang="en-US" sz="800" dirty="0"/>
          </a:p>
        </p:txBody>
      </p:sp>
      <p:sp>
        <p:nvSpPr>
          <p:cNvPr id="94" name="a014_f_231"/>
          <p:cNvSpPr txBox="1"/>
          <p:nvPr/>
        </p:nvSpPr>
        <p:spPr>
          <a:xfrm>
            <a:off x="9634768" y="2915452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FF2D5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Besetzung</a:t>
            </a:r>
            <a:endParaRPr lang="en-US" sz="800" dirty="0"/>
          </a:p>
        </p:txBody>
      </p:sp>
      <p:sp>
        <p:nvSpPr>
          <p:cNvPr id="95" name="a014_f_232"/>
          <p:cNvSpPr txBox="1"/>
          <p:nvPr/>
        </p:nvSpPr>
        <p:spPr>
          <a:xfrm>
            <a:off x="10717972" y="2992647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FF2D5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Sperrtage Cast</a:t>
            </a:r>
            <a:endParaRPr lang="en-US" sz="800" dirty="0"/>
          </a:p>
        </p:txBody>
      </p:sp>
      <p:sp>
        <p:nvSpPr>
          <p:cNvPr id="96" name="a014_f_233"/>
          <p:cNvSpPr txBox="1"/>
          <p:nvPr/>
        </p:nvSpPr>
        <p:spPr>
          <a:xfrm>
            <a:off x="10064644" y="3406879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FF2D5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Komparsen</a:t>
            </a:r>
            <a:endParaRPr lang="en-US" sz="800" dirty="0"/>
          </a:p>
        </p:txBody>
      </p:sp>
      <p:sp>
        <p:nvSpPr>
          <p:cNvPr id="97" name="a014_f_234"/>
          <p:cNvSpPr txBox="1"/>
          <p:nvPr/>
        </p:nvSpPr>
        <p:spPr>
          <a:xfrm>
            <a:off x="11005746" y="3647263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FF2D5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Stabliste</a:t>
            </a:r>
            <a:endParaRPr lang="en-US" sz="800" dirty="0"/>
          </a:p>
        </p:txBody>
      </p:sp>
      <p:sp>
        <p:nvSpPr>
          <p:cNvPr id="98" name="a014_f_235"/>
          <p:cNvSpPr txBox="1"/>
          <p:nvPr/>
        </p:nvSpPr>
        <p:spPr>
          <a:xfrm>
            <a:off x="10113268" y="3925770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FF2D5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Kontaktliste</a:t>
            </a:r>
            <a:endParaRPr lang="en-US" sz="800" dirty="0"/>
          </a:p>
        </p:txBody>
      </p:sp>
      <p:sp>
        <p:nvSpPr>
          <p:cNvPr id="99" name="a016_f_236"/>
          <p:cNvSpPr txBox="1"/>
          <p:nvPr/>
        </p:nvSpPr>
        <p:spPr>
          <a:xfrm>
            <a:off x="10832465" y="4308958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Motive</a:t>
            </a:r>
            <a:endParaRPr lang="en-US" sz="800" dirty="0"/>
          </a:p>
        </p:txBody>
      </p:sp>
      <p:sp>
        <p:nvSpPr>
          <p:cNvPr id="100" name="a016_f_237"/>
          <p:cNvSpPr txBox="1"/>
          <p:nvPr/>
        </p:nvSpPr>
        <p:spPr>
          <a:xfrm>
            <a:off x="9776519" y="4428123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Drehplan</a:t>
            </a:r>
            <a:endParaRPr lang="en-US" sz="800" dirty="0"/>
          </a:p>
        </p:txBody>
      </p:sp>
      <p:sp>
        <p:nvSpPr>
          <p:cNvPr id="101" name="a016_f_238"/>
          <p:cNvSpPr txBox="1"/>
          <p:nvPr/>
        </p:nvSpPr>
        <p:spPr>
          <a:xfrm>
            <a:off x="10212823" y="4921622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Stäbchenplan</a:t>
            </a:r>
            <a:endParaRPr lang="en-US" sz="800" dirty="0"/>
          </a:p>
        </p:txBody>
      </p:sp>
      <p:sp>
        <p:nvSpPr>
          <p:cNvPr id="102" name="a016_f_239"/>
          <p:cNvSpPr txBox="1"/>
          <p:nvPr/>
        </p:nvSpPr>
        <p:spPr>
          <a:xfrm>
            <a:off x="9082951" y="4871340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Terminkalender</a:t>
            </a:r>
            <a:endParaRPr lang="en-US" sz="800" dirty="0"/>
          </a:p>
        </p:txBody>
      </p:sp>
      <p:sp>
        <p:nvSpPr>
          <p:cNvPr id="103" name="a016_f_240"/>
          <p:cNvSpPr txBox="1"/>
          <p:nvPr/>
        </p:nvSpPr>
        <p:spPr>
          <a:xfrm>
            <a:off x="9199364" y="5433301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Konfliktradar</a:t>
            </a:r>
            <a:endParaRPr lang="en-US" sz="800" dirty="0"/>
          </a:p>
        </p:txBody>
      </p:sp>
      <p:sp>
        <p:nvSpPr>
          <p:cNvPr id="104" name="a016_f_241"/>
          <p:cNvSpPr txBox="1"/>
          <p:nvPr/>
        </p:nvSpPr>
        <p:spPr>
          <a:xfrm>
            <a:off x="8091378" y="5217837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</a:t>
            </a:r>
            <a:endParaRPr lang="en-US" sz="800" dirty="0"/>
          </a:p>
        </p:txBody>
      </p:sp>
      <p:sp>
        <p:nvSpPr>
          <p:cNvPr id="105" name="a016_f_242"/>
          <p:cNvSpPr txBox="1"/>
          <p:nvPr/>
        </p:nvSpPr>
        <p:spPr>
          <a:xfrm>
            <a:off x="7878029" y="5800607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Equipment-Kalender</a:t>
            </a:r>
            <a:endParaRPr lang="en-US" sz="800" dirty="0"/>
          </a:p>
        </p:txBody>
      </p:sp>
      <p:sp>
        <p:nvSpPr>
          <p:cNvPr id="106" name="a016_f_243"/>
          <p:cNvSpPr txBox="1"/>
          <p:nvPr/>
        </p:nvSpPr>
        <p:spPr>
          <a:xfrm>
            <a:off x="6885885" y="5438230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Fahrzeuge</a:t>
            </a:r>
            <a:endParaRPr lang="en-US" sz="800" dirty="0"/>
          </a:p>
        </p:txBody>
      </p:sp>
      <p:sp>
        <p:nvSpPr>
          <p:cNvPr id="107" name="a016_f_244"/>
          <p:cNvSpPr txBox="1"/>
          <p:nvPr/>
        </p:nvSpPr>
        <p:spPr>
          <a:xfrm>
            <a:off x="6360865" y="5992391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Catering</a:t>
            </a:r>
            <a:endParaRPr lang="en-US" sz="800" dirty="0"/>
          </a:p>
        </p:txBody>
      </p:sp>
      <p:sp>
        <p:nvSpPr>
          <p:cNvPr id="108" name="a016_f_245"/>
          <p:cNvSpPr txBox="1"/>
          <p:nvPr/>
        </p:nvSpPr>
        <p:spPr>
          <a:xfrm>
            <a:off x="5568696" y="5513832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800" dirty="0"/>
          </a:p>
        </p:txBody>
      </p:sp>
      <p:sp>
        <p:nvSpPr>
          <p:cNvPr id="109" name="a016_f_246"/>
          <p:cNvSpPr txBox="1"/>
          <p:nvPr/>
        </p:nvSpPr>
        <p:spPr>
          <a:xfrm>
            <a:off x="4776527" y="5992391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Kostenstand</a:t>
            </a:r>
            <a:endParaRPr lang="en-US" sz="800" dirty="0"/>
          </a:p>
        </p:txBody>
      </p:sp>
      <p:sp>
        <p:nvSpPr>
          <p:cNvPr id="110" name="a016_f_247"/>
          <p:cNvSpPr txBox="1"/>
          <p:nvPr/>
        </p:nvSpPr>
        <p:spPr>
          <a:xfrm>
            <a:off x="4251507" y="5438230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Versicherungen</a:t>
            </a:r>
            <a:endParaRPr lang="en-US" sz="800" dirty="0"/>
          </a:p>
        </p:txBody>
      </p:sp>
      <p:sp>
        <p:nvSpPr>
          <p:cNvPr id="111" name="a018_f_248"/>
          <p:cNvSpPr txBox="1"/>
          <p:nvPr/>
        </p:nvSpPr>
        <p:spPr>
          <a:xfrm>
            <a:off x="3259363" y="5800607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Tagesdispo</a:t>
            </a:r>
            <a:endParaRPr lang="en-US" sz="800" dirty="0"/>
          </a:p>
        </p:txBody>
      </p:sp>
      <p:sp>
        <p:nvSpPr>
          <p:cNvPr id="112" name="a018_f_249"/>
          <p:cNvSpPr txBox="1"/>
          <p:nvPr/>
        </p:nvSpPr>
        <p:spPr>
          <a:xfrm>
            <a:off x="3046014" y="5217837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 Board</a:t>
            </a:r>
            <a:endParaRPr lang="en-US" sz="800" dirty="0"/>
          </a:p>
        </p:txBody>
      </p:sp>
      <p:sp>
        <p:nvSpPr>
          <p:cNvPr id="113" name="a018_f_250"/>
          <p:cNvSpPr txBox="1"/>
          <p:nvPr/>
        </p:nvSpPr>
        <p:spPr>
          <a:xfrm>
            <a:off x="1938028" y="5433301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Shotlist</a:t>
            </a:r>
            <a:endParaRPr lang="en-US" sz="800" dirty="0"/>
          </a:p>
        </p:txBody>
      </p:sp>
      <p:sp>
        <p:nvSpPr>
          <p:cNvPr id="114" name="a018_f_251"/>
          <p:cNvSpPr txBox="1"/>
          <p:nvPr/>
        </p:nvSpPr>
        <p:spPr>
          <a:xfrm>
            <a:off x="2054441" y="4871340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Set-Plan</a:t>
            </a:r>
            <a:endParaRPr lang="en-US" sz="800" dirty="0"/>
          </a:p>
        </p:txBody>
      </p:sp>
      <p:sp>
        <p:nvSpPr>
          <p:cNvPr id="115" name="a018_f_252"/>
          <p:cNvSpPr txBox="1"/>
          <p:nvPr/>
        </p:nvSpPr>
        <p:spPr>
          <a:xfrm>
            <a:off x="924569" y="4921622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VFX-Tracking</a:t>
            </a:r>
            <a:endParaRPr lang="en-US" sz="800" dirty="0"/>
          </a:p>
        </p:txBody>
      </p:sp>
      <p:sp>
        <p:nvSpPr>
          <p:cNvPr id="116" name="a018_f_253"/>
          <p:cNvSpPr txBox="1"/>
          <p:nvPr/>
        </p:nvSpPr>
        <p:spPr>
          <a:xfrm>
            <a:off x="1360873" y="4428123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Continuity</a:t>
            </a:r>
            <a:endParaRPr lang="en-US" sz="800" dirty="0"/>
          </a:p>
        </p:txBody>
      </p:sp>
      <p:sp>
        <p:nvSpPr>
          <p:cNvPr id="117" name="a018_f_254"/>
          <p:cNvSpPr txBox="1"/>
          <p:nvPr/>
        </p:nvSpPr>
        <p:spPr>
          <a:xfrm>
            <a:off x="304927" y="4308958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Kameraberichte</a:t>
            </a:r>
            <a:endParaRPr lang="en-US" sz="800" dirty="0"/>
          </a:p>
        </p:txBody>
      </p:sp>
      <p:sp>
        <p:nvSpPr>
          <p:cNvPr id="118" name="a018_f_255"/>
          <p:cNvSpPr txBox="1"/>
          <p:nvPr/>
        </p:nvSpPr>
        <p:spPr>
          <a:xfrm>
            <a:off x="1024124" y="3925770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Tagesbericht</a:t>
            </a:r>
            <a:endParaRPr lang="en-US" sz="800" dirty="0"/>
          </a:p>
        </p:txBody>
      </p:sp>
      <p:sp>
        <p:nvSpPr>
          <p:cNvPr id="119" name="a018_f_256"/>
          <p:cNvSpPr txBox="1"/>
          <p:nvPr/>
        </p:nvSpPr>
        <p:spPr>
          <a:xfrm>
            <a:off x="131646" y="3647263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Zeitanalyse</a:t>
            </a:r>
            <a:endParaRPr lang="en-US" sz="800" dirty="0"/>
          </a:p>
        </p:txBody>
      </p:sp>
      <p:sp>
        <p:nvSpPr>
          <p:cNvPr id="120" name="a018_f_257"/>
          <p:cNvSpPr txBox="1"/>
          <p:nvPr/>
        </p:nvSpPr>
        <p:spPr>
          <a:xfrm>
            <a:off x="1072748" y="3406879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Timesheets</a:t>
            </a:r>
            <a:endParaRPr lang="en-US" sz="800" dirty="0"/>
          </a:p>
        </p:txBody>
      </p:sp>
      <p:sp>
        <p:nvSpPr>
          <p:cNvPr id="121" name="a018_f_258"/>
          <p:cNvSpPr txBox="1"/>
          <p:nvPr/>
        </p:nvSpPr>
        <p:spPr>
          <a:xfrm>
            <a:off x="419420" y="2992647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Set-App</a:t>
            </a:r>
            <a:endParaRPr lang="en-US" sz="800" dirty="0"/>
          </a:p>
        </p:txBody>
      </p:sp>
      <p:sp>
        <p:nvSpPr>
          <p:cNvPr id="122" name="a020_f_259"/>
          <p:cNvSpPr txBox="1"/>
          <p:nvPr/>
        </p:nvSpPr>
        <p:spPr>
          <a:xfrm>
            <a:off x="1502624" y="2915452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585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8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DOOD</a:t>
            </a:r>
            <a:endParaRPr lang="en-US" sz="800" dirty="0"/>
          </a:p>
        </p:txBody>
      </p:sp>
      <p:sp>
        <p:nvSpPr>
          <p:cNvPr id="123" name="a020_f_260"/>
          <p:cNvSpPr txBox="1"/>
          <p:nvPr/>
        </p:nvSpPr>
        <p:spPr>
          <a:xfrm>
            <a:off x="1143847" y="2400623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585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8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Postplan</a:t>
            </a:r>
            <a:endParaRPr lang="en-US" sz="800" dirty="0"/>
          </a:p>
        </p:txBody>
      </p:sp>
      <p:sp>
        <p:nvSpPr>
          <p:cNvPr id="124" name="a020_f_261"/>
          <p:cNvSpPr txBox="1"/>
          <p:nvPr/>
        </p:nvSpPr>
        <p:spPr>
          <a:xfrm>
            <a:off x="2277297" y="2493162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585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8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Musikliste</a:t>
            </a:r>
            <a:endParaRPr lang="en-US" sz="800" dirty="0"/>
          </a:p>
        </p:txBody>
      </p:sp>
      <p:sp>
        <p:nvSpPr>
          <p:cNvPr id="125" name="a022_f_262"/>
          <p:cNvSpPr txBox="1"/>
          <p:nvPr/>
        </p:nvSpPr>
        <p:spPr>
          <a:xfrm>
            <a:off x="2243495" y="1921391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30B0C7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0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 Center</a:t>
            </a:r>
            <a:endParaRPr lang="en-US" sz="800" dirty="0"/>
          </a:p>
        </p:txBody>
      </p:sp>
      <p:sp>
        <p:nvSpPr>
          <p:cNvPr id="126" name="a022_f_263"/>
          <p:cNvSpPr txBox="1"/>
          <p:nvPr/>
        </p:nvSpPr>
        <p:spPr>
          <a:xfrm>
            <a:off x="3331078" y="2175818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30B0C7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0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Pinboard</a:t>
            </a:r>
            <a:endParaRPr lang="en-US" sz="800" dirty="0"/>
          </a:p>
        </p:txBody>
      </p:sp>
      <p:sp>
        <p:nvSpPr>
          <p:cNvPr id="127" name="a022_f_264"/>
          <p:cNvSpPr txBox="1"/>
          <p:nvPr/>
        </p:nvSpPr>
        <p:spPr>
          <a:xfrm>
            <a:off x="3625117" y="1595591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30B0C7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0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Aktivitäten</a:t>
            </a:r>
            <a:endParaRPr lang="en-US" sz="800" dirty="0"/>
          </a:p>
        </p:txBody>
      </p:sp>
      <p:sp>
        <p:nvSpPr>
          <p:cNvPr id="128" name="a022_f_265"/>
          <p:cNvSpPr txBox="1"/>
          <p:nvPr/>
        </p:nvSpPr>
        <p:spPr>
          <a:xfrm>
            <a:off x="4574605" y="1990331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30B0C7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0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Suche</a:t>
            </a:r>
            <a:endParaRPr lang="en-US" sz="800" dirty="0"/>
          </a:p>
        </p:txBody>
      </p:sp>
      <p:sp>
        <p:nvSpPr>
          <p:cNvPr id="129" name="a022_f_266"/>
          <p:cNvSpPr txBox="1"/>
          <p:nvPr/>
        </p:nvSpPr>
        <p:spPr>
          <a:xfrm>
            <a:off x="5298371" y="2454007"/>
            <a:ext cx="1060704" cy="256032"/>
          </a:xfrm>
          <a:prstGeom prst="roundRect">
            <a:avLst>
              <a:gd name="adj" fmla="val 53571"/>
            </a:avLst>
          </a:prstGeom>
          <a:solidFill>
            <a:srgbClr val="FFFFFF"/>
          </a:solidFill>
          <a:ln w="9525">
            <a:solidFill>
              <a:srgbClr val="30B0C7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0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Audit-Log</a:t>
            </a:r>
            <a:endParaRPr lang="en-US" sz="800" dirty="0"/>
          </a:p>
        </p:txBody>
      </p:sp>
      <p:sp>
        <p:nvSpPr>
          <p:cNvPr id="130" name="a030_f_267"/>
          <p:cNvSpPr/>
          <p:nvPr/>
        </p:nvSpPr>
        <p:spPr>
          <a:xfrm>
            <a:off x="566928" y="6473952"/>
            <a:ext cx="109728" cy="109728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31" name="a030_f_268"/>
          <p:cNvSpPr txBox="1"/>
          <p:nvPr/>
        </p:nvSpPr>
        <p:spPr>
          <a:xfrm>
            <a:off x="731520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Übersicht</a:t>
            </a:r>
            <a:endParaRPr lang="en-US" sz="850" dirty="0"/>
          </a:p>
        </p:txBody>
      </p:sp>
      <p:sp>
        <p:nvSpPr>
          <p:cNvPr id="132" name="a030_f_269"/>
          <p:cNvSpPr/>
          <p:nvPr/>
        </p:nvSpPr>
        <p:spPr>
          <a:xfrm>
            <a:off x="2194560" y="6473952"/>
            <a:ext cx="109728" cy="109728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33" name="a030_f_270"/>
          <p:cNvSpPr txBox="1"/>
          <p:nvPr/>
        </p:nvSpPr>
        <p:spPr>
          <a:xfrm>
            <a:off x="2359152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Entwicklung</a:t>
            </a:r>
            <a:endParaRPr lang="en-US" sz="850" dirty="0"/>
          </a:p>
        </p:txBody>
      </p:sp>
      <p:sp>
        <p:nvSpPr>
          <p:cNvPr id="134" name="a030_f_271"/>
          <p:cNvSpPr/>
          <p:nvPr/>
        </p:nvSpPr>
        <p:spPr>
          <a:xfrm>
            <a:off x="3822192" y="6473952"/>
            <a:ext cx="109728" cy="109728"/>
          </a:xfrm>
          <a:prstGeom prst="ellipse">
            <a:avLst/>
          </a:prstGeom>
          <a:solidFill>
            <a:srgbClr val="FF2D55"/>
          </a:solidFill>
          <a:ln/>
        </p:spPr>
      </p:sp>
      <p:sp>
        <p:nvSpPr>
          <p:cNvPr id="135" name="a030_f_272"/>
          <p:cNvSpPr txBox="1"/>
          <p:nvPr/>
        </p:nvSpPr>
        <p:spPr>
          <a:xfrm>
            <a:off x="3986784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Casting &amp; Team</a:t>
            </a:r>
            <a:endParaRPr lang="en-US" sz="850" dirty="0"/>
          </a:p>
        </p:txBody>
      </p:sp>
      <p:sp>
        <p:nvSpPr>
          <p:cNvPr id="136" name="a030_f_273"/>
          <p:cNvSpPr/>
          <p:nvPr/>
        </p:nvSpPr>
        <p:spPr>
          <a:xfrm>
            <a:off x="5449824" y="6473952"/>
            <a:ext cx="109728" cy="109728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37" name="a030_f_274"/>
          <p:cNvSpPr txBox="1"/>
          <p:nvPr/>
        </p:nvSpPr>
        <p:spPr>
          <a:xfrm>
            <a:off x="5614416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Planung &amp; Vorbereitung</a:t>
            </a:r>
            <a:endParaRPr lang="en-US" sz="850" dirty="0"/>
          </a:p>
        </p:txBody>
      </p:sp>
      <p:sp>
        <p:nvSpPr>
          <p:cNvPr id="138" name="a030_f_275"/>
          <p:cNvSpPr/>
          <p:nvPr/>
        </p:nvSpPr>
        <p:spPr>
          <a:xfrm>
            <a:off x="7077456" y="6473952"/>
            <a:ext cx="109728" cy="109728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39" name="a030_f_276"/>
          <p:cNvSpPr txBox="1"/>
          <p:nvPr/>
        </p:nvSpPr>
        <p:spPr>
          <a:xfrm>
            <a:off x="7242048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Drehtage</a:t>
            </a:r>
            <a:endParaRPr lang="en-US" sz="850" dirty="0"/>
          </a:p>
        </p:txBody>
      </p:sp>
      <p:sp>
        <p:nvSpPr>
          <p:cNvPr id="140" name="a030_f_277"/>
          <p:cNvSpPr/>
          <p:nvPr/>
        </p:nvSpPr>
        <p:spPr>
          <a:xfrm>
            <a:off x="8705088" y="6473952"/>
            <a:ext cx="109728" cy="109728"/>
          </a:xfrm>
          <a:prstGeom prst="ellipse">
            <a:avLst/>
          </a:prstGeom>
          <a:solidFill>
            <a:srgbClr val="5856D6"/>
          </a:solidFill>
          <a:ln/>
        </p:spPr>
      </p:sp>
      <p:sp>
        <p:nvSpPr>
          <p:cNvPr id="141" name="a030_f_278"/>
          <p:cNvSpPr txBox="1"/>
          <p:nvPr/>
        </p:nvSpPr>
        <p:spPr>
          <a:xfrm>
            <a:off x="8869680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Postproduktion</a:t>
            </a:r>
            <a:endParaRPr lang="en-US" sz="850" dirty="0"/>
          </a:p>
        </p:txBody>
      </p:sp>
      <p:sp>
        <p:nvSpPr>
          <p:cNvPr id="142" name="a030_f_279"/>
          <p:cNvSpPr/>
          <p:nvPr/>
        </p:nvSpPr>
        <p:spPr>
          <a:xfrm>
            <a:off x="10332720" y="6473952"/>
            <a:ext cx="109728" cy="109728"/>
          </a:xfrm>
          <a:prstGeom prst="ellipse">
            <a:avLst/>
          </a:prstGeom>
          <a:solidFill>
            <a:srgbClr val="30B0C7"/>
          </a:solidFill>
          <a:ln/>
        </p:spPr>
      </p:sp>
      <p:sp>
        <p:nvSpPr>
          <p:cNvPr id="143" name="a030_f_280"/>
          <p:cNvSpPr txBox="1"/>
          <p:nvPr/>
        </p:nvSpPr>
        <p:spPr>
          <a:xfrm>
            <a:off x="10497312" y="6419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Werkzeuge &amp; Kommunikation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80" decel="100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8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80" decel="100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80" decel="100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80" decel="100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80" decel="100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8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480" decel="100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80" decel="100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480" decel="100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480" decel="100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8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480" decel="100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8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480" decel="100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8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480" decel="100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8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480" decel="100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8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480" decel="100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8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480" decel="100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8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480" decel="100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8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480" decel="100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8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480" decel="100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4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4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4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48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480" decel="100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8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480" decel="100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48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480" decel="100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48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1" dur="480" decel="100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8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480" decel="100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48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480" decel="100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48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480" decel="100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48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7" dur="480" decel="100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8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48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1" dur="480" decel="100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48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5" dur="480" decel="100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6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48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9" dur="480" decel="100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0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48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480" decel="100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presetID="22" presetClass="entr" presetSubtype="8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4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8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4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ntr" presetSubtype="8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4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2" presetClass="entr" presetSubtype="8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4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8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4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22" presetClass="entr" presetSubtype="8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4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22" presetClass="entr" presetSubtype="8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4" dur="4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22" presetClass="entr" presetSubtype="8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7" dur="4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22" presetClass="entr" presetSubtype="8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0" dur="4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22" presetClass="entr" presetSubtype="8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4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22" presetClass="entr" presetSubtype="8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6" dur="48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22" presetClass="entr" presetSubtype="8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9" dur="4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22" presetClass="entr" presetSubtype="8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2" dur="4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22" presetClass="entr" presetSubtype="8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5" dur="48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22" presetClass="entr" presetSubtype="8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8" dur="48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22" presetClass="entr" presetSubtype="8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1" dur="48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22" presetClass="entr" presetSubtype="8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4" dur="48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22" presetClass="entr" presetSubtype="8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48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22" presetClass="entr" presetSubtype="8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0" dur="48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22" presetClass="entr" presetSubtype="8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3" dur="48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22" presetClass="entr" presetSubtype="8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6" dur="48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42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48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0" dur="480" decel="100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1" presetID="42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48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4" dur="480" decel="100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42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48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8" dur="480" decel="100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9" presetID="42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48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2" dur="480" decel="100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3" presetID="42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48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6" dur="480" decel="100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7" presetID="42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48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0" dur="480" decel="100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1" presetID="42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48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4" dur="480" decel="100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5" presetID="42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48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8" dur="480" decel="100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9" presetID="42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48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2" dur="480" decel="100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42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48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6" dur="480" decel="100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7" presetID="42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48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0" dur="480" decel="100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1" presetID="22" presetClass="entr" presetSubtype="8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3" dur="48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4" presetID="22" presetClass="entr" presetSubtype="8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6" dur="48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7" presetID="22" presetClass="entr" presetSubtype="8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9" dur="48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presetID="22" presetClass="entr" presetSubtype="8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2" dur="48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3" presetID="22" presetClass="entr" presetSubtype="8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5" dur="48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6" presetID="22" presetClass="entr" presetSubtype="8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8" dur="48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22" presetClass="entr" presetSubtype="8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1" dur="48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2" presetID="22" presetClass="entr" presetSubtype="8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4" dur="48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5" presetID="22" presetClass="entr" presetSubtype="8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7" dur="48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8" presetID="22" presetClass="entr" presetSubtype="8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0" dur="48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1" presetID="22" presetClass="entr" presetSubtype="8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3" dur="48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4" presetID="22" presetClass="entr" presetSubtype="8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6" dur="48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7" presetID="22" presetClass="entr" presetSubtype="8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9" dur="48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0" presetID="22" presetClass="entr" presetSubtype="8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2" dur="48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3" presetID="22" presetClass="entr" presetSubtype="8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5" dur="48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6" presetID="22" presetClass="entr" presetSubtype="8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8" dur="48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9" presetID="22" presetClass="entr" presetSubtype="8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1" dur="48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2" presetID="22" presetClass="entr" presetSubtype="8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4" dur="48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5" presetID="22" presetClass="entr" presetSubtype="8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7" dur="48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8" presetID="22" presetClass="entr" presetSubtype="8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0" dur="48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1" presetID="22" presetClass="entr" presetSubtype="8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3" dur="48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4" presetID="22" presetClass="entr" presetSubtype="8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6" dur="48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7" presetID="42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9" dur="48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0" dur="480" decel="100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1" presetID="42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3" dur="48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4" dur="480" decel="100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5" presetID="42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7" dur="48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8" dur="480" decel="100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9" presetID="22" presetClass="entr" presetSubtype="8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1" dur="48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2" presetID="22" presetClass="entr" presetSubtype="8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4" dur="48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5" presetID="22" presetClass="entr" presetSubtype="8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7" dur="48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8" presetID="22" presetClass="entr" presetSubtype="8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0" dur="48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1" presetID="22" presetClass="entr" presetSubtype="8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3" dur="48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4" presetID="42" presetClass="entr" presetSubtype="0" fill="hold" grpId="0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6" dur="48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7" dur="480" decel="100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8" presetID="42" presetClass="entr" presetSubtype="0" fill="hold" grpId="0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0" dur="48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1" dur="480" decel="100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2" presetID="42" presetClass="entr" presetSubtype="0" fill="hold" grpId="0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4" dur="48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5" dur="480" decel="100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6" presetID="42" presetClass="entr" presetSubtype="0" fill="hold" grpId="0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8" dur="48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9" dur="480" decel="100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0" presetID="42" presetClass="entr" presetSubtype="0" fill="hold" grpId="0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2" dur="48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3" dur="480" decel="100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4" presetID="22" presetClass="entr" presetSubtype="8" fill="hold" grpId="0" nodeType="withEffect">
                                  <p:stCondLst>
                                    <p:cond delay="289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6" dur="48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7" presetID="22" presetClass="entr" presetSubtype="8" fill="hold" grpId="0" nodeType="withEffect">
                                  <p:stCondLst>
                                    <p:cond delay="289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9" dur="48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0" presetID="22" presetClass="entr" presetSubtype="8" fill="hold" grpId="0" nodeType="withEffect">
                                  <p:stCondLst>
                                    <p:cond delay="289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2" dur="48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3" presetID="22" presetClass="entr" presetSubtype="8" fill="hold" grpId="0" nodeType="withEffect">
                                  <p:stCondLst>
                                    <p:cond delay="289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5" dur="48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6" presetID="42" presetClass="entr" presetSubtype="0" fill="hold" grpId="0" nodeType="withEffect">
                                  <p:stCondLst>
                                    <p:cond delay="306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8" dur="48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9" dur="480" decel="100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0" presetID="42" presetClass="entr" presetSubtype="0" fill="hold" grpId="0" nodeType="withEffect">
                                  <p:stCondLst>
                                    <p:cond delay="306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2" dur="48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3" dur="480" decel="100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4" presetID="42" presetClass="entr" presetSubtype="0" fill="hold" grpId="0" nodeType="withEffect">
                                  <p:stCondLst>
                                    <p:cond delay="306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6" dur="48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7" dur="480" decel="100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8" presetID="42" presetClass="entr" presetSubtype="0" fill="hold" grpId="0" nodeType="withEffect">
                                  <p:stCondLst>
                                    <p:cond delay="306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0" dur="48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1" dur="480" decel="100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2" presetID="42" presetClass="entr" presetSubtype="0" fill="hold" grpId="0" nodeType="withEffect">
                                  <p:stCondLst>
                                    <p:cond delay="306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4" dur="48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5" dur="480" decel="100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6" presetID="42" presetClass="entr" presetSubtype="0" fill="hold" grpId="0" nodeType="withEffect">
                                  <p:stCondLst>
                                    <p:cond delay="306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8" dur="48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9" dur="480" decel="100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0" presetID="42" presetClass="entr" presetSubtype="0" fill="hold" grpId="0" nodeType="withEffect">
                                  <p:stCondLst>
                                    <p:cond delay="306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2" dur="48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3" dur="480" decel="100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4" presetID="42" presetClass="entr" presetSubtype="0" fill="hold" grpId="0" nodeType="withEffect">
                                  <p:stCondLst>
                                    <p:cond delay="306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6" dur="48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7" dur="480" decel="100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8" presetID="42" presetClass="entr" presetSubtype="0" fill="hold" grpId="0" nodeType="withEffect">
                                  <p:stCondLst>
                                    <p:cond delay="306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0" dur="48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1" dur="480" decel="100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2" presetID="42" presetClass="entr" presetSubtype="0" fill="hold" grpId="0" nodeType="withEffect">
                                  <p:stCondLst>
                                    <p:cond delay="306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4" dur="48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5" dur="480" decel="100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6" presetID="42" presetClass="entr" presetSubtype="0" fill="hold" grpId="0" nodeType="withEffect">
                                  <p:stCondLst>
                                    <p:cond delay="306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8" dur="48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9" dur="480" decel="100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0" presetID="42" presetClass="entr" presetSubtype="0" fill="hold" grpId="0" nodeType="withEffect">
                                  <p:stCondLst>
                                    <p:cond delay="306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2" dur="48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3" dur="480" decel="100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4" presetID="42" presetClass="entr" presetSubtype="0" fill="hold" grpId="0" nodeType="withEffect">
                                  <p:stCondLst>
                                    <p:cond delay="306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6" dur="48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7" dur="480" decel="100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8" presetID="42" presetClass="entr" presetSubtype="0" fill="hold" grpId="0" nodeType="withEffect">
                                  <p:stCondLst>
                                    <p:cond delay="306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0" dur="48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1" dur="480" decel="100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1" grpId="0" animBg="1"/>
      <p:bldP spid="133" grpId="0" animBg="1"/>
      <p:bldP spid="135" grpId="0" animBg="1"/>
      <p:bldP spid="137" grpId="0" animBg="1"/>
      <p:bldP spid="139" grpId="0" animBg="1"/>
      <p:bldP spid="141" grpId="0" animBg="1"/>
      <p:bldP spid="14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281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Creator-Modus: alles hängt am Video</a:t>
            </a:r>
            <a:endParaRPr lang="en-US" sz="3200" dirty="0"/>
          </a:p>
        </p:txBody>
      </p:sp>
      <p:sp>
        <p:nvSpPr>
          <p:cNvPr id="3" name="a002_f_282"/>
          <p:cNvSpPr txBox="1"/>
          <p:nvPr/>
        </p:nvSpPr>
        <p:spPr>
          <a:xfrm>
            <a:off x="548640" y="1005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Creator-Seite ist ein Blick quer über alle Videos des Kanals – die Daten liegen am einzelnen Video.</a:t>
            </a:r>
            <a:endParaRPr lang="en-US" sz="1300" dirty="0"/>
          </a:p>
        </p:txBody>
      </p:sp>
      <p:sp>
        <p:nvSpPr>
          <p:cNvPr id="4" name="a003_z_283"/>
          <p:cNvSpPr txBox="1"/>
          <p:nvPr/>
        </p:nvSpPr>
        <p:spPr>
          <a:xfrm>
            <a:off x="3931920" y="3520440"/>
            <a:ext cx="1645920" cy="731520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</a:t>
            </a:r>
            <a:endParaRPr lang="en-US" sz="1800" dirty="0"/>
          </a:p>
        </p:txBody>
      </p:sp>
      <p:sp>
        <p:nvSpPr>
          <p:cNvPr id="5" name="a004_w_284"/>
          <p:cNvSpPr/>
          <p:nvPr/>
        </p:nvSpPr>
        <p:spPr>
          <a:xfrm flipH="1">
            <a:off x="4754880" y="1874520"/>
            <a:ext cx="914" cy="2011680"/>
          </a:xfrm>
          <a:prstGeom prst="line">
            <a:avLst/>
          </a:prstGeom>
          <a:noFill/>
          <a:ln w="15240">
            <a:solidFill>
              <a:srgbClr val="FF3B30">
                <a:alpha val="60000"/>
              </a:srgbClr>
            </a:solidFill>
            <a:prstDash val="solid"/>
          </a:ln>
        </p:spPr>
      </p:sp>
      <p:sp>
        <p:nvSpPr>
          <p:cNvPr id="6" name="a004_f_285"/>
          <p:cNvSpPr txBox="1"/>
          <p:nvPr/>
        </p:nvSpPr>
        <p:spPr>
          <a:xfrm>
            <a:off x="4023360" y="170992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50" dirty="0"/>
          </a:p>
        </p:txBody>
      </p:sp>
      <p:sp>
        <p:nvSpPr>
          <p:cNvPr id="7" name="a005_w_286"/>
          <p:cNvSpPr/>
          <p:nvPr/>
        </p:nvSpPr>
        <p:spPr>
          <a:xfrm flipH="1">
            <a:off x="4754880" y="2104946"/>
            <a:ext cx="1529794" cy="1781254"/>
          </a:xfrm>
          <a:prstGeom prst="line">
            <a:avLst/>
          </a:prstGeom>
          <a:noFill/>
          <a:ln w="15240">
            <a:solidFill>
              <a:srgbClr val="FF3B30">
                <a:alpha val="60000"/>
              </a:srgbClr>
            </a:solidFill>
            <a:prstDash val="solid"/>
          </a:ln>
        </p:spPr>
      </p:sp>
      <p:sp>
        <p:nvSpPr>
          <p:cNvPr id="8" name="a005_f_287"/>
          <p:cNvSpPr txBox="1"/>
          <p:nvPr/>
        </p:nvSpPr>
        <p:spPr>
          <a:xfrm>
            <a:off x="5553154" y="1940354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Videos</a:t>
            </a:r>
            <a:endParaRPr lang="en-US" sz="950" dirty="0"/>
          </a:p>
        </p:txBody>
      </p:sp>
      <p:sp>
        <p:nvSpPr>
          <p:cNvPr id="9" name="a006_w_288"/>
          <p:cNvSpPr/>
          <p:nvPr/>
        </p:nvSpPr>
        <p:spPr>
          <a:xfrm flipH="1">
            <a:off x="4754880" y="2743436"/>
            <a:ext cx="2709131" cy="1142764"/>
          </a:xfrm>
          <a:prstGeom prst="line">
            <a:avLst/>
          </a:prstGeom>
          <a:noFill/>
          <a:ln w="15240">
            <a:solidFill>
              <a:srgbClr val="FF3B30">
                <a:alpha val="60000"/>
              </a:srgbClr>
            </a:solidFill>
            <a:prstDash val="solid"/>
          </a:ln>
        </p:spPr>
      </p:sp>
      <p:sp>
        <p:nvSpPr>
          <p:cNvPr id="10" name="a006_f_289"/>
          <p:cNvSpPr txBox="1"/>
          <p:nvPr/>
        </p:nvSpPr>
        <p:spPr>
          <a:xfrm>
            <a:off x="6732491" y="2578844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Ideen</a:t>
            </a:r>
            <a:endParaRPr lang="en-US" sz="950" dirty="0"/>
          </a:p>
        </p:txBody>
      </p:sp>
      <p:sp>
        <p:nvSpPr>
          <p:cNvPr id="11" name="a007_w_290"/>
          <p:cNvSpPr/>
          <p:nvPr/>
        </p:nvSpPr>
        <p:spPr>
          <a:xfrm flipH="1">
            <a:off x="4754880" y="3643719"/>
            <a:ext cx="3267839" cy="242481"/>
          </a:xfrm>
          <a:prstGeom prst="line">
            <a:avLst/>
          </a:prstGeom>
          <a:noFill/>
          <a:ln w="15240">
            <a:solidFill>
              <a:srgbClr val="FF3B30">
                <a:alpha val="60000"/>
              </a:srgbClr>
            </a:solidFill>
            <a:prstDash val="solid"/>
          </a:ln>
        </p:spPr>
      </p:sp>
      <p:sp>
        <p:nvSpPr>
          <p:cNvPr id="12" name="a007_f_291"/>
          <p:cNvSpPr txBox="1"/>
          <p:nvPr/>
        </p:nvSpPr>
        <p:spPr>
          <a:xfrm>
            <a:off x="7291199" y="3479127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Kanal</a:t>
            </a:r>
            <a:endParaRPr lang="en-US" sz="950" dirty="0"/>
          </a:p>
        </p:txBody>
      </p:sp>
      <p:sp>
        <p:nvSpPr>
          <p:cNvPr id="13" name="a008_w_292"/>
          <p:cNvSpPr/>
          <p:nvPr/>
        </p:nvSpPr>
        <p:spPr>
          <a:xfrm>
            <a:off x="4754880" y="3886200"/>
            <a:ext cx="3077924" cy="713352"/>
          </a:xfrm>
          <a:prstGeom prst="line">
            <a:avLst/>
          </a:prstGeom>
          <a:noFill/>
          <a:ln w="15240">
            <a:solidFill>
              <a:srgbClr val="FF3B30">
                <a:alpha val="60000"/>
              </a:srgbClr>
            </a:solidFill>
            <a:prstDash val="solid"/>
          </a:ln>
        </p:spPr>
      </p:sp>
      <p:sp>
        <p:nvSpPr>
          <p:cNvPr id="14" name="a008_f_293"/>
          <p:cNvSpPr txBox="1"/>
          <p:nvPr/>
        </p:nvSpPr>
        <p:spPr>
          <a:xfrm>
            <a:off x="7101284" y="443496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Redaktionsplan</a:t>
            </a:r>
            <a:endParaRPr lang="en-US" sz="950" dirty="0"/>
          </a:p>
        </p:txBody>
      </p:sp>
      <p:sp>
        <p:nvSpPr>
          <p:cNvPr id="15" name="a009_w_294"/>
          <p:cNvSpPr/>
          <p:nvPr/>
        </p:nvSpPr>
        <p:spPr>
          <a:xfrm>
            <a:off x="4754880" y="3886200"/>
            <a:ext cx="2182894" cy="1505764"/>
          </a:xfrm>
          <a:prstGeom prst="line">
            <a:avLst/>
          </a:prstGeom>
          <a:noFill/>
          <a:ln w="15240">
            <a:solidFill>
              <a:srgbClr val="FF3B30">
                <a:alpha val="60000"/>
              </a:srgbClr>
            </a:solidFill>
            <a:prstDash val="solid"/>
          </a:ln>
        </p:spPr>
      </p:sp>
      <p:sp>
        <p:nvSpPr>
          <p:cNvPr id="16" name="a009_f_295"/>
          <p:cNvSpPr txBox="1"/>
          <p:nvPr/>
        </p:nvSpPr>
        <p:spPr>
          <a:xfrm>
            <a:off x="6206254" y="5227372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Serien &amp; Formate</a:t>
            </a:r>
            <a:endParaRPr lang="en-US" sz="950" dirty="0"/>
          </a:p>
        </p:txBody>
      </p:sp>
      <p:sp>
        <p:nvSpPr>
          <p:cNvPr id="17" name="a010_w_296"/>
          <p:cNvSpPr/>
          <p:nvPr/>
        </p:nvSpPr>
        <p:spPr>
          <a:xfrm>
            <a:off x="4754880" y="3886200"/>
            <a:ext cx="787789" cy="1953224"/>
          </a:xfrm>
          <a:prstGeom prst="line">
            <a:avLst/>
          </a:prstGeom>
          <a:noFill/>
          <a:ln w="15240">
            <a:solidFill>
              <a:srgbClr val="FF3B30">
                <a:alpha val="60000"/>
              </a:srgbClr>
            </a:solidFill>
            <a:prstDash val="solid"/>
          </a:ln>
        </p:spPr>
      </p:sp>
      <p:sp>
        <p:nvSpPr>
          <p:cNvPr id="18" name="a010_f_297"/>
          <p:cNvSpPr txBox="1"/>
          <p:nvPr/>
        </p:nvSpPr>
        <p:spPr>
          <a:xfrm>
            <a:off x="4811149" y="5674832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Titel &amp; Thumbnails</a:t>
            </a:r>
            <a:endParaRPr lang="en-US" sz="950" dirty="0"/>
          </a:p>
        </p:txBody>
      </p:sp>
      <p:sp>
        <p:nvSpPr>
          <p:cNvPr id="19" name="a011_w_298"/>
          <p:cNvSpPr/>
          <p:nvPr/>
        </p:nvSpPr>
        <p:spPr>
          <a:xfrm flipH="1">
            <a:off x="3967091" y="3886200"/>
            <a:ext cx="787789" cy="1953224"/>
          </a:xfrm>
          <a:prstGeom prst="line">
            <a:avLst/>
          </a:prstGeom>
          <a:noFill/>
          <a:ln w="15240">
            <a:solidFill>
              <a:srgbClr val="FF3B30">
                <a:alpha val="60000"/>
              </a:srgbClr>
            </a:solidFill>
            <a:prstDash val="solid"/>
          </a:ln>
        </p:spPr>
      </p:sp>
      <p:sp>
        <p:nvSpPr>
          <p:cNvPr id="20" name="a011_f_299"/>
          <p:cNvSpPr txBox="1"/>
          <p:nvPr/>
        </p:nvSpPr>
        <p:spPr>
          <a:xfrm>
            <a:off x="3235571" y="5674832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Sponsoren</a:t>
            </a:r>
            <a:endParaRPr lang="en-US" sz="950" dirty="0"/>
          </a:p>
        </p:txBody>
      </p:sp>
      <p:sp>
        <p:nvSpPr>
          <p:cNvPr id="21" name="a012_w_300"/>
          <p:cNvSpPr/>
          <p:nvPr/>
        </p:nvSpPr>
        <p:spPr>
          <a:xfrm flipH="1">
            <a:off x="2571986" y="3886200"/>
            <a:ext cx="2182894" cy="1505764"/>
          </a:xfrm>
          <a:prstGeom prst="line">
            <a:avLst/>
          </a:prstGeom>
          <a:noFill/>
          <a:ln w="15240">
            <a:solidFill>
              <a:srgbClr val="FF3B30">
                <a:alpha val="60000"/>
              </a:srgbClr>
            </a:solidFill>
            <a:prstDash val="solid"/>
          </a:ln>
        </p:spPr>
      </p:sp>
      <p:sp>
        <p:nvSpPr>
          <p:cNvPr id="22" name="a012_f_301"/>
          <p:cNvSpPr txBox="1"/>
          <p:nvPr/>
        </p:nvSpPr>
        <p:spPr>
          <a:xfrm>
            <a:off x="1840466" y="5227372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</a:t>
            </a:r>
            <a:endParaRPr lang="en-US" sz="950" dirty="0"/>
          </a:p>
        </p:txBody>
      </p:sp>
      <p:sp>
        <p:nvSpPr>
          <p:cNvPr id="23" name="a013_w_302"/>
          <p:cNvSpPr/>
          <p:nvPr/>
        </p:nvSpPr>
        <p:spPr>
          <a:xfrm flipH="1">
            <a:off x="1676956" y="3886200"/>
            <a:ext cx="3077924" cy="713352"/>
          </a:xfrm>
          <a:prstGeom prst="line">
            <a:avLst/>
          </a:prstGeom>
          <a:noFill/>
          <a:ln w="15240">
            <a:solidFill>
              <a:srgbClr val="FF3B30">
                <a:alpha val="60000"/>
              </a:srgbClr>
            </a:solidFill>
            <a:prstDash val="solid"/>
          </a:ln>
        </p:spPr>
      </p:sp>
      <p:sp>
        <p:nvSpPr>
          <p:cNvPr id="24" name="a013_f_303"/>
          <p:cNvSpPr txBox="1"/>
          <p:nvPr/>
        </p:nvSpPr>
        <p:spPr>
          <a:xfrm>
            <a:off x="945436" y="443496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Rechte &amp; Lizenzen</a:t>
            </a:r>
            <a:endParaRPr lang="en-US" sz="950" dirty="0"/>
          </a:p>
        </p:txBody>
      </p:sp>
      <p:sp>
        <p:nvSpPr>
          <p:cNvPr id="25" name="a014_w_304"/>
          <p:cNvSpPr/>
          <p:nvPr/>
        </p:nvSpPr>
        <p:spPr>
          <a:xfrm>
            <a:off x="1487041" y="3643719"/>
            <a:ext cx="3267839" cy="242481"/>
          </a:xfrm>
          <a:prstGeom prst="line">
            <a:avLst/>
          </a:prstGeom>
          <a:noFill/>
          <a:ln w="15240">
            <a:solidFill>
              <a:srgbClr val="FF3B30">
                <a:alpha val="60000"/>
              </a:srgbClr>
            </a:solidFill>
            <a:prstDash val="solid"/>
          </a:ln>
        </p:spPr>
      </p:sp>
      <p:sp>
        <p:nvSpPr>
          <p:cNvPr id="26" name="a014_f_305"/>
          <p:cNvSpPr txBox="1"/>
          <p:nvPr/>
        </p:nvSpPr>
        <p:spPr>
          <a:xfrm>
            <a:off x="755521" y="3479127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Auskopplungen</a:t>
            </a:r>
            <a:endParaRPr lang="en-US" sz="950" dirty="0"/>
          </a:p>
        </p:txBody>
      </p:sp>
      <p:sp>
        <p:nvSpPr>
          <p:cNvPr id="27" name="a015_w_306"/>
          <p:cNvSpPr/>
          <p:nvPr/>
        </p:nvSpPr>
        <p:spPr>
          <a:xfrm>
            <a:off x="2045749" y="2743436"/>
            <a:ext cx="2709131" cy="1142764"/>
          </a:xfrm>
          <a:prstGeom prst="line">
            <a:avLst/>
          </a:prstGeom>
          <a:noFill/>
          <a:ln w="15240">
            <a:solidFill>
              <a:srgbClr val="FF3B30">
                <a:alpha val="60000"/>
              </a:srgbClr>
            </a:solidFill>
            <a:prstDash val="solid"/>
          </a:ln>
        </p:spPr>
      </p:sp>
      <p:sp>
        <p:nvSpPr>
          <p:cNvPr id="28" name="a015_f_307"/>
          <p:cNvSpPr txBox="1"/>
          <p:nvPr/>
        </p:nvSpPr>
        <p:spPr>
          <a:xfrm>
            <a:off x="1314229" y="2578844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Upload-Checklisten</a:t>
            </a:r>
            <a:endParaRPr lang="en-US" sz="950" dirty="0"/>
          </a:p>
        </p:txBody>
      </p:sp>
      <p:sp>
        <p:nvSpPr>
          <p:cNvPr id="29" name="a016_w_308"/>
          <p:cNvSpPr/>
          <p:nvPr/>
        </p:nvSpPr>
        <p:spPr>
          <a:xfrm>
            <a:off x="3225086" y="2104946"/>
            <a:ext cx="1529794" cy="1781254"/>
          </a:xfrm>
          <a:prstGeom prst="line">
            <a:avLst/>
          </a:prstGeom>
          <a:noFill/>
          <a:ln w="15240">
            <a:solidFill>
              <a:srgbClr val="FF3B30">
                <a:alpha val="60000"/>
              </a:srgbClr>
            </a:solidFill>
            <a:prstDash val="solid"/>
          </a:ln>
        </p:spPr>
      </p:sp>
      <p:sp>
        <p:nvSpPr>
          <p:cNvPr id="30" name="a016_f_309"/>
          <p:cNvSpPr txBox="1"/>
          <p:nvPr/>
        </p:nvSpPr>
        <p:spPr>
          <a:xfrm>
            <a:off x="2493566" y="1940354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Video-Performance</a:t>
            </a:r>
            <a:endParaRPr lang="en-US" sz="950" dirty="0"/>
          </a:p>
        </p:txBody>
      </p:sp>
      <p:sp>
        <p:nvSpPr>
          <p:cNvPr id="31" name="a020_f_310"/>
          <p:cNvSpPr/>
          <p:nvPr/>
        </p:nvSpPr>
        <p:spPr>
          <a:xfrm>
            <a:off x="8732520" y="1691640"/>
            <a:ext cx="2926080" cy="44348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32" name="a020_f_311"/>
          <p:cNvSpPr txBox="1"/>
          <p:nvPr/>
        </p:nvSpPr>
        <p:spPr>
          <a:xfrm>
            <a:off x="896112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Auch im Creator-Modus</a:t>
            </a:r>
            <a:endParaRPr lang="en-US" sz="1300" dirty="0"/>
          </a:p>
        </p:txBody>
      </p:sp>
      <p:sp>
        <p:nvSpPr>
          <p:cNvPr id="33" name="a020_f_312"/>
          <p:cNvSpPr txBox="1"/>
          <p:nvPr/>
        </p:nvSpPr>
        <p:spPr>
          <a:xfrm>
            <a:off x="8961120" y="2240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 Film-Seiten gibt es dort ebenfalls, teils umbenannt:</a:t>
            </a:r>
            <a:endParaRPr lang="en-US" sz="1000" dirty="0"/>
          </a:p>
        </p:txBody>
      </p:sp>
      <p:sp>
        <p:nvSpPr>
          <p:cNvPr id="34" name="a021_f_313"/>
          <p:cNvSpPr txBox="1"/>
          <p:nvPr/>
        </p:nvSpPr>
        <p:spPr>
          <a:xfrm>
            <a:off x="8961120" y="2788920"/>
            <a:ext cx="256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Stammdaten · Aufgaben · Kalender · Moodboard · Kommentare · Shotlist · Drehorte · Gäste &amp; Cast · Team · Equipment · Set-App · Postproduktion · Zeitanalyse · Musik · Budget · Kostenstand · E-Mail · Kontakte · Pinboard · Aktivität · Suche · Audit-Log</a:t>
            </a:r>
            <a:endParaRPr lang="en-US" sz="1050" dirty="0"/>
          </a:p>
        </p:txBody>
      </p:sp>
      <p:sp>
        <p:nvSpPr>
          <p:cNvPr id="35" name="s_314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36" name="s_315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48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4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48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48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4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48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48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48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48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289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48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30" grpId="0" animBg="1"/>
      <p:bldP spid="32" grpId="0" animBg="1"/>
      <p:bldP spid="33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316"/>
          <p:cNvSpPr txBox="1"/>
          <p:nvPr/>
        </p:nvSpPr>
        <p:spPr>
          <a:xfrm>
            <a:off x="54864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darf was?</a:t>
            </a:r>
            <a:endParaRPr lang="en-US" sz="3600" dirty="0"/>
          </a:p>
        </p:txBody>
      </p:sp>
      <p:sp>
        <p:nvSpPr>
          <p:cNvPr id="3" name="a002_f_317"/>
          <p:cNvSpPr txBox="1"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Fünf Rollen je Projekt. Jede Seite ist für alle Mitglieder lesbar – schreiben hängt von der Rolle ab.</a:t>
            </a:r>
            <a:endParaRPr lang="en-US" sz="1500" dirty="0"/>
          </a:p>
        </p:txBody>
      </p:sp>
      <p:sp>
        <p:nvSpPr>
          <p:cNvPr id="4" name="a003_f_318"/>
          <p:cNvSpPr/>
          <p:nvPr/>
        </p:nvSpPr>
        <p:spPr>
          <a:xfrm>
            <a:off x="548640" y="201168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5" name="a003_f_319"/>
          <p:cNvSpPr/>
          <p:nvPr/>
        </p:nvSpPr>
        <p:spPr>
          <a:xfrm>
            <a:off x="777240" y="225856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F3B30"/>
          </a:solidFill>
          <a:ln/>
        </p:spPr>
      </p:sp>
      <p:sp>
        <p:nvSpPr>
          <p:cNvPr id="6" name="a003_f_320"/>
          <p:cNvSpPr/>
          <p:nvPr/>
        </p:nvSpPr>
        <p:spPr>
          <a:xfrm>
            <a:off x="1033272" y="225856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F3B30"/>
          </a:solidFill>
          <a:ln/>
        </p:spPr>
      </p:sp>
      <p:sp>
        <p:nvSpPr>
          <p:cNvPr id="7" name="a003_f_321"/>
          <p:cNvSpPr/>
          <p:nvPr/>
        </p:nvSpPr>
        <p:spPr>
          <a:xfrm>
            <a:off x="1289304" y="225856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F3B30"/>
          </a:solidFill>
          <a:ln/>
        </p:spPr>
      </p:sp>
      <p:sp>
        <p:nvSpPr>
          <p:cNvPr id="8" name="a003_f_322"/>
          <p:cNvSpPr/>
          <p:nvPr/>
        </p:nvSpPr>
        <p:spPr>
          <a:xfrm>
            <a:off x="1545336" y="225856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F3B30"/>
          </a:solidFill>
          <a:ln/>
        </p:spPr>
      </p:sp>
      <p:sp>
        <p:nvSpPr>
          <p:cNvPr id="9" name="a003_f_323"/>
          <p:cNvSpPr/>
          <p:nvPr/>
        </p:nvSpPr>
        <p:spPr>
          <a:xfrm>
            <a:off x="1801368" y="225856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F3B30"/>
          </a:solidFill>
          <a:ln/>
        </p:spPr>
      </p:sp>
      <p:sp>
        <p:nvSpPr>
          <p:cNvPr id="10" name="a003_f_324"/>
          <p:cNvSpPr txBox="1"/>
          <p:nvPr/>
        </p:nvSpPr>
        <p:spPr>
          <a:xfrm>
            <a:off x="2286000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600" dirty="0"/>
          </a:p>
        </p:txBody>
      </p:sp>
      <p:sp>
        <p:nvSpPr>
          <p:cNvPr id="11" name="a003_f_325"/>
          <p:cNvSpPr txBox="1"/>
          <p:nvPr/>
        </p:nvSpPr>
        <p:spPr>
          <a:xfrm>
            <a:off x="4480560" y="220370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– plus Projekteinstellungen, Einladungen und Mitglieder</a:t>
            </a:r>
            <a:endParaRPr lang="en-US" sz="1300" dirty="0"/>
          </a:p>
        </p:txBody>
      </p:sp>
      <p:sp>
        <p:nvSpPr>
          <p:cNvPr id="12" name="a004_f_326"/>
          <p:cNvSpPr/>
          <p:nvPr/>
        </p:nvSpPr>
        <p:spPr>
          <a:xfrm>
            <a:off x="548640" y="283464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13" name="a004_f_327"/>
          <p:cNvSpPr/>
          <p:nvPr/>
        </p:nvSpPr>
        <p:spPr>
          <a:xfrm>
            <a:off x="777240" y="308152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F9500"/>
          </a:solidFill>
          <a:ln/>
        </p:spPr>
      </p:sp>
      <p:sp>
        <p:nvSpPr>
          <p:cNvPr id="14" name="a004_f_328"/>
          <p:cNvSpPr/>
          <p:nvPr/>
        </p:nvSpPr>
        <p:spPr>
          <a:xfrm>
            <a:off x="1033272" y="308152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F9500"/>
          </a:solidFill>
          <a:ln/>
        </p:spPr>
      </p:sp>
      <p:sp>
        <p:nvSpPr>
          <p:cNvPr id="15" name="a004_f_329"/>
          <p:cNvSpPr/>
          <p:nvPr/>
        </p:nvSpPr>
        <p:spPr>
          <a:xfrm>
            <a:off x="1289304" y="308152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F9500"/>
          </a:solidFill>
          <a:ln/>
        </p:spPr>
      </p:sp>
      <p:sp>
        <p:nvSpPr>
          <p:cNvPr id="16" name="a004_f_330"/>
          <p:cNvSpPr/>
          <p:nvPr/>
        </p:nvSpPr>
        <p:spPr>
          <a:xfrm>
            <a:off x="1545336" y="308152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F9500"/>
          </a:solidFill>
          <a:ln/>
        </p:spPr>
      </p:sp>
      <p:sp>
        <p:nvSpPr>
          <p:cNvPr id="17" name="a004_f_331"/>
          <p:cNvSpPr/>
          <p:nvPr/>
        </p:nvSpPr>
        <p:spPr>
          <a:xfrm>
            <a:off x="1801368" y="308152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5E5EA"/>
          </a:solidFill>
          <a:ln/>
        </p:spPr>
      </p:sp>
      <p:sp>
        <p:nvSpPr>
          <p:cNvPr id="18" name="a004_f_332"/>
          <p:cNvSpPr txBox="1"/>
          <p:nvPr/>
        </p:nvSpPr>
        <p:spPr>
          <a:xfrm>
            <a:off x="228600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Produktion</a:t>
            </a:r>
            <a:endParaRPr lang="en-US" sz="1600" dirty="0"/>
          </a:p>
        </p:txBody>
      </p:sp>
      <p:sp>
        <p:nvSpPr>
          <p:cNvPr id="19" name="a004_f_333"/>
          <p:cNvSpPr txBox="1"/>
          <p:nvPr/>
        </p:nvSpPr>
        <p:spPr>
          <a:xfrm>
            <a:off x="4480560" y="302666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außer Mitgliederverwaltung – inkl. Budget, Finanzierung und Drehplan-Versionen</a:t>
            </a:r>
            <a:endParaRPr lang="en-US" sz="1300" dirty="0"/>
          </a:p>
        </p:txBody>
      </p:sp>
      <p:sp>
        <p:nvSpPr>
          <p:cNvPr id="20" name="a005_f_334"/>
          <p:cNvSpPr/>
          <p:nvPr/>
        </p:nvSpPr>
        <p:spPr>
          <a:xfrm>
            <a:off x="548640" y="365760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21" name="a005_f_335"/>
          <p:cNvSpPr/>
          <p:nvPr/>
        </p:nvSpPr>
        <p:spPr>
          <a:xfrm>
            <a:off x="777240" y="3904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071E3"/>
          </a:solidFill>
          <a:ln/>
        </p:spPr>
      </p:sp>
      <p:sp>
        <p:nvSpPr>
          <p:cNvPr id="22" name="a005_f_336"/>
          <p:cNvSpPr/>
          <p:nvPr/>
        </p:nvSpPr>
        <p:spPr>
          <a:xfrm>
            <a:off x="1033272" y="3904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071E3"/>
          </a:solidFill>
          <a:ln/>
        </p:spPr>
      </p:sp>
      <p:sp>
        <p:nvSpPr>
          <p:cNvPr id="23" name="a005_f_337"/>
          <p:cNvSpPr/>
          <p:nvPr/>
        </p:nvSpPr>
        <p:spPr>
          <a:xfrm>
            <a:off x="1289304" y="3904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071E3"/>
          </a:solidFill>
          <a:ln/>
        </p:spPr>
      </p:sp>
      <p:sp>
        <p:nvSpPr>
          <p:cNvPr id="24" name="a005_f_338"/>
          <p:cNvSpPr/>
          <p:nvPr/>
        </p:nvSpPr>
        <p:spPr>
          <a:xfrm>
            <a:off x="1545336" y="3904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5E5EA"/>
          </a:solidFill>
          <a:ln/>
        </p:spPr>
      </p:sp>
      <p:sp>
        <p:nvSpPr>
          <p:cNvPr id="25" name="a005_f_339"/>
          <p:cNvSpPr/>
          <p:nvPr/>
        </p:nvSpPr>
        <p:spPr>
          <a:xfrm>
            <a:off x="1801368" y="3904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5E5EA"/>
          </a:solidFill>
          <a:ln/>
        </p:spPr>
      </p:sp>
      <p:sp>
        <p:nvSpPr>
          <p:cNvPr id="26" name="a005_f_340"/>
          <p:cNvSpPr txBox="1"/>
          <p:nvPr/>
        </p:nvSpPr>
        <p:spPr>
          <a:xfrm>
            <a:off x="2286000" y="3840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Regie</a:t>
            </a:r>
            <a:endParaRPr lang="en-US" sz="1600" dirty="0"/>
          </a:p>
        </p:txBody>
      </p:sp>
      <p:sp>
        <p:nvSpPr>
          <p:cNvPr id="27" name="a005_f_341"/>
          <p:cNvSpPr txBox="1"/>
          <p:nvPr/>
        </p:nvSpPr>
        <p:spPr>
          <a:xfrm>
            <a:off x="4480560" y="384962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Produktionsdaten bearbeiten – außer Budget, Finanzierung, Drehplan-Versionen</a:t>
            </a:r>
            <a:endParaRPr lang="en-US" sz="1300" dirty="0"/>
          </a:p>
        </p:txBody>
      </p:sp>
      <p:sp>
        <p:nvSpPr>
          <p:cNvPr id="28" name="a006_f_342"/>
          <p:cNvSpPr/>
          <p:nvPr/>
        </p:nvSpPr>
        <p:spPr>
          <a:xfrm>
            <a:off x="548640" y="448056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29" name="a006_f_343"/>
          <p:cNvSpPr/>
          <p:nvPr/>
        </p:nvSpPr>
        <p:spPr>
          <a:xfrm>
            <a:off x="777240" y="47274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34C759"/>
          </a:solidFill>
          <a:ln/>
        </p:spPr>
      </p:sp>
      <p:sp>
        <p:nvSpPr>
          <p:cNvPr id="30" name="a006_f_344"/>
          <p:cNvSpPr/>
          <p:nvPr/>
        </p:nvSpPr>
        <p:spPr>
          <a:xfrm>
            <a:off x="1033272" y="47274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34C759"/>
          </a:solidFill>
          <a:ln/>
        </p:spPr>
      </p:sp>
      <p:sp>
        <p:nvSpPr>
          <p:cNvPr id="31" name="a006_f_345"/>
          <p:cNvSpPr/>
          <p:nvPr/>
        </p:nvSpPr>
        <p:spPr>
          <a:xfrm>
            <a:off x="1289304" y="47274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5E5EA"/>
          </a:solidFill>
          <a:ln/>
        </p:spPr>
      </p:sp>
      <p:sp>
        <p:nvSpPr>
          <p:cNvPr id="32" name="a006_f_346"/>
          <p:cNvSpPr/>
          <p:nvPr/>
        </p:nvSpPr>
        <p:spPr>
          <a:xfrm>
            <a:off x="1545336" y="47274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5E5EA"/>
          </a:solidFill>
          <a:ln/>
        </p:spPr>
      </p:sp>
      <p:sp>
        <p:nvSpPr>
          <p:cNvPr id="33" name="a006_f_347"/>
          <p:cNvSpPr/>
          <p:nvPr/>
        </p:nvSpPr>
        <p:spPr>
          <a:xfrm>
            <a:off x="1801368" y="472744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5E5EA"/>
          </a:solidFill>
          <a:ln/>
        </p:spPr>
      </p:sp>
      <p:sp>
        <p:nvSpPr>
          <p:cNvPr id="34" name="a006_f_348"/>
          <p:cNvSpPr txBox="1"/>
          <p:nvPr/>
        </p:nvSpPr>
        <p:spPr>
          <a:xfrm>
            <a:off x="2286000" y="4663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Abteilungsleitung</a:t>
            </a:r>
            <a:endParaRPr lang="en-US" sz="1600" dirty="0"/>
          </a:p>
        </p:txBody>
      </p:sp>
      <p:sp>
        <p:nvSpPr>
          <p:cNvPr id="35" name="a006_f_349"/>
          <p:cNvSpPr txBox="1"/>
          <p:nvPr/>
        </p:nvSpPr>
        <p:spPr>
          <a:xfrm>
            <a:off x="4480560" y="467258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Regie: Szenen, Dispo, Shotlist, Berichte, Listen</a:t>
            </a:r>
            <a:endParaRPr lang="en-US" sz="1300" dirty="0"/>
          </a:p>
        </p:txBody>
      </p:sp>
      <p:sp>
        <p:nvSpPr>
          <p:cNvPr id="36" name="a007_f_350"/>
          <p:cNvSpPr/>
          <p:nvPr/>
        </p:nvSpPr>
        <p:spPr>
          <a:xfrm>
            <a:off x="548640" y="530352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37" name="a007_f_351"/>
          <p:cNvSpPr/>
          <p:nvPr/>
        </p:nvSpPr>
        <p:spPr>
          <a:xfrm>
            <a:off x="777240" y="555040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8E8E93"/>
          </a:solidFill>
          <a:ln/>
        </p:spPr>
      </p:sp>
      <p:sp>
        <p:nvSpPr>
          <p:cNvPr id="38" name="a007_f_352"/>
          <p:cNvSpPr/>
          <p:nvPr/>
        </p:nvSpPr>
        <p:spPr>
          <a:xfrm>
            <a:off x="1033272" y="555040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5E5EA"/>
          </a:solidFill>
          <a:ln/>
        </p:spPr>
      </p:sp>
      <p:sp>
        <p:nvSpPr>
          <p:cNvPr id="39" name="a007_f_353"/>
          <p:cNvSpPr/>
          <p:nvPr/>
        </p:nvSpPr>
        <p:spPr>
          <a:xfrm>
            <a:off x="1289304" y="555040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5E5EA"/>
          </a:solidFill>
          <a:ln/>
        </p:spPr>
      </p:sp>
      <p:sp>
        <p:nvSpPr>
          <p:cNvPr id="40" name="a007_f_354"/>
          <p:cNvSpPr/>
          <p:nvPr/>
        </p:nvSpPr>
        <p:spPr>
          <a:xfrm>
            <a:off x="1545336" y="555040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5E5EA"/>
          </a:solidFill>
          <a:ln/>
        </p:spPr>
      </p:sp>
      <p:sp>
        <p:nvSpPr>
          <p:cNvPr id="41" name="a007_f_355"/>
          <p:cNvSpPr/>
          <p:nvPr/>
        </p:nvSpPr>
        <p:spPr>
          <a:xfrm>
            <a:off x="1801368" y="555040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5E5EA"/>
          </a:solidFill>
          <a:ln/>
        </p:spPr>
      </p:sp>
      <p:sp>
        <p:nvSpPr>
          <p:cNvPr id="42" name="a007_f_356"/>
          <p:cNvSpPr txBox="1"/>
          <p:nvPr/>
        </p:nvSpPr>
        <p:spPr>
          <a:xfrm>
            <a:off x="2286000" y="5486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Lesezugriff</a:t>
            </a:r>
            <a:endParaRPr lang="en-US" sz="1600" dirty="0"/>
          </a:p>
        </p:txBody>
      </p:sp>
      <p:sp>
        <p:nvSpPr>
          <p:cNvPr id="43" name="a007_f_357"/>
          <p:cNvSpPr txBox="1"/>
          <p:nvPr/>
        </p:nvSpPr>
        <p:spPr>
          <a:xfrm>
            <a:off x="4480560" y="549554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sehen, nichts ändern – etwa für Sender oder Förderer</a:t>
            </a:r>
            <a:endParaRPr lang="en-US" sz="1300" dirty="0"/>
          </a:p>
        </p:txBody>
      </p:sp>
      <p:sp>
        <p:nvSpPr>
          <p:cNvPr id="44" name="a009_f_358"/>
          <p:cNvSpPr txBox="1"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Prüfung läuft im Server – nicht nur in der Oberfläche. Jede Änderung steht mit Person und Zeitpunkt im Audit-Log.</a:t>
            </a:r>
            <a:endParaRPr lang="en-US" sz="1100" dirty="0"/>
          </a:p>
        </p:txBody>
      </p:sp>
      <p:sp>
        <p:nvSpPr>
          <p:cNvPr id="45" name="s_359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46" name="s_360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8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8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48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48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48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48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48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48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48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48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48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48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48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48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48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48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4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48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48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48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48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4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48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48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48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48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48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48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8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48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0" grpId="0" animBg="1"/>
      <p:bldP spid="11" grpId="0" animBg="1"/>
      <p:bldP spid="18" grpId="0" animBg="1"/>
      <p:bldP spid="19" grpId="0" animBg="1"/>
      <p:bldP spid="26" grpId="0" animBg="1"/>
      <p:bldP spid="27" grpId="0" animBg="1"/>
      <p:bldP spid="34" grpId="0" animBg="1"/>
      <p:bldP spid="35" grpId="0" animBg="1"/>
      <p:bldP spid="42" grpId="0" animBg="1"/>
      <p:bldP spid="43" grpId="0" animBg="1"/>
      <p:bldP spid="4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z_361"/>
          <p:cNvSpPr txBox="1"/>
          <p:nvPr/>
        </p:nvSpPr>
        <p:spPr>
          <a:xfrm>
            <a:off x="548640" y="8229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A28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a002_f_362"/>
          <p:cNvSpPr txBox="1"/>
          <p:nvPr/>
        </p:nvSpPr>
        <p:spPr>
          <a:xfrm>
            <a:off x="548640" y="23317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Zugang &amp; öffentliche Seiten</a:t>
            </a:r>
            <a:endParaRPr lang="en-US" sz="3600" dirty="0"/>
          </a:p>
        </p:txBody>
      </p:sp>
      <p:sp>
        <p:nvSpPr>
          <p:cNvPr id="4" name="a003_f_363"/>
          <p:cNvSpPr txBox="1"/>
          <p:nvPr/>
        </p:nvSpPr>
        <p:spPr>
          <a:xfrm>
            <a:off x="548640" y="36576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Alles, was ohne Konto erreichbar ist: Anmeldung, Einladungen und die Dispo-Links für Cast und Crew.</a:t>
            </a:r>
            <a:endParaRPr lang="en-US" sz="1500" dirty="0"/>
          </a:p>
        </p:txBody>
      </p:sp>
      <p:sp>
        <p:nvSpPr>
          <p:cNvPr id="5" name="a003_f_364"/>
          <p:cNvSpPr txBox="1"/>
          <p:nvPr/>
        </p:nvSpPr>
        <p:spPr>
          <a:xfrm>
            <a:off x="548640" y="5029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28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Seiten</a:t>
            </a:r>
            <a:endParaRPr lang="en-US" sz="1300" dirty="0"/>
          </a:p>
        </p:txBody>
      </p:sp>
      <p:sp>
        <p:nvSpPr>
          <p:cNvPr id="6" name="a004_f_365"/>
          <p:cNvSpPr/>
          <p:nvPr/>
        </p:nvSpPr>
        <p:spPr>
          <a:xfrm>
            <a:off x="5897880" y="960120"/>
            <a:ext cx="146304" cy="146304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7" name="a004_f_366"/>
          <p:cNvSpPr txBox="1"/>
          <p:nvPr/>
        </p:nvSpPr>
        <p:spPr>
          <a:xfrm>
            <a:off x="621792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Anmeldung &amp; Registrierung</a:t>
            </a:r>
            <a:endParaRPr lang="en-US" sz="1600" dirty="0"/>
          </a:p>
        </p:txBody>
      </p:sp>
      <p:sp>
        <p:nvSpPr>
          <p:cNvPr id="8" name="a004_f_367"/>
          <p:cNvSpPr txBox="1"/>
          <p:nvPr/>
        </p:nvSpPr>
        <p:spPr>
          <a:xfrm>
            <a:off x="6217920" y="119786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Eingang zu CutSheet: anmelden oder in Sekunden ein Konto anlegen.</a:t>
            </a:r>
            <a:endParaRPr lang="en-US" sz="1100" dirty="0"/>
          </a:p>
        </p:txBody>
      </p:sp>
      <p:sp>
        <p:nvSpPr>
          <p:cNvPr id="9" name="a005_f_368"/>
          <p:cNvSpPr/>
          <p:nvPr/>
        </p:nvSpPr>
        <p:spPr>
          <a:xfrm>
            <a:off x="5897880" y="1728216"/>
            <a:ext cx="146304" cy="146304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10" name="a005_f_369"/>
          <p:cNvSpPr txBox="1"/>
          <p:nvPr/>
        </p:nvSpPr>
        <p:spPr>
          <a:xfrm>
            <a:off x="6217920" y="163677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Passwort vergessen</a:t>
            </a:r>
            <a:endParaRPr lang="en-US" sz="1600" dirty="0"/>
          </a:p>
        </p:txBody>
      </p:sp>
      <p:sp>
        <p:nvSpPr>
          <p:cNvPr id="11" name="a005_f_370"/>
          <p:cNvSpPr txBox="1"/>
          <p:nvPr/>
        </p:nvSpPr>
        <p:spPr>
          <a:xfrm>
            <a:off x="621792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Setzt den Zugang per E-Mail-Link zurück, ohne zu verraten, ob ein Konto existiert.</a:t>
            </a:r>
            <a:endParaRPr lang="en-US" sz="1100" dirty="0"/>
          </a:p>
        </p:txBody>
      </p:sp>
      <p:sp>
        <p:nvSpPr>
          <p:cNvPr id="12" name="a006_f_371"/>
          <p:cNvSpPr/>
          <p:nvPr/>
        </p:nvSpPr>
        <p:spPr>
          <a:xfrm>
            <a:off x="5897880" y="2496312"/>
            <a:ext cx="146304" cy="146304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13" name="a006_f_372"/>
          <p:cNvSpPr txBox="1"/>
          <p:nvPr/>
        </p:nvSpPr>
        <p:spPr>
          <a:xfrm>
            <a:off x="6217920" y="24048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Neues Passwort</a:t>
            </a:r>
            <a:endParaRPr lang="en-US" sz="1600" dirty="0"/>
          </a:p>
        </p:txBody>
      </p:sp>
      <p:sp>
        <p:nvSpPr>
          <p:cNvPr id="14" name="a006_f_373"/>
          <p:cNvSpPr txBox="1"/>
          <p:nvPr/>
        </p:nvSpPr>
        <p:spPr>
          <a:xfrm>
            <a:off x="6217920" y="273405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Legt über den Link aus der E-Mail ein neues Passwort fest.</a:t>
            </a:r>
            <a:endParaRPr lang="en-US" sz="1100" dirty="0"/>
          </a:p>
        </p:txBody>
      </p:sp>
      <p:sp>
        <p:nvSpPr>
          <p:cNvPr id="15" name="a007_f_374"/>
          <p:cNvSpPr/>
          <p:nvPr/>
        </p:nvSpPr>
        <p:spPr>
          <a:xfrm>
            <a:off x="5897880" y="3264408"/>
            <a:ext cx="146304" cy="146304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16" name="a007_f_375"/>
          <p:cNvSpPr txBox="1"/>
          <p:nvPr/>
        </p:nvSpPr>
        <p:spPr>
          <a:xfrm>
            <a:off x="6217920" y="31729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Einladung ins Projekt</a:t>
            </a:r>
            <a:endParaRPr lang="en-US" sz="1600" dirty="0"/>
          </a:p>
        </p:txBody>
      </p:sp>
      <p:sp>
        <p:nvSpPr>
          <p:cNvPr id="17" name="a007_f_376"/>
          <p:cNvSpPr txBox="1"/>
          <p:nvPr/>
        </p:nvSpPr>
        <p:spPr>
          <a:xfrm>
            <a:off x="6217920" y="35021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Nimmt eine Einladung an und bringt die Person mit der richtigen Rolle ins Projekt.</a:t>
            </a:r>
            <a:endParaRPr lang="en-US" sz="1100" dirty="0"/>
          </a:p>
        </p:txBody>
      </p:sp>
      <p:sp>
        <p:nvSpPr>
          <p:cNvPr id="18" name="a008_f_377"/>
          <p:cNvSpPr/>
          <p:nvPr/>
        </p:nvSpPr>
        <p:spPr>
          <a:xfrm>
            <a:off x="5897880" y="4032504"/>
            <a:ext cx="146304" cy="146304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19" name="a008_f_378"/>
          <p:cNvSpPr txBox="1"/>
          <p:nvPr/>
        </p:nvSpPr>
        <p:spPr>
          <a:xfrm>
            <a:off x="6217920" y="394106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Öffentliche Dispo</a:t>
            </a:r>
            <a:endParaRPr lang="en-US" sz="1600" dirty="0"/>
          </a:p>
        </p:txBody>
      </p:sp>
      <p:sp>
        <p:nvSpPr>
          <p:cNvPr id="20" name="a008_f_379"/>
          <p:cNvSpPr txBox="1"/>
          <p:nvPr/>
        </p:nvSpPr>
        <p:spPr>
          <a:xfrm>
            <a:off x="6217920" y="42702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persönliche Tagesdispo für Cast und Crew – ohne Konto, direkt aus der E-Mail.</a:t>
            </a:r>
            <a:endParaRPr lang="en-US" sz="1100" dirty="0"/>
          </a:p>
        </p:txBody>
      </p:sp>
      <p:sp>
        <p:nvSpPr>
          <p:cNvPr id="21" name="a009_f_380"/>
          <p:cNvSpPr/>
          <p:nvPr/>
        </p:nvSpPr>
        <p:spPr>
          <a:xfrm>
            <a:off x="5897880" y="4800600"/>
            <a:ext cx="146304" cy="146304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22" name="a009_f_381"/>
          <p:cNvSpPr txBox="1"/>
          <p:nvPr/>
        </p:nvSpPr>
        <p:spPr>
          <a:xfrm>
            <a:off x="621792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Impressum</a:t>
            </a:r>
            <a:endParaRPr lang="en-US" sz="1600" dirty="0"/>
          </a:p>
        </p:txBody>
      </p:sp>
      <p:sp>
        <p:nvSpPr>
          <p:cNvPr id="23" name="a009_f_382"/>
          <p:cNvSpPr txBox="1"/>
          <p:nvPr/>
        </p:nvSpPr>
        <p:spPr>
          <a:xfrm>
            <a:off x="6217920" y="503834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Anbieterkennzeichnung nach § 5 TMG und § 18 MStV.</a:t>
            </a:r>
            <a:endParaRPr lang="en-US" sz="1100" dirty="0"/>
          </a:p>
        </p:txBody>
      </p:sp>
      <p:sp>
        <p:nvSpPr>
          <p:cNvPr id="24" name="a010_f_383"/>
          <p:cNvSpPr/>
          <p:nvPr/>
        </p:nvSpPr>
        <p:spPr>
          <a:xfrm>
            <a:off x="5897880" y="5568696"/>
            <a:ext cx="146304" cy="146304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25" name="a010_f_384"/>
          <p:cNvSpPr txBox="1"/>
          <p:nvPr/>
        </p:nvSpPr>
        <p:spPr>
          <a:xfrm>
            <a:off x="6217920" y="547725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Datenschutzerklärung</a:t>
            </a:r>
            <a:endParaRPr lang="en-US" sz="1600" dirty="0"/>
          </a:p>
        </p:txBody>
      </p:sp>
      <p:sp>
        <p:nvSpPr>
          <p:cNvPr id="26" name="a010_f_385"/>
          <p:cNvSpPr txBox="1"/>
          <p:nvPr/>
        </p:nvSpPr>
        <p:spPr>
          <a:xfrm>
            <a:off x="6217920" y="5806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CutSheet speichert, wofür, wie lange – und welche Rechte Nutzer haben.</a:t>
            </a:r>
            <a:endParaRPr lang="en-US" sz="1100" dirty="0"/>
          </a:p>
        </p:txBody>
      </p:sp>
      <p:sp>
        <p:nvSpPr>
          <p:cNvPr id="27" name="s_386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8" name="s_387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36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48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48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48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48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48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48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  <p:bldP spid="25" grpId="0" animBg="1"/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388"/>
          <p:cNvSpPr txBox="1"/>
          <p:nvPr/>
        </p:nvSpPr>
        <p:spPr>
          <a:xfrm>
            <a:off x="548640" y="502920"/>
            <a:ext cx="2254910" cy="292608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28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Zugang &amp; öffentliche Seiten</a:t>
            </a:r>
            <a:endParaRPr lang="en-US" sz="1000" dirty="0"/>
          </a:p>
        </p:txBody>
      </p:sp>
      <p:sp>
        <p:nvSpPr>
          <p:cNvPr id="3" name="a001_f_389"/>
          <p:cNvSpPr txBox="1"/>
          <p:nvPr/>
        </p:nvSpPr>
        <p:spPr>
          <a:xfrm>
            <a:off x="37947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1 von 69</a:t>
            </a:r>
            <a:endParaRPr lang="en-US" sz="950" dirty="0"/>
          </a:p>
        </p:txBody>
      </p:sp>
      <p:sp>
        <p:nvSpPr>
          <p:cNvPr id="4" name="a001_f_390"/>
          <p:cNvSpPr txBox="1"/>
          <p:nvPr/>
        </p:nvSpPr>
        <p:spPr>
          <a:xfrm>
            <a:off x="5486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Anmeldung &amp; Registrierung</a:t>
            </a:r>
            <a:endParaRPr lang="en-US" sz="2400" dirty="0"/>
          </a:p>
        </p:txBody>
      </p:sp>
      <p:sp>
        <p:nvSpPr>
          <p:cNvPr id="5" name="a001_f_391"/>
          <p:cNvSpPr txBox="1"/>
          <p:nvPr/>
        </p:nvSpPr>
        <p:spPr>
          <a:xfrm>
            <a:off x="5486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/login</a:t>
            </a:r>
            <a:endParaRPr lang="en-US" sz="1050" dirty="0"/>
          </a:p>
        </p:txBody>
      </p:sp>
      <p:sp>
        <p:nvSpPr>
          <p:cNvPr id="6" name="a003_f_392"/>
          <p:cNvSpPr txBox="1"/>
          <p:nvPr/>
        </p:nvSpPr>
        <p:spPr>
          <a:xfrm>
            <a:off x="5486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Eingang zu CutSheet: anmelden oder in Sekunden ein Konto anlegen.</a:t>
            </a:r>
            <a:endParaRPr lang="en-US" sz="1400" dirty="0"/>
          </a:p>
        </p:txBody>
      </p:sp>
      <p:sp>
        <p:nvSpPr>
          <p:cNvPr id="7" name="a004_f_393"/>
          <p:cNvSpPr/>
          <p:nvPr/>
        </p:nvSpPr>
        <p:spPr>
          <a:xfrm>
            <a:off x="566928" y="2811780"/>
            <a:ext cx="118872" cy="118872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8" name="a004_f_394"/>
          <p:cNvSpPr txBox="1"/>
          <p:nvPr/>
        </p:nvSpPr>
        <p:spPr>
          <a:xfrm>
            <a:off x="8229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Anmelden und Registrieren auf einer Seite, per Umschalter</a:t>
            </a:r>
            <a:endParaRPr lang="en-US" sz="1250" dirty="0"/>
          </a:p>
        </p:txBody>
      </p:sp>
      <p:sp>
        <p:nvSpPr>
          <p:cNvPr id="9" name="a005_f_395"/>
          <p:cNvSpPr/>
          <p:nvPr/>
        </p:nvSpPr>
        <p:spPr>
          <a:xfrm>
            <a:off x="566928" y="3154680"/>
            <a:ext cx="118872" cy="118872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10" name="a005_f_396"/>
          <p:cNvSpPr txBox="1"/>
          <p:nvPr/>
        </p:nvSpPr>
        <p:spPr>
          <a:xfrm>
            <a:off x="8229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zu „Passwort vergessen?“</a:t>
            </a:r>
            <a:endParaRPr lang="en-US" sz="1250" dirty="0"/>
          </a:p>
        </p:txBody>
      </p:sp>
      <p:sp>
        <p:nvSpPr>
          <p:cNvPr id="11" name="a006_f_397"/>
          <p:cNvSpPr/>
          <p:nvPr/>
        </p:nvSpPr>
        <p:spPr>
          <a:xfrm>
            <a:off x="566928" y="3497580"/>
            <a:ext cx="118872" cy="118872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12" name="a006_f_398"/>
          <p:cNvSpPr txBox="1"/>
          <p:nvPr/>
        </p:nvSpPr>
        <p:spPr>
          <a:xfrm>
            <a:off x="8229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Sprachwahl für die Oberfläche</a:t>
            </a:r>
            <a:endParaRPr lang="en-US" sz="1250" dirty="0"/>
          </a:p>
        </p:txBody>
      </p:sp>
      <p:sp>
        <p:nvSpPr>
          <p:cNvPr id="13" name="a007_f_399"/>
          <p:cNvSpPr/>
          <p:nvPr/>
        </p:nvSpPr>
        <p:spPr>
          <a:xfrm>
            <a:off x="566928" y="3840480"/>
            <a:ext cx="118872" cy="118872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14" name="a007_f_400"/>
          <p:cNvSpPr txBox="1"/>
          <p:nvPr/>
        </p:nvSpPr>
        <p:spPr>
          <a:xfrm>
            <a:off x="8229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Schutz gegen Passwort-Raten: Pause nach 8 Fehlversuchen</a:t>
            </a:r>
            <a:endParaRPr lang="en-US" sz="1250" dirty="0"/>
          </a:p>
        </p:txBody>
      </p:sp>
      <p:sp>
        <p:nvSpPr>
          <p:cNvPr id="15" name="a008_f_401"/>
          <p:cNvSpPr/>
          <p:nvPr/>
        </p:nvSpPr>
        <p:spPr>
          <a:xfrm>
            <a:off x="566928" y="4183380"/>
            <a:ext cx="118872" cy="118872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16" name="a008_f_402"/>
          <p:cNvSpPr txBox="1"/>
          <p:nvPr/>
        </p:nvSpPr>
        <p:spPr>
          <a:xfrm>
            <a:off x="822960" y="41148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Kennzeichen „Test“ in der Testphase vor dem Launch</a:t>
            </a:r>
            <a:endParaRPr lang="en-US" sz="1250" dirty="0"/>
          </a:p>
        </p:txBody>
      </p:sp>
      <p:sp>
        <p:nvSpPr>
          <p:cNvPr id="17" name="a009_f_403"/>
          <p:cNvSpPr/>
          <p:nvPr/>
        </p:nvSpPr>
        <p:spPr>
          <a:xfrm>
            <a:off x="566928" y="4526280"/>
            <a:ext cx="118872" cy="118872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18" name="a009_f_404"/>
          <p:cNvSpPr txBox="1"/>
          <p:nvPr/>
        </p:nvSpPr>
        <p:spPr>
          <a:xfrm>
            <a:off x="822960" y="44577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zu Impressum und Datenschutz</a:t>
            </a:r>
            <a:endParaRPr lang="en-US" sz="1250" dirty="0"/>
          </a:p>
        </p:txBody>
      </p:sp>
      <p:sp>
        <p:nvSpPr>
          <p:cNvPr id="19" name="a012_f_405"/>
          <p:cNvSpPr txBox="1"/>
          <p:nvPr/>
        </p:nvSpPr>
        <p:spPr>
          <a:xfrm>
            <a:off x="548640" y="53400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20" name="a013_f_406"/>
          <p:cNvSpPr txBox="1"/>
          <p:nvPr/>
        </p:nvSpPr>
        <p:spPr>
          <a:xfrm>
            <a:off x="548640" y="5614416"/>
            <a:ext cx="142646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284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28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Passwort vergessen</a:t>
            </a:r>
            <a:endParaRPr lang="en-US" sz="950" dirty="0"/>
          </a:p>
        </p:txBody>
      </p:sp>
      <p:sp>
        <p:nvSpPr>
          <p:cNvPr id="21" name="a013_f_407"/>
          <p:cNvSpPr txBox="1"/>
          <p:nvPr/>
        </p:nvSpPr>
        <p:spPr>
          <a:xfrm>
            <a:off x="2066544" y="5614416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363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36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Meine Projekte</a:t>
            </a:r>
            <a:endParaRPr lang="en-US" sz="950" dirty="0"/>
          </a:p>
        </p:txBody>
      </p:sp>
      <p:sp>
        <p:nvSpPr>
          <p:cNvPr id="22" name="a013_f_408"/>
          <p:cNvSpPr txBox="1"/>
          <p:nvPr/>
        </p:nvSpPr>
        <p:spPr>
          <a:xfrm>
            <a:off x="3328416" y="5614416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284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28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Impressum</a:t>
            </a:r>
            <a:endParaRPr lang="en-US" sz="950" dirty="0"/>
          </a:p>
        </p:txBody>
      </p:sp>
      <p:sp>
        <p:nvSpPr>
          <p:cNvPr id="23" name="a013_f_409"/>
          <p:cNvSpPr txBox="1"/>
          <p:nvPr/>
        </p:nvSpPr>
        <p:spPr>
          <a:xfrm>
            <a:off x="548640" y="596188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284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28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Datenschutzerklärung</a:t>
            </a:r>
            <a:endParaRPr lang="en-US" sz="950" dirty="0"/>
          </a:p>
        </p:txBody>
      </p:sp>
      <p:sp>
        <p:nvSpPr>
          <p:cNvPr id="24" name="a002_f_410"/>
          <p:cNvSpPr/>
          <p:nvPr/>
        </p:nvSpPr>
        <p:spPr>
          <a:xfrm>
            <a:off x="5617159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5" name="a002_f_411" descr="/tmp/claude-0/-home-user-cutsheet/6324ba14-9edd-52e0-984d-db7baab43700/scratchpad/deck/img/_login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455" y="1511618"/>
            <a:ext cx="5989320" cy="3743325"/>
          </a:xfrm>
          <a:prstGeom prst="rect">
            <a:avLst/>
          </a:prstGeom>
        </p:spPr>
      </p:pic>
      <p:sp>
        <p:nvSpPr>
          <p:cNvPr id="26" name="s_412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7" name="s_41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48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48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48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414"/>
          <p:cNvSpPr txBox="1"/>
          <p:nvPr/>
        </p:nvSpPr>
        <p:spPr>
          <a:xfrm>
            <a:off x="6720840" y="502920"/>
            <a:ext cx="2254910" cy="292608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28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Zugang &amp; öffentliche Seiten</a:t>
            </a:r>
            <a:endParaRPr lang="en-US" sz="1000" dirty="0"/>
          </a:p>
        </p:txBody>
      </p:sp>
      <p:sp>
        <p:nvSpPr>
          <p:cNvPr id="3" name="a001_f_415"/>
          <p:cNvSpPr txBox="1"/>
          <p:nvPr/>
        </p:nvSpPr>
        <p:spPr>
          <a:xfrm>
            <a:off x="99669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2 von 69</a:t>
            </a:r>
            <a:endParaRPr lang="en-US" sz="950" dirty="0"/>
          </a:p>
        </p:txBody>
      </p:sp>
      <p:sp>
        <p:nvSpPr>
          <p:cNvPr id="4" name="a001_f_416"/>
          <p:cNvSpPr txBox="1"/>
          <p:nvPr/>
        </p:nvSpPr>
        <p:spPr>
          <a:xfrm>
            <a:off x="67208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Passwort vergessen</a:t>
            </a:r>
            <a:endParaRPr lang="en-US" sz="3200" dirty="0"/>
          </a:p>
        </p:txBody>
      </p:sp>
      <p:sp>
        <p:nvSpPr>
          <p:cNvPr id="5" name="a001_f_417"/>
          <p:cNvSpPr txBox="1"/>
          <p:nvPr/>
        </p:nvSpPr>
        <p:spPr>
          <a:xfrm>
            <a:off x="67208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/forgot-password</a:t>
            </a:r>
            <a:endParaRPr lang="en-US" sz="1050" dirty="0"/>
          </a:p>
        </p:txBody>
      </p:sp>
      <p:sp>
        <p:nvSpPr>
          <p:cNvPr id="6" name="a003_f_418"/>
          <p:cNvSpPr txBox="1"/>
          <p:nvPr/>
        </p:nvSpPr>
        <p:spPr>
          <a:xfrm>
            <a:off x="67208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Setzt den Zugang per E-Mail-Link zurück, ohne zu verraten, ob ein Konto existiert.</a:t>
            </a:r>
            <a:endParaRPr lang="en-US" sz="1400" dirty="0"/>
          </a:p>
        </p:txBody>
      </p:sp>
      <p:sp>
        <p:nvSpPr>
          <p:cNvPr id="7" name="a004_f_419"/>
          <p:cNvSpPr/>
          <p:nvPr/>
        </p:nvSpPr>
        <p:spPr>
          <a:xfrm>
            <a:off x="6739128" y="2811780"/>
            <a:ext cx="118872" cy="118872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8" name="a004_f_420"/>
          <p:cNvSpPr txBox="1"/>
          <p:nvPr/>
        </p:nvSpPr>
        <p:spPr>
          <a:xfrm>
            <a:off x="69951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 eingeben, Link anfordern</a:t>
            </a:r>
            <a:endParaRPr lang="en-US" sz="1250" dirty="0"/>
          </a:p>
        </p:txBody>
      </p:sp>
      <p:sp>
        <p:nvSpPr>
          <p:cNvPr id="9" name="a005_f_421"/>
          <p:cNvSpPr/>
          <p:nvPr/>
        </p:nvSpPr>
        <p:spPr>
          <a:xfrm>
            <a:off x="6739128" y="3154680"/>
            <a:ext cx="118872" cy="118872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10" name="a005_f_422"/>
          <p:cNvSpPr txBox="1"/>
          <p:nvPr/>
        </p:nvSpPr>
        <p:spPr>
          <a:xfrm>
            <a:off x="6995160" y="3086100"/>
            <a:ext cx="4617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Antwortet immer gleich: kein Rückschluss auf bestehende Konten</a:t>
            </a:r>
            <a:endParaRPr lang="en-US" sz="1250" dirty="0"/>
          </a:p>
        </p:txBody>
      </p:sp>
      <p:sp>
        <p:nvSpPr>
          <p:cNvPr id="11" name="a006_f_423"/>
          <p:cNvSpPr/>
          <p:nvPr/>
        </p:nvSpPr>
        <p:spPr>
          <a:xfrm>
            <a:off x="6739128" y="3712464"/>
            <a:ext cx="118872" cy="118872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12" name="a006_f_424"/>
          <p:cNvSpPr txBox="1"/>
          <p:nvPr/>
        </p:nvSpPr>
        <p:spPr>
          <a:xfrm>
            <a:off x="6995160" y="3643884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führt auf „Neues Passwort“</a:t>
            </a:r>
            <a:endParaRPr lang="en-US" sz="1250" dirty="0"/>
          </a:p>
        </p:txBody>
      </p:sp>
      <p:sp>
        <p:nvSpPr>
          <p:cNvPr id="13" name="a007_f_425"/>
          <p:cNvSpPr/>
          <p:nvPr/>
        </p:nvSpPr>
        <p:spPr>
          <a:xfrm>
            <a:off x="6739128" y="4055364"/>
            <a:ext cx="118872" cy="118872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14" name="a007_f_426"/>
          <p:cNvSpPr txBox="1"/>
          <p:nvPr/>
        </p:nvSpPr>
        <p:spPr>
          <a:xfrm>
            <a:off x="6995160" y="3986784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Zurück zur Anmeldung mit einem Klick</a:t>
            </a:r>
            <a:endParaRPr lang="en-US" sz="1250" dirty="0"/>
          </a:p>
        </p:txBody>
      </p:sp>
      <p:sp>
        <p:nvSpPr>
          <p:cNvPr id="15" name="a012_f_427"/>
          <p:cNvSpPr txBox="1"/>
          <p:nvPr/>
        </p:nvSpPr>
        <p:spPr>
          <a:xfrm>
            <a:off x="67208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6" name="a013_f_428"/>
          <p:cNvSpPr txBox="1"/>
          <p:nvPr/>
        </p:nvSpPr>
        <p:spPr>
          <a:xfrm>
            <a:off x="6720840" y="5760720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284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28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Neues Passwort</a:t>
            </a:r>
            <a:endParaRPr lang="en-US" sz="950" dirty="0"/>
          </a:p>
        </p:txBody>
      </p:sp>
      <p:sp>
        <p:nvSpPr>
          <p:cNvPr id="17" name="a013_f_429"/>
          <p:cNvSpPr txBox="1"/>
          <p:nvPr/>
        </p:nvSpPr>
        <p:spPr>
          <a:xfrm>
            <a:off x="7982712" y="576072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284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28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Anmeldung</a:t>
            </a:r>
            <a:endParaRPr lang="en-US" sz="950" dirty="0"/>
          </a:p>
        </p:txBody>
      </p:sp>
      <p:sp>
        <p:nvSpPr>
          <p:cNvPr id="18" name="a002_f_430"/>
          <p:cNvSpPr/>
          <p:nvPr/>
        </p:nvSpPr>
        <p:spPr>
          <a:xfrm>
            <a:off x="420624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19" name="a002_f_431" descr="/tmp/claude-0/-home-user-cutsheet/6324ba14-9edd-52e0-984d-db7baab43700/scratchpad/deck/img/_forgot-password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11618"/>
            <a:ext cx="5989320" cy="3743325"/>
          </a:xfrm>
          <a:prstGeom prst="rect">
            <a:avLst/>
          </a:prstGeom>
        </p:spPr>
      </p:pic>
      <p:sp>
        <p:nvSpPr>
          <p:cNvPr id="20" name="s_432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1" name="s_43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434"/>
          <p:cNvSpPr txBox="1"/>
          <p:nvPr/>
        </p:nvSpPr>
        <p:spPr>
          <a:xfrm>
            <a:off x="548640" y="502920"/>
            <a:ext cx="2254910" cy="292608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28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Zugang &amp; öffentliche Seiten</a:t>
            </a:r>
            <a:endParaRPr lang="en-US" sz="1000" dirty="0"/>
          </a:p>
        </p:txBody>
      </p:sp>
      <p:sp>
        <p:nvSpPr>
          <p:cNvPr id="3" name="a001_f_435"/>
          <p:cNvSpPr txBox="1"/>
          <p:nvPr/>
        </p:nvSpPr>
        <p:spPr>
          <a:xfrm>
            <a:off x="37947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3 von 69</a:t>
            </a:r>
            <a:endParaRPr lang="en-US" sz="950" dirty="0"/>
          </a:p>
        </p:txBody>
      </p:sp>
      <p:sp>
        <p:nvSpPr>
          <p:cNvPr id="4" name="a001_f_436"/>
          <p:cNvSpPr txBox="1"/>
          <p:nvPr/>
        </p:nvSpPr>
        <p:spPr>
          <a:xfrm>
            <a:off x="5486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Neues Passwort</a:t>
            </a:r>
            <a:endParaRPr lang="en-US" sz="3200" dirty="0"/>
          </a:p>
        </p:txBody>
      </p:sp>
      <p:sp>
        <p:nvSpPr>
          <p:cNvPr id="5" name="a001_f_437"/>
          <p:cNvSpPr txBox="1"/>
          <p:nvPr/>
        </p:nvSpPr>
        <p:spPr>
          <a:xfrm>
            <a:off x="5486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/reset-password/:token</a:t>
            </a:r>
            <a:endParaRPr lang="en-US" sz="1050" dirty="0"/>
          </a:p>
        </p:txBody>
      </p:sp>
      <p:sp>
        <p:nvSpPr>
          <p:cNvPr id="6" name="a003_f_438"/>
          <p:cNvSpPr txBox="1"/>
          <p:nvPr/>
        </p:nvSpPr>
        <p:spPr>
          <a:xfrm>
            <a:off x="5486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Legt über den Link aus der E-Mail ein neues Passwort fest.</a:t>
            </a:r>
            <a:endParaRPr lang="en-US" sz="1400" dirty="0"/>
          </a:p>
        </p:txBody>
      </p:sp>
      <p:sp>
        <p:nvSpPr>
          <p:cNvPr id="7" name="a004_f_439"/>
          <p:cNvSpPr/>
          <p:nvPr/>
        </p:nvSpPr>
        <p:spPr>
          <a:xfrm>
            <a:off x="566928" y="2811780"/>
            <a:ext cx="118872" cy="118872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8" name="a004_f_440"/>
          <p:cNvSpPr txBox="1"/>
          <p:nvPr/>
        </p:nvSpPr>
        <p:spPr>
          <a:xfrm>
            <a:off x="8229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Neues Passwort mit Wiederholung</a:t>
            </a:r>
            <a:endParaRPr lang="en-US" sz="1250" dirty="0"/>
          </a:p>
        </p:txBody>
      </p:sp>
      <p:sp>
        <p:nvSpPr>
          <p:cNvPr id="9" name="a005_f_441"/>
          <p:cNvSpPr/>
          <p:nvPr/>
        </p:nvSpPr>
        <p:spPr>
          <a:xfrm>
            <a:off x="566928" y="3154680"/>
            <a:ext cx="118872" cy="118872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10" name="a005_f_442"/>
          <p:cNvSpPr txBox="1"/>
          <p:nvPr/>
        </p:nvSpPr>
        <p:spPr>
          <a:xfrm>
            <a:off x="8229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ist einmalig und läuft ab</a:t>
            </a:r>
            <a:endParaRPr lang="en-US" sz="1250" dirty="0"/>
          </a:p>
        </p:txBody>
      </p:sp>
      <p:sp>
        <p:nvSpPr>
          <p:cNvPr id="11" name="a006_f_443"/>
          <p:cNvSpPr/>
          <p:nvPr/>
        </p:nvSpPr>
        <p:spPr>
          <a:xfrm>
            <a:off x="566928" y="3497580"/>
            <a:ext cx="118872" cy="118872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12" name="a006_f_444"/>
          <p:cNvSpPr txBox="1"/>
          <p:nvPr/>
        </p:nvSpPr>
        <p:spPr>
          <a:xfrm>
            <a:off x="8229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Ungültige Links werden klar gemeldet</a:t>
            </a:r>
            <a:endParaRPr lang="en-US" sz="1250" dirty="0"/>
          </a:p>
        </p:txBody>
      </p:sp>
      <p:sp>
        <p:nvSpPr>
          <p:cNvPr id="13" name="a007_f_445"/>
          <p:cNvSpPr/>
          <p:nvPr/>
        </p:nvSpPr>
        <p:spPr>
          <a:xfrm>
            <a:off x="566928" y="3840480"/>
            <a:ext cx="118872" cy="118872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14" name="a007_f_446"/>
          <p:cNvSpPr txBox="1"/>
          <p:nvPr/>
        </p:nvSpPr>
        <p:spPr>
          <a:xfrm>
            <a:off x="8229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Danach direkt zur Anmeldung</a:t>
            </a:r>
            <a:endParaRPr lang="en-US" sz="1250" dirty="0"/>
          </a:p>
        </p:txBody>
      </p:sp>
      <p:sp>
        <p:nvSpPr>
          <p:cNvPr id="15" name="a012_f_447"/>
          <p:cNvSpPr txBox="1"/>
          <p:nvPr/>
        </p:nvSpPr>
        <p:spPr>
          <a:xfrm>
            <a:off x="5486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6" name="a013_f_448"/>
          <p:cNvSpPr txBox="1"/>
          <p:nvPr/>
        </p:nvSpPr>
        <p:spPr>
          <a:xfrm>
            <a:off x="548640" y="5760720"/>
            <a:ext cx="142646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284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28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Passwort vergessen</a:t>
            </a:r>
            <a:endParaRPr lang="en-US" sz="950" dirty="0"/>
          </a:p>
        </p:txBody>
      </p:sp>
      <p:sp>
        <p:nvSpPr>
          <p:cNvPr id="17" name="a013_f_449"/>
          <p:cNvSpPr txBox="1"/>
          <p:nvPr/>
        </p:nvSpPr>
        <p:spPr>
          <a:xfrm>
            <a:off x="2066544" y="576072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284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28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Anmeldung</a:t>
            </a:r>
            <a:endParaRPr lang="en-US" sz="950" dirty="0"/>
          </a:p>
        </p:txBody>
      </p:sp>
      <p:sp>
        <p:nvSpPr>
          <p:cNvPr id="18" name="a002_f_450"/>
          <p:cNvSpPr/>
          <p:nvPr/>
        </p:nvSpPr>
        <p:spPr>
          <a:xfrm>
            <a:off x="5617159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19" name="a002_f_451" descr="/tmp/claude-0/-home-user-cutsheet/6324ba14-9edd-52e0-984d-db7baab43700/scratchpad/deck/img/_reset-password_xyz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455" y="1511618"/>
            <a:ext cx="5989320" cy="3743325"/>
          </a:xfrm>
          <a:prstGeom prst="rect">
            <a:avLst/>
          </a:prstGeom>
        </p:spPr>
      </p:pic>
      <p:sp>
        <p:nvSpPr>
          <p:cNvPr id="20" name="s_452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1" name="s_45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454"/>
          <p:cNvSpPr txBox="1"/>
          <p:nvPr/>
        </p:nvSpPr>
        <p:spPr>
          <a:xfrm>
            <a:off x="6720840" y="502920"/>
            <a:ext cx="2254910" cy="292608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28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Zugang &amp; öffentliche Seiten</a:t>
            </a:r>
            <a:endParaRPr lang="en-US" sz="1000" dirty="0"/>
          </a:p>
        </p:txBody>
      </p:sp>
      <p:sp>
        <p:nvSpPr>
          <p:cNvPr id="3" name="a001_f_455"/>
          <p:cNvSpPr txBox="1"/>
          <p:nvPr/>
        </p:nvSpPr>
        <p:spPr>
          <a:xfrm>
            <a:off x="99669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4 von 69</a:t>
            </a:r>
            <a:endParaRPr lang="en-US" sz="950" dirty="0"/>
          </a:p>
        </p:txBody>
      </p:sp>
      <p:sp>
        <p:nvSpPr>
          <p:cNvPr id="4" name="a001_f_456"/>
          <p:cNvSpPr txBox="1"/>
          <p:nvPr/>
        </p:nvSpPr>
        <p:spPr>
          <a:xfrm>
            <a:off x="67208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Einladung ins Projekt</a:t>
            </a:r>
            <a:endParaRPr lang="en-US" sz="2800" dirty="0"/>
          </a:p>
        </p:txBody>
      </p:sp>
      <p:sp>
        <p:nvSpPr>
          <p:cNvPr id="5" name="a001_f_457"/>
          <p:cNvSpPr txBox="1"/>
          <p:nvPr/>
        </p:nvSpPr>
        <p:spPr>
          <a:xfrm>
            <a:off x="67208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/invite/:token</a:t>
            </a:r>
            <a:endParaRPr lang="en-US" sz="1050" dirty="0"/>
          </a:p>
        </p:txBody>
      </p:sp>
      <p:sp>
        <p:nvSpPr>
          <p:cNvPr id="6" name="a003_f_458"/>
          <p:cNvSpPr txBox="1"/>
          <p:nvPr/>
        </p:nvSpPr>
        <p:spPr>
          <a:xfrm>
            <a:off x="67208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Nimmt eine Einladung an und bringt die Person mit der richtigen Rolle ins Projekt.</a:t>
            </a:r>
            <a:endParaRPr lang="en-US" sz="1400" dirty="0"/>
          </a:p>
        </p:txBody>
      </p:sp>
      <p:sp>
        <p:nvSpPr>
          <p:cNvPr id="7" name="a004_f_459"/>
          <p:cNvSpPr/>
          <p:nvPr/>
        </p:nvSpPr>
        <p:spPr>
          <a:xfrm>
            <a:off x="6739128" y="2811780"/>
            <a:ext cx="118872" cy="118872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8" name="a004_f_460"/>
          <p:cNvSpPr txBox="1"/>
          <p:nvPr/>
        </p:nvSpPr>
        <p:spPr>
          <a:xfrm>
            <a:off x="69951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Zeigt Projekt und zugewiesene Rolle vor dem Beitritt</a:t>
            </a:r>
            <a:endParaRPr lang="en-US" sz="1250" dirty="0"/>
          </a:p>
        </p:txBody>
      </p:sp>
      <p:sp>
        <p:nvSpPr>
          <p:cNvPr id="9" name="a005_f_461"/>
          <p:cNvSpPr/>
          <p:nvPr/>
        </p:nvSpPr>
        <p:spPr>
          <a:xfrm>
            <a:off x="6739128" y="3154680"/>
            <a:ext cx="118872" cy="118872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10" name="a005_f_462"/>
          <p:cNvSpPr txBox="1"/>
          <p:nvPr/>
        </p:nvSpPr>
        <p:spPr>
          <a:xfrm>
            <a:off x="69951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Anmelden oder direkt registrieren</a:t>
            </a:r>
            <a:endParaRPr lang="en-US" sz="1250" dirty="0"/>
          </a:p>
        </p:txBody>
      </p:sp>
      <p:sp>
        <p:nvSpPr>
          <p:cNvPr id="11" name="a006_f_463"/>
          <p:cNvSpPr/>
          <p:nvPr/>
        </p:nvSpPr>
        <p:spPr>
          <a:xfrm>
            <a:off x="6739128" y="3497580"/>
            <a:ext cx="118872" cy="118872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12" name="a006_f_464"/>
          <p:cNvSpPr txBox="1"/>
          <p:nvPr/>
        </p:nvSpPr>
        <p:spPr>
          <a:xfrm>
            <a:off x="6995160" y="3429000"/>
            <a:ext cx="4617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Rollen: Admin, Produktion, Regie, Abteilungsleitung, Lesezugriff</a:t>
            </a:r>
            <a:endParaRPr lang="en-US" sz="1250" dirty="0"/>
          </a:p>
        </p:txBody>
      </p:sp>
      <p:sp>
        <p:nvSpPr>
          <p:cNvPr id="13" name="a007_f_465"/>
          <p:cNvSpPr/>
          <p:nvPr/>
        </p:nvSpPr>
        <p:spPr>
          <a:xfrm>
            <a:off x="6739128" y="4055364"/>
            <a:ext cx="118872" cy="118872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14" name="a007_f_466"/>
          <p:cNvSpPr txBox="1"/>
          <p:nvPr/>
        </p:nvSpPr>
        <p:spPr>
          <a:xfrm>
            <a:off x="6995160" y="3986784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Leitet nach dem Beitritt ins Projekt weiter</a:t>
            </a:r>
            <a:endParaRPr lang="en-US" sz="1250" dirty="0"/>
          </a:p>
        </p:txBody>
      </p:sp>
      <p:sp>
        <p:nvSpPr>
          <p:cNvPr id="15" name="a008_f_467"/>
          <p:cNvSpPr/>
          <p:nvPr/>
        </p:nvSpPr>
        <p:spPr>
          <a:xfrm>
            <a:off x="6739128" y="4398264"/>
            <a:ext cx="118872" cy="118872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16" name="a008_f_468"/>
          <p:cNvSpPr txBox="1"/>
          <p:nvPr/>
        </p:nvSpPr>
        <p:spPr>
          <a:xfrm>
            <a:off x="6995160" y="4329684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Ungültige oder benutzte Links werden erkannt</a:t>
            </a:r>
            <a:endParaRPr lang="en-US" sz="1250" dirty="0"/>
          </a:p>
        </p:txBody>
      </p:sp>
      <p:sp>
        <p:nvSpPr>
          <p:cNvPr id="17" name="a012_f_469"/>
          <p:cNvSpPr txBox="1"/>
          <p:nvPr/>
        </p:nvSpPr>
        <p:spPr>
          <a:xfrm>
            <a:off x="67208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8" name="a013_f_470"/>
          <p:cNvSpPr txBox="1"/>
          <p:nvPr/>
        </p:nvSpPr>
        <p:spPr>
          <a:xfrm>
            <a:off x="6720840" y="576072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71E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Stammdaten</a:t>
            </a:r>
            <a:endParaRPr lang="en-US" sz="950" dirty="0"/>
          </a:p>
        </p:txBody>
      </p:sp>
      <p:sp>
        <p:nvSpPr>
          <p:cNvPr id="19" name="a013_f_471"/>
          <p:cNvSpPr txBox="1"/>
          <p:nvPr/>
        </p:nvSpPr>
        <p:spPr>
          <a:xfrm>
            <a:off x="7726680" y="576072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284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28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Anmeldung</a:t>
            </a:r>
            <a:endParaRPr lang="en-US" sz="950" dirty="0"/>
          </a:p>
        </p:txBody>
      </p:sp>
      <p:sp>
        <p:nvSpPr>
          <p:cNvPr id="20" name="a013_f_472"/>
          <p:cNvSpPr txBox="1"/>
          <p:nvPr/>
        </p:nvSpPr>
        <p:spPr>
          <a:xfrm>
            <a:off x="8668512" y="576072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71E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50" dirty="0"/>
          </a:p>
        </p:txBody>
      </p:sp>
      <p:sp>
        <p:nvSpPr>
          <p:cNvPr id="21" name="a002_f_473"/>
          <p:cNvSpPr/>
          <p:nvPr/>
        </p:nvSpPr>
        <p:spPr>
          <a:xfrm>
            <a:off x="420624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2" name="a002_f_474" descr="/tmp/claude-0/-home-user-cutsheet/6324ba14-9edd-52e0-984d-db7baab43700/scratchpad/deck/img/_invite_praesentation-einladung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11618"/>
            <a:ext cx="5989320" cy="3743325"/>
          </a:xfrm>
          <a:prstGeom prst="rect">
            <a:avLst/>
          </a:prstGeom>
        </p:spPr>
      </p:pic>
      <p:sp>
        <p:nvSpPr>
          <p:cNvPr id="23" name="s_475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4" name="s_476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477"/>
          <p:cNvSpPr txBox="1"/>
          <p:nvPr/>
        </p:nvSpPr>
        <p:spPr>
          <a:xfrm>
            <a:off x="548640" y="502920"/>
            <a:ext cx="2254910" cy="292608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28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Zugang &amp; öffentliche Seiten</a:t>
            </a:r>
            <a:endParaRPr lang="en-US" sz="1000" dirty="0"/>
          </a:p>
        </p:txBody>
      </p:sp>
      <p:sp>
        <p:nvSpPr>
          <p:cNvPr id="3" name="a001_f_478"/>
          <p:cNvSpPr txBox="1"/>
          <p:nvPr/>
        </p:nvSpPr>
        <p:spPr>
          <a:xfrm>
            <a:off x="37947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5 von 69</a:t>
            </a:r>
            <a:endParaRPr lang="en-US" sz="950" dirty="0"/>
          </a:p>
        </p:txBody>
      </p:sp>
      <p:sp>
        <p:nvSpPr>
          <p:cNvPr id="4" name="a001_f_479"/>
          <p:cNvSpPr txBox="1"/>
          <p:nvPr/>
        </p:nvSpPr>
        <p:spPr>
          <a:xfrm>
            <a:off x="5486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Öffentliche Dispo</a:t>
            </a:r>
            <a:endParaRPr lang="en-US" sz="3200" dirty="0"/>
          </a:p>
        </p:txBody>
      </p:sp>
      <p:sp>
        <p:nvSpPr>
          <p:cNvPr id="5" name="a001_f_480"/>
          <p:cNvSpPr txBox="1"/>
          <p:nvPr/>
        </p:nvSpPr>
        <p:spPr>
          <a:xfrm>
            <a:off x="5486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/dispo/:token</a:t>
            </a:r>
            <a:endParaRPr lang="en-US" sz="1050" dirty="0"/>
          </a:p>
        </p:txBody>
      </p:sp>
      <p:sp>
        <p:nvSpPr>
          <p:cNvPr id="6" name="a003_f_481"/>
          <p:cNvSpPr txBox="1"/>
          <p:nvPr/>
        </p:nvSpPr>
        <p:spPr>
          <a:xfrm>
            <a:off x="5486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persönliche Tagesdispo für Cast und Crew – ohne Konto, direkt aus der E-Mail.</a:t>
            </a:r>
            <a:endParaRPr lang="en-US" sz="1400" dirty="0"/>
          </a:p>
        </p:txBody>
      </p:sp>
      <p:sp>
        <p:nvSpPr>
          <p:cNvPr id="7" name="a004_f_482"/>
          <p:cNvSpPr/>
          <p:nvPr/>
        </p:nvSpPr>
        <p:spPr>
          <a:xfrm>
            <a:off x="566928" y="2811780"/>
            <a:ext cx="118872" cy="118872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8" name="a004_f_483"/>
          <p:cNvSpPr txBox="1"/>
          <p:nvPr/>
        </p:nvSpPr>
        <p:spPr>
          <a:xfrm>
            <a:off x="8229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Eigene Call-Zeit groß und zuerst</a:t>
            </a:r>
            <a:endParaRPr lang="en-US" sz="1250" dirty="0"/>
          </a:p>
        </p:txBody>
      </p:sp>
      <p:sp>
        <p:nvSpPr>
          <p:cNvPr id="9" name="a005_f_484"/>
          <p:cNvSpPr/>
          <p:nvPr/>
        </p:nvSpPr>
        <p:spPr>
          <a:xfrm>
            <a:off x="566928" y="3154680"/>
            <a:ext cx="118872" cy="118872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10" name="a005_f_485"/>
          <p:cNvSpPr txBox="1"/>
          <p:nvPr/>
        </p:nvSpPr>
        <p:spPr>
          <a:xfrm>
            <a:off x="8229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Motiv, allgemeiner Call und Tagesplan</a:t>
            </a:r>
            <a:endParaRPr lang="en-US" sz="1250" dirty="0"/>
          </a:p>
        </p:txBody>
      </p:sp>
      <p:sp>
        <p:nvSpPr>
          <p:cNvPr id="11" name="a006_f_486"/>
          <p:cNvSpPr/>
          <p:nvPr/>
        </p:nvSpPr>
        <p:spPr>
          <a:xfrm>
            <a:off x="566928" y="3497580"/>
            <a:ext cx="118872" cy="118872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12" name="a006_f_487"/>
          <p:cNvSpPr txBox="1"/>
          <p:nvPr/>
        </p:nvSpPr>
        <p:spPr>
          <a:xfrm>
            <a:off x="8229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Zusage mit einem Tipp bestätigen</a:t>
            </a:r>
            <a:endParaRPr lang="en-US" sz="1250" dirty="0"/>
          </a:p>
        </p:txBody>
      </p:sp>
      <p:sp>
        <p:nvSpPr>
          <p:cNvPr id="13" name="a007_f_488"/>
          <p:cNvSpPr/>
          <p:nvPr/>
        </p:nvSpPr>
        <p:spPr>
          <a:xfrm>
            <a:off x="566928" y="3840480"/>
            <a:ext cx="118872" cy="118872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14" name="a007_f_489"/>
          <p:cNvSpPr txBox="1"/>
          <p:nvPr/>
        </p:nvSpPr>
        <p:spPr>
          <a:xfrm>
            <a:off x="8229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Ohne Gagen und Telefonnummern anderer</a:t>
            </a:r>
            <a:endParaRPr lang="en-US" sz="1250" dirty="0"/>
          </a:p>
        </p:txBody>
      </p:sp>
      <p:sp>
        <p:nvSpPr>
          <p:cNvPr id="15" name="a008_f_490"/>
          <p:cNvSpPr/>
          <p:nvPr/>
        </p:nvSpPr>
        <p:spPr>
          <a:xfrm>
            <a:off x="566928" y="4183380"/>
            <a:ext cx="118872" cy="118872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16" name="a008_f_491"/>
          <p:cNvSpPr txBox="1"/>
          <p:nvPr/>
        </p:nvSpPr>
        <p:spPr>
          <a:xfrm>
            <a:off x="822960" y="41148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eigenes Konto anlegen, um mehr zu sehen</a:t>
            </a:r>
            <a:endParaRPr lang="en-US" sz="1250" dirty="0"/>
          </a:p>
        </p:txBody>
      </p:sp>
      <p:sp>
        <p:nvSpPr>
          <p:cNvPr id="17" name="a009_f_492"/>
          <p:cNvSpPr/>
          <p:nvPr/>
        </p:nvSpPr>
        <p:spPr>
          <a:xfrm>
            <a:off x="566928" y="4526280"/>
            <a:ext cx="118872" cy="118872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18" name="a009_f_493"/>
          <p:cNvSpPr txBox="1"/>
          <p:nvPr/>
        </p:nvSpPr>
        <p:spPr>
          <a:xfrm>
            <a:off x="822960" y="44577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Geöffnete Dispo-Mail wird als „gesehen“ erfasst</a:t>
            </a:r>
            <a:endParaRPr lang="en-US" sz="1250" dirty="0"/>
          </a:p>
        </p:txBody>
      </p:sp>
      <p:sp>
        <p:nvSpPr>
          <p:cNvPr id="19" name="a012_f_494"/>
          <p:cNvSpPr txBox="1"/>
          <p:nvPr/>
        </p:nvSpPr>
        <p:spPr>
          <a:xfrm>
            <a:off x="5486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20" name="a013_f_495"/>
          <p:cNvSpPr txBox="1"/>
          <p:nvPr/>
        </p:nvSpPr>
        <p:spPr>
          <a:xfrm>
            <a:off x="548640" y="576072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Tagesdispo</a:t>
            </a:r>
            <a:endParaRPr lang="en-US" sz="950" dirty="0"/>
          </a:p>
        </p:txBody>
      </p:sp>
      <p:sp>
        <p:nvSpPr>
          <p:cNvPr id="21" name="a013_f_496"/>
          <p:cNvSpPr txBox="1"/>
          <p:nvPr/>
        </p:nvSpPr>
        <p:spPr>
          <a:xfrm>
            <a:off x="1554480" y="5760720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 Board</a:t>
            </a:r>
            <a:endParaRPr lang="en-US" sz="950" dirty="0"/>
          </a:p>
        </p:txBody>
      </p:sp>
      <p:sp>
        <p:nvSpPr>
          <p:cNvPr id="22" name="a002_f_497"/>
          <p:cNvSpPr/>
          <p:nvPr/>
        </p:nvSpPr>
        <p:spPr>
          <a:xfrm>
            <a:off x="5617159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3" name="a002_f_498" descr="/tmp/claude-0/-home-user-cutsheet/6324ba14-9edd-52e0-984d-db7baab43700/scratchpad/deck/img/_dispo_praesentation-dispo-demo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455" y="1511618"/>
            <a:ext cx="5989320" cy="3743325"/>
          </a:xfrm>
          <a:prstGeom prst="rect">
            <a:avLst/>
          </a:prstGeom>
        </p:spPr>
      </p:pic>
      <p:sp>
        <p:nvSpPr>
          <p:cNvPr id="24" name="s_499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5" name="s_500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48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501"/>
          <p:cNvSpPr txBox="1"/>
          <p:nvPr/>
        </p:nvSpPr>
        <p:spPr>
          <a:xfrm>
            <a:off x="6720840" y="502920"/>
            <a:ext cx="2254910" cy="292608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28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Zugang &amp; öffentliche Seiten</a:t>
            </a:r>
            <a:endParaRPr lang="en-US" sz="1000" dirty="0"/>
          </a:p>
        </p:txBody>
      </p:sp>
      <p:sp>
        <p:nvSpPr>
          <p:cNvPr id="3" name="a001_f_502"/>
          <p:cNvSpPr txBox="1"/>
          <p:nvPr/>
        </p:nvSpPr>
        <p:spPr>
          <a:xfrm>
            <a:off x="99669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6 von 69</a:t>
            </a:r>
            <a:endParaRPr lang="en-US" sz="950" dirty="0"/>
          </a:p>
        </p:txBody>
      </p:sp>
      <p:sp>
        <p:nvSpPr>
          <p:cNvPr id="4" name="a001_f_503"/>
          <p:cNvSpPr txBox="1"/>
          <p:nvPr/>
        </p:nvSpPr>
        <p:spPr>
          <a:xfrm>
            <a:off x="67208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Impressum</a:t>
            </a:r>
            <a:endParaRPr lang="en-US" sz="3200" dirty="0"/>
          </a:p>
        </p:txBody>
      </p:sp>
      <p:sp>
        <p:nvSpPr>
          <p:cNvPr id="5" name="a001_f_504"/>
          <p:cNvSpPr txBox="1"/>
          <p:nvPr/>
        </p:nvSpPr>
        <p:spPr>
          <a:xfrm>
            <a:off x="67208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/impressum</a:t>
            </a:r>
            <a:endParaRPr lang="en-US" sz="1050" dirty="0"/>
          </a:p>
        </p:txBody>
      </p:sp>
      <p:sp>
        <p:nvSpPr>
          <p:cNvPr id="6" name="a003_f_505"/>
          <p:cNvSpPr txBox="1"/>
          <p:nvPr/>
        </p:nvSpPr>
        <p:spPr>
          <a:xfrm>
            <a:off x="67208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Anbieterkennzeichnung nach § 5 TMG und § 18 MStV.</a:t>
            </a:r>
            <a:endParaRPr lang="en-US" sz="1400" dirty="0"/>
          </a:p>
        </p:txBody>
      </p:sp>
      <p:sp>
        <p:nvSpPr>
          <p:cNvPr id="7" name="a004_f_506"/>
          <p:cNvSpPr/>
          <p:nvPr/>
        </p:nvSpPr>
        <p:spPr>
          <a:xfrm>
            <a:off x="6739128" y="2811780"/>
            <a:ext cx="118872" cy="118872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8" name="a004_f_507"/>
          <p:cNvSpPr txBox="1"/>
          <p:nvPr/>
        </p:nvSpPr>
        <p:spPr>
          <a:xfrm>
            <a:off x="69951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Pflichtangaben, Kontakt, Verantwortlicher</a:t>
            </a:r>
            <a:endParaRPr lang="en-US" sz="1250" dirty="0"/>
          </a:p>
        </p:txBody>
      </p:sp>
      <p:sp>
        <p:nvSpPr>
          <p:cNvPr id="9" name="a005_f_508"/>
          <p:cNvSpPr/>
          <p:nvPr/>
        </p:nvSpPr>
        <p:spPr>
          <a:xfrm>
            <a:off x="6739128" y="3154680"/>
            <a:ext cx="118872" cy="118872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10" name="a005_f_509"/>
          <p:cNvSpPr txBox="1"/>
          <p:nvPr/>
        </p:nvSpPr>
        <p:spPr>
          <a:xfrm>
            <a:off x="69951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Haftung für Inhalte und Links</a:t>
            </a:r>
            <a:endParaRPr lang="en-US" sz="1250" dirty="0"/>
          </a:p>
        </p:txBody>
      </p:sp>
      <p:sp>
        <p:nvSpPr>
          <p:cNvPr id="11" name="a006_f_510"/>
          <p:cNvSpPr/>
          <p:nvPr/>
        </p:nvSpPr>
        <p:spPr>
          <a:xfrm>
            <a:off x="6739128" y="3497580"/>
            <a:ext cx="118872" cy="118872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12" name="a006_f_511"/>
          <p:cNvSpPr txBox="1"/>
          <p:nvPr/>
        </p:nvSpPr>
        <p:spPr>
          <a:xfrm>
            <a:off x="69951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Von Anmeldung und Dispo-Links aus erreichbar</a:t>
            </a:r>
            <a:endParaRPr lang="en-US" sz="1250" dirty="0"/>
          </a:p>
        </p:txBody>
      </p:sp>
      <p:sp>
        <p:nvSpPr>
          <p:cNvPr id="13" name="a012_f_512"/>
          <p:cNvSpPr txBox="1"/>
          <p:nvPr/>
        </p:nvSpPr>
        <p:spPr>
          <a:xfrm>
            <a:off x="67208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4" name="a013_f_513"/>
          <p:cNvSpPr txBox="1"/>
          <p:nvPr/>
        </p:nvSpPr>
        <p:spPr>
          <a:xfrm>
            <a:off x="6720840" y="576072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284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28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Anmeldung</a:t>
            </a:r>
            <a:endParaRPr lang="en-US" sz="950" dirty="0"/>
          </a:p>
        </p:txBody>
      </p:sp>
      <p:sp>
        <p:nvSpPr>
          <p:cNvPr id="15" name="a013_f_514"/>
          <p:cNvSpPr txBox="1"/>
          <p:nvPr/>
        </p:nvSpPr>
        <p:spPr>
          <a:xfrm>
            <a:off x="7662672" y="576072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284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28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Datenschutzerklärung</a:t>
            </a:r>
            <a:endParaRPr lang="en-US" sz="950" dirty="0"/>
          </a:p>
        </p:txBody>
      </p:sp>
      <p:sp>
        <p:nvSpPr>
          <p:cNvPr id="16" name="a002_f_515"/>
          <p:cNvSpPr/>
          <p:nvPr/>
        </p:nvSpPr>
        <p:spPr>
          <a:xfrm>
            <a:off x="420624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17" name="a002_f_516" descr="/tmp/claude-0/-home-user-cutsheet/6324ba14-9edd-52e0-984d-db7baab43700/scratchpad/deck/img/_impressum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11618"/>
            <a:ext cx="5989320" cy="3743325"/>
          </a:xfrm>
          <a:prstGeom prst="rect">
            <a:avLst/>
          </a:prstGeom>
        </p:spPr>
      </p:pic>
      <p:sp>
        <p:nvSpPr>
          <p:cNvPr id="18" name="s_517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19" name="s_518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519"/>
          <p:cNvSpPr txBox="1"/>
          <p:nvPr/>
        </p:nvSpPr>
        <p:spPr>
          <a:xfrm>
            <a:off x="548640" y="502920"/>
            <a:ext cx="2254910" cy="292608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28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Zugang &amp; öffentliche Seiten</a:t>
            </a:r>
            <a:endParaRPr lang="en-US" sz="1000" dirty="0"/>
          </a:p>
        </p:txBody>
      </p:sp>
      <p:sp>
        <p:nvSpPr>
          <p:cNvPr id="3" name="a001_f_520"/>
          <p:cNvSpPr txBox="1"/>
          <p:nvPr/>
        </p:nvSpPr>
        <p:spPr>
          <a:xfrm>
            <a:off x="37947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7 von 69</a:t>
            </a:r>
            <a:endParaRPr lang="en-US" sz="950" dirty="0"/>
          </a:p>
        </p:txBody>
      </p:sp>
      <p:sp>
        <p:nvSpPr>
          <p:cNvPr id="4" name="a001_f_521"/>
          <p:cNvSpPr txBox="1"/>
          <p:nvPr/>
        </p:nvSpPr>
        <p:spPr>
          <a:xfrm>
            <a:off x="5486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Datenschutzerklärung</a:t>
            </a:r>
            <a:endParaRPr lang="en-US" sz="2800" dirty="0"/>
          </a:p>
        </p:txBody>
      </p:sp>
      <p:sp>
        <p:nvSpPr>
          <p:cNvPr id="5" name="a001_f_522"/>
          <p:cNvSpPr txBox="1"/>
          <p:nvPr/>
        </p:nvSpPr>
        <p:spPr>
          <a:xfrm>
            <a:off x="5486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/datenschutz</a:t>
            </a:r>
            <a:endParaRPr lang="en-US" sz="1050" dirty="0"/>
          </a:p>
        </p:txBody>
      </p:sp>
      <p:sp>
        <p:nvSpPr>
          <p:cNvPr id="6" name="a003_f_523"/>
          <p:cNvSpPr txBox="1"/>
          <p:nvPr/>
        </p:nvSpPr>
        <p:spPr>
          <a:xfrm>
            <a:off x="5486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CutSheet speichert, wofür, wie lange – und welche Rechte Nutzer haben.</a:t>
            </a:r>
            <a:endParaRPr lang="en-US" sz="1400" dirty="0"/>
          </a:p>
        </p:txBody>
      </p:sp>
      <p:sp>
        <p:nvSpPr>
          <p:cNvPr id="7" name="a004_f_524"/>
          <p:cNvSpPr/>
          <p:nvPr/>
        </p:nvSpPr>
        <p:spPr>
          <a:xfrm>
            <a:off x="566928" y="2811780"/>
            <a:ext cx="118872" cy="118872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8" name="a004_f_525"/>
          <p:cNvSpPr txBox="1"/>
          <p:nvPr/>
        </p:nvSpPr>
        <p:spPr>
          <a:xfrm>
            <a:off x="8229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Konto-, Produktions- und E-Mail-Daten</a:t>
            </a:r>
            <a:endParaRPr lang="en-US" sz="1250" dirty="0"/>
          </a:p>
        </p:txBody>
      </p:sp>
      <p:sp>
        <p:nvSpPr>
          <p:cNvPr id="9" name="a005_f_526"/>
          <p:cNvSpPr/>
          <p:nvPr/>
        </p:nvSpPr>
        <p:spPr>
          <a:xfrm>
            <a:off x="566928" y="3154680"/>
            <a:ext cx="118872" cy="118872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10" name="a005_f_527"/>
          <p:cNvSpPr txBox="1"/>
          <p:nvPr/>
        </p:nvSpPr>
        <p:spPr>
          <a:xfrm>
            <a:off x="8229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Push, Nutzungsanalyse (PostHog EU), lokale Speicherung</a:t>
            </a:r>
            <a:endParaRPr lang="en-US" sz="1250" dirty="0"/>
          </a:p>
        </p:txBody>
      </p:sp>
      <p:sp>
        <p:nvSpPr>
          <p:cNvPr id="11" name="a006_f_528"/>
          <p:cNvSpPr/>
          <p:nvPr/>
        </p:nvSpPr>
        <p:spPr>
          <a:xfrm>
            <a:off x="566928" y="3497580"/>
            <a:ext cx="118872" cy="118872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12" name="a006_f_529"/>
          <p:cNvSpPr txBox="1"/>
          <p:nvPr/>
        </p:nvSpPr>
        <p:spPr>
          <a:xfrm>
            <a:off x="8229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 und Speicherdauer</a:t>
            </a:r>
            <a:endParaRPr lang="en-US" sz="1250" dirty="0"/>
          </a:p>
        </p:txBody>
      </p:sp>
      <p:sp>
        <p:nvSpPr>
          <p:cNvPr id="13" name="a007_f_530"/>
          <p:cNvSpPr/>
          <p:nvPr/>
        </p:nvSpPr>
        <p:spPr>
          <a:xfrm>
            <a:off x="566928" y="3840480"/>
            <a:ext cx="118872" cy="118872"/>
          </a:xfrm>
          <a:prstGeom prst="ellipse">
            <a:avLst/>
          </a:prstGeom>
          <a:solidFill>
            <a:srgbClr val="A2845E"/>
          </a:solidFill>
          <a:ln/>
        </p:spPr>
      </p:sp>
      <p:sp>
        <p:nvSpPr>
          <p:cNvPr id="14" name="a007_f_531"/>
          <p:cNvSpPr txBox="1"/>
          <p:nvPr/>
        </p:nvSpPr>
        <p:spPr>
          <a:xfrm>
            <a:off x="8229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Auskunft, Löschung, Berichtigung, Widerspruch</a:t>
            </a:r>
            <a:endParaRPr lang="en-US" sz="1250" dirty="0"/>
          </a:p>
        </p:txBody>
      </p:sp>
      <p:sp>
        <p:nvSpPr>
          <p:cNvPr id="15" name="a012_f_532"/>
          <p:cNvSpPr txBox="1"/>
          <p:nvPr/>
        </p:nvSpPr>
        <p:spPr>
          <a:xfrm>
            <a:off x="5486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6" name="a013_f_533"/>
          <p:cNvSpPr txBox="1"/>
          <p:nvPr/>
        </p:nvSpPr>
        <p:spPr>
          <a:xfrm>
            <a:off x="548640" y="5760720"/>
            <a:ext cx="110642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363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36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Einstellungen</a:t>
            </a:r>
            <a:endParaRPr lang="en-US" sz="950" dirty="0"/>
          </a:p>
        </p:txBody>
      </p:sp>
      <p:sp>
        <p:nvSpPr>
          <p:cNvPr id="17" name="a013_f_534"/>
          <p:cNvSpPr txBox="1"/>
          <p:nvPr/>
        </p:nvSpPr>
        <p:spPr>
          <a:xfrm>
            <a:off x="1746504" y="576072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284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28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Anmeldung</a:t>
            </a:r>
            <a:endParaRPr lang="en-US" sz="950" dirty="0"/>
          </a:p>
        </p:txBody>
      </p:sp>
      <p:sp>
        <p:nvSpPr>
          <p:cNvPr id="18" name="a002_f_535"/>
          <p:cNvSpPr/>
          <p:nvPr/>
        </p:nvSpPr>
        <p:spPr>
          <a:xfrm>
            <a:off x="5617159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19" name="a002_f_536" descr="/tmp/claude-0/-home-user-cutsheet/6324ba14-9edd-52e0-984d-db7baab43700/scratchpad/deck/img/_datenschutz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455" y="1511618"/>
            <a:ext cx="5989320" cy="3743325"/>
          </a:xfrm>
          <a:prstGeom prst="rect">
            <a:avLst/>
          </a:prstGeom>
        </p:spPr>
      </p:pic>
      <p:sp>
        <p:nvSpPr>
          <p:cNvPr id="20" name="s_537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1" name="s_538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z_539"/>
          <p:cNvSpPr txBox="1"/>
          <p:nvPr/>
        </p:nvSpPr>
        <p:spPr>
          <a:xfrm>
            <a:off x="548640" y="8229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636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a002_f_540"/>
          <p:cNvSpPr txBox="1"/>
          <p:nvPr/>
        </p:nvSpPr>
        <p:spPr>
          <a:xfrm>
            <a:off x="548640" y="23317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Projekte, Konto &amp; Admin</a:t>
            </a:r>
            <a:endParaRPr lang="en-US" sz="3600" dirty="0"/>
          </a:p>
        </p:txBody>
      </p:sp>
      <p:sp>
        <p:nvSpPr>
          <p:cNvPr id="4" name="a003_f_541"/>
          <p:cNvSpPr txBox="1"/>
          <p:nvPr/>
        </p:nvSpPr>
        <p:spPr>
          <a:xfrm>
            <a:off x="548640" y="36576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Rahmen um jede Produktion: Projekte anlegen, das eigene Konto und die Verwaltung der Plattform.</a:t>
            </a:r>
            <a:endParaRPr lang="en-US" sz="1500" dirty="0"/>
          </a:p>
        </p:txBody>
      </p:sp>
      <p:sp>
        <p:nvSpPr>
          <p:cNvPr id="5" name="a003_f_542"/>
          <p:cNvSpPr txBox="1"/>
          <p:nvPr/>
        </p:nvSpPr>
        <p:spPr>
          <a:xfrm>
            <a:off x="548640" y="5029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36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Seiten</a:t>
            </a:r>
            <a:endParaRPr lang="en-US" sz="1300" dirty="0"/>
          </a:p>
        </p:txBody>
      </p:sp>
      <p:sp>
        <p:nvSpPr>
          <p:cNvPr id="6" name="a004_f_543"/>
          <p:cNvSpPr/>
          <p:nvPr/>
        </p:nvSpPr>
        <p:spPr>
          <a:xfrm>
            <a:off x="5897880" y="960120"/>
            <a:ext cx="146304" cy="146304"/>
          </a:xfrm>
          <a:prstGeom prst="ellipse">
            <a:avLst/>
          </a:prstGeom>
          <a:solidFill>
            <a:srgbClr val="636366"/>
          </a:solidFill>
          <a:ln/>
        </p:spPr>
      </p:sp>
      <p:sp>
        <p:nvSpPr>
          <p:cNvPr id="7" name="a004_f_544"/>
          <p:cNvSpPr txBox="1"/>
          <p:nvPr/>
        </p:nvSpPr>
        <p:spPr>
          <a:xfrm>
            <a:off x="621792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Meine Projekte</a:t>
            </a:r>
            <a:endParaRPr lang="en-US" sz="1600" dirty="0"/>
          </a:p>
        </p:txBody>
      </p:sp>
      <p:sp>
        <p:nvSpPr>
          <p:cNvPr id="8" name="a004_f_545"/>
          <p:cNvSpPr txBox="1"/>
          <p:nvPr/>
        </p:nvSpPr>
        <p:spPr>
          <a:xfrm>
            <a:off x="6217920" y="119786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Produktionen eines Kontos – der Startpunkt nach der Anmeldung.</a:t>
            </a:r>
            <a:endParaRPr lang="en-US" sz="1100" dirty="0"/>
          </a:p>
        </p:txBody>
      </p:sp>
      <p:sp>
        <p:nvSpPr>
          <p:cNvPr id="9" name="a005_f_546"/>
          <p:cNvSpPr/>
          <p:nvPr/>
        </p:nvSpPr>
        <p:spPr>
          <a:xfrm>
            <a:off x="5897880" y="1728216"/>
            <a:ext cx="146304" cy="146304"/>
          </a:xfrm>
          <a:prstGeom prst="ellipse">
            <a:avLst/>
          </a:prstGeom>
          <a:solidFill>
            <a:srgbClr val="636366"/>
          </a:solidFill>
          <a:ln/>
        </p:spPr>
      </p:sp>
      <p:sp>
        <p:nvSpPr>
          <p:cNvPr id="10" name="a005_f_547"/>
          <p:cNvSpPr txBox="1"/>
          <p:nvPr/>
        </p:nvSpPr>
        <p:spPr>
          <a:xfrm>
            <a:off x="6217920" y="163677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Neues Projekt &amp; Onboarding</a:t>
            </a:r>
            <a:endParaRPr lang="en-US" sz="1600" dirty="0"/>
          </a:p>
        </p:txBody>
      </p:sp>
      <p:sp>
        <p:nvSpPr>
          <p:cNvPr id="11" name="a005_f_548"/>
          <p:cNvSpPr txBox="1"/>
          <p:nvPr/>
        </p:nvSpPr>
        <p:spPr>
          <a:xfrm>
            <a:off x="621792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Legt eine Produktion an – mit Assistent, Vorlagen und Drehbuch-Import.</a:t>
            </a:r>
            <a:endParaRPr lang="en-US" sz="1100" dirty="0"/>
          </a:p>
        </p:txBody>
      </p:sp>
      <p:sp>
        <p:nvSpPr>
          <p:cNvPr id="12" name="a006_f_549"/>
          <p:cNvSpPr/>
          <p:nvPr/>
        </p:nvSpPr>
        <p:spPr>
          <a:xfrm>
            <a:off x="5897880" y="2496312"/>
            <a:ext cx="146304" cy="146304"/>
          </a:xfrm>
          <a:prstGeom prst="ellipse">
            <a:avLst/>
          </a:prstGeom>
          <a:solidFill>
            <a:srgbClr val="636366"/>
          </a:solidFill>
          <a:ln/>
        </p:spPr>
      </p:sp>
      <p:sp>
        <p:nvSpPr>
          <p:cNvPr id="13" name="a006_f_550"/>
          <p:cNvSpPr txBox="1"/>
          <p:nvPr/>
        </p:nvSpPr>
        <p:spPr>
          <a:xfrm>
            <a:off x="6217920" y="24048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Einstellungen</a:t>
            </a:r>
            <a:endParaRPr lang="en-US" sz="1600" dirty="0"/>
          </a:p>
        </p:txBody>
      </p:sp>
      <p:sp>
        <p:nvSpPr>
          <p:cNvPr id="14" name="a006_f_551"/>
          <p:cNvSpPr txBox="1"/>
          <p:nvPr/>
        </p:nvSpPr>
        <p:spPr>
          <a:xfrm>
            <a:off x="6217920" y="273405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eigene Konto: Profil, Sicherheit, Darstellung, Benachrichtigungen, Daten.</a:t>
            </a:r>
            <a:endParaRPr lang="en-US" sz="1100" dirty="0"/>
          </a:p>
        </p:txBody>
      </p:sp>
      <p:sp>
        <p:nvSpPr>
          <p:cNvPr id="15" name="a007_f_552"/>
          <p:cNvSpPr/>
          <p:nvPr/>
        </p:nvSpPr>
        <p:spPr>
          <a:xfrm>
            <a:off x="5897880" y="3264408"/>
            <a:ext cx="146304" cy="146304"/>
          </a:xfrm>
          <a:prstGeom prst="ellipse">
            <a:avLst/>
          </a:prstGeom>
          <a:solidFill>
            <a:srgbClr val="636366"/>
          </a:solidFill>
          <a:ln/>
        </p:spPr>
      </p:sp>
      <p:sp>
        <p:nvSpPr>
          <p:cNvPr id="16" name="a007_f_553"/>
          <p:cNvSpPr txBox="1"/>
          <p:nvPr/>
        </p:nvSpPr>
        <p:spPr>
          <a:xfrm>
            <a:off x="6217920" y="31729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Panel</a:t>
            </a:r>
            <a:endParaRPr lang="en-US" sz="1600" dirty="0"/>
          </a:p>
        </p:txBody>
      </p:sp>
      <p:sp>
        <p:nvSpPr>
          <p:cNvPr id="17" name="a007_f_554"/>
          <p:cNvSpPr txBox="1"/>
          <p:nvPr/>
        </p:nvSpPr>
        <p:spPr>
          <a:xfrm>
            <a:off x="6217920" y="35021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Verwaltung der ganzen Plattform: Nutzer, Projekte, System und Testprojekt.</a:t>
            </a:r>
            <a:endParaRPr lang="en-US" sz="1100" dirty="0"/>
          </a:p>
        </p:txBody>
      </p:sp>
      <p:sp>
        <p:nvSpPr>
          <p:cNvPr id="18" name="a008_f_555"/>
          <p:cNvSpPr/>
          <p:nvPr/>
        </p:nvSpPr>
        <p:spPr>
          <a:xfrm>
            <a:off x="5897880" y="4032504"/>
            <a:ext cx="146304" cy="146304"/>
          </a:xfrm>
          <a:prstGeom prst="ellipse">
            <a:avLst/>
          </a:prstGeom>
          <a:solidFill>
            <a:srgbClr val="636366"/>
          </a:solidFill>
          <a:ln/>
        </p:spPr>
      </p:sp>
      <p:sp>
        <p:nvSpPr>
          <p:cNvPr id="19" name="a008_f_556"/>
          <p:cNvSpPr txBox="1"/>
          <p:nvPr/>
        </p:nvSpPr>
        <p:spPr>
          <a:xfrm>
            <a:off x="6217920" y="394106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Admin-Statistiken</a:t>
            </a:r>
            <a:endParaRPr lang="en-US" sz="1600" dirty="0"/>
          </a:p>
        </p:txBody>
      </p:sp>
      <p:sp>
        <p:nvSpPr>
          <p:cNvPr id="20" name="a008_f_557"/>
          <p:cNvSpPr txBox="1"/>
          <p:nvPr/>
        </p:nvSpPr>
        <p:spPr>
          <a:xfrm>
            <a:off x="6217920" y="42702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die Plattform genutzt wird – und was Nutzer zurückmelden.</a:t>
            </a:r>
            <a:endParaRPr lang="en-US" sz="1100" dirty="0"/>
          </a:p>
        </p:txBody>
      </p:sp>
      <p:sp>
        <p:nvSpPr>
          <p:cNvPr id="21" name="s_558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2" name="s_559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36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560"/>
          <p:cNvSpPr txBox="1"/>
          <p:nvPr/>
        </p:nvSpPr>
        <p:spPr>
          <a:xfrm>
            <a:off x="6720840" y="502920"/>
            <a:ext cx="1969618" cy="292608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Projekte, Konto &amp; Admin</a:t>
            </a:r>
            <a:endParaRPr lang="en-US" sz="1000" dirty="0"/>
          </a:p>
        </p:txBody>
      </p:sp>
      <p:sp>
        <p:nvSpPr>
          <p:cNvPr id="3" name="a001_f_561"/>
          <p:cNvSpPr txBox="1"/>
          <p:nvPr/>
        </p:nvSpPr>
        <p:spPr>
          <a:xfrm>
            <a:off x="99669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8 von 69</a:t>
            </a:r>
            <a:endParaRPr lang="en-US" sz="950" dirty="0"/>
          </a:p>
        </p:txBody>
      </p:sp>
      <p:sp>
        <p:nvSpPr>
          <p:cNvPr id="4" name="a001_f_562"/>
          <p:cNvSpPr txBox="1"/>
          <p:nvPr/>
        </p:nvSpPr>
        <p:spPr>
          <a:xfrm>
            <a:off x="67208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Meine Projekte</a:t>
            </a:r>
            <a:endParaRPr lang="en-US" sz="3200" dirty="0"/>
          </a:p>
        </p:txBody>
      </p:sp>
      <p:sp>
        <p:nvSpPr>
          <p:cNvPr id="5" name="a001_f_563"/>
          <p:cNvSpPr txBox="1"/>
          <p:nvPr/>
        </p:nvSpPr>
        <p:spPr>
          <a:xfrm>
            <a:off x="67208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050" dirty="0"/>
          </a:p>
        </p:txBody>
      </p:sp>
      <p:sp>
        <p:nvSpPr>
          <p:cNvPr id="6" name="a003_f_564"/>
          <p:cNvSpPr txBox="1"/>
          <p:nvPr/>
        </p:nvSpPr>
        <p:spPr>
          <a:xfrm>
            <a:off x="67208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Produktionen eines Kontos – der Startpunkt nach der Anmeldung.</a:t>
            </a:r>
            <a:endParaRPr lang="en-US" sz="1400" dirty="0"/>
          </a:p>
        </p:txBody>
      </p:sp>
      <p:sp>
        <p:nvSpPr>
          <p:cNvPr id="7" name="a004_f_565"/>
          <p:cNvSpPr/>
          <p:nvPr/>
        </p:nvSpPr>
        <p:spPr>
          <a:xfrm>
            <a:off x="6739128" y="2811780"/>
            <a:ext cx="118872" cy="118872"/>
          </a:xfrm>
          <a:prstGeom prst="ellipse">
            <a:avLst/>
          </a:prstGeom>
          <a:solidFill>
            <a:srgbClr val="636366"/>
          </a:solidFill>
          <a:ln/>
        </p:spPr>
      </p:sp>
      <p:sp>
        <p:nvSpPr>
          <p:cNvPr id="8" name="a004_f_566"/>
          <p:cNvSpPr txBox="1"/>
          <p:nvPr/>
        </p:nvSpPr>
        <p:spPr>
          <a:xfrm>
            <a:off x="69951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Projekte mit Format, Genre, Regie, Status und Zeitraum</a:t>
            </a:r>
            <a:endParaRPr lang="en-US" sz="1250" dirty="0"/>
          </a:p>
        </p:txBody>
      </p:sp>
      <p:sp>
        <p:nvSpPr>
          <p:cNvPr id="9" name="a005_f_567"/>
          <p:cNvSpPr/>
          <p:nvPr/>
        </p:nvSpPr>
        <p:spPr>
          <a:xfrm>
            <a:off x="6739128" y="3154680"/>
            <a:ext cx="118872" cy="118872"/>
          </a:xfrm>
          <a:prstGeom prst="ellipse">
            <a:avLst/>
          </a:prstGeom>
          <a:solidFill>
            <a:srgbClr val="636366"/>
          </a:solidFill>
          <a:ln/>
        </p:spPr>
      </p:sp>
      <p:sp>
        <p:nvSpPr>
          <p:cNvPr id="10" name="a005_f_568"/>
          <p:cNvSpPr txBox="1"/>
          <p:nvPr/>
        </p:nvSpPr>
        <p:spPr>
          <a:xfrm>
            <a:off x="69951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Neues Projekt anlegen</a:t>
            </a:r>
            <a:endParaRPr lang="en-US" sz="1250" dirty="0"/>
          </a:p>
        </p:txBody>
      </p:sp>
      <p:sp>
        <p:nvSpPr>
          <p:cNvPr id="11" name="a006_f_569"/>
          <p:cNvSpPr/>
          <p:nvPr/>
        </p:nvSpPr>
        <p:spPr>
          <a:xfrm>
            <a:off x="6739128" y="3497580"/>
            <a:ext cx="118872" cy="118872"/>
          </a:xfrm>
          <a:prstGeom prst="ellipse">
            <a:avLst/>
          </a:prstGeom>
          <a:solidFill>
            <a:srgbClr val="636366"/>
          </a:solidFill>
          <a:ln/>
        </p:spPr>
      </p:sp>
      <p:sp>
        <p:nvSpPr>
          <p:cNvPr id="12" name="a006_f_570"/>
          <p:cNvSpPr txBox="1"/>
          <p:nvPr/>
        </p:nvSpPr>
        <p:spPr>
          <a:xfrm>
            <a:off x="69951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Duplizieren, archivieren, löschen</a:t>
            </a:r>
            <a:endParaRPr lang="en-US" sz="1250" dirty="0"/>
          </a:p>
        </p:txBody>
      </p:sp>
      <p:sp>
        <p:nvSpPr>
          <p:cNvPr id="13" name="a007_f_571"/>
          <p:cNvSpPr/>
          <p:nvPr/>
        </p:nvSpPr>
        <p:spPr>
          <a:xfrm>
            <a:off x="6739128" y="3840480"/>
            <a:ext cx="118872" cy="118872"/>
          </a:xfrm>
          <a:prstGeom prst="ellipse">
            <a:avLst/>
          </a:prstGeom>
          <a:solidFill>
            <a:srgbClr val="636366"/>
          </a:solidFill>
          <a:ln/>
        </p:spPr>
      </p:sp>
      <p:sp>
        <p:nvSpPr>
          <p:cNvPr id="14" name="a007_f_572"/>
          <p:cNvSpPr txBox="1"/>
          <p:nvPr/>
        </p:nvSpPr>
        <p:spPr>
          <a:xfrm>
            <a:off x="69951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 ein- und ausblenden</a:t>
            </a:r>
            <a:endParaRPr lang="en-US" sz="1250" dirty="0"/>
          </a:p>
        </p:txBody>
      </p:sp>
      <p:sp>
        <p:nvSpPr>
          <p:cNvPr id="15" name="a008_f_573"/>
          <p:cNvSpPr/>
          <p:nvPr/>
        </p:nvSpPr>
        <p:spPr>
          <a:xfrm>
            <a:off x="6739128" y="4183380"/>
            <a:ext cx="118872" cy="118872"/>
          </a:xfrm>
          <a:prstGeom prst="ellipse">
            <a:avLst/>
          </a:prstGeom>
          <a:solidFill>
            <a:srgbClr val="636366"/>
          </a:solidFill>
          <a:ln/>
        </p:spPr>
      </p:sp>
      <p:sp>
        <p:nvSpPr>
          <p:cNvPr id="16" name="a008_f_574"/>
          <p:cNvSpPr txBox="1"/>
          <p:nvPr/>
        </p:nvSpPr>
        <p:spPr>
          <a:xfrm>
            <a:off x="6995160" y="41148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Film- und Creator-Projekte nebeneinander</a:t>
            </a:r>
            <a:endParaRPr lang="en-US" sz="1250" dirty="0"/>
          </a:p>
        </p:txBody>
      </p:sp>
      <p:sp>
        <p:nvSpPr>
          <p:cNvPr id="17" name="a012_f_575"/>
          <p:cNvSpPr txBox="1"/>
          <p:nvPr/>
        </p:nvSpPr>
        <p:spPr>
          <a:xfrm>
            <a:off x="67208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8" name="a013_f_576"/>
          <p:cNvSpPr txBox="1"/>
          <p:nvPr/>
        </p:nvSpPr>
        <p:spPr>
          <a:xfrm>
            <a:off x="6720840" y="5760720"/>
            <a:ext cx="110642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363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36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Neues Projekt</a:t>
            </a:r>
            <a:endParaRPr lang="en-US" sz="950" dirty="0"/>
          </a:p>
        </p:txBody>
      </p:sp>
      <p:sp>
        <p:nvSpPr>
          <p:cNvPr id="19" name="a013_f_577"/>
          <p:cNvSpPr txBox="1"/>
          <p:nvPr/>
        </p:nvSpPr>
        <p:spPr>
          <a:xfrm>
            <a:off x="7918704" y="576072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71E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50" dirty="0"/>
          </a:p>
        </p:txBody>
      </p:sp>
      <p:sp>
        <p:nvSpPr>
          <p:cNvPr id="20" name="a013_f_578"/>
          <p:cNvSpPr txBox="1"/>
          <p:nvPr/>
        </p:nvSpPr>
        <p:spPr>
          <a:xfrm>
            <a:off x="8860536" y="5760720"/>
            <a:ext cx="136245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Creator-Dashboard</a:t>
            </a:r>
            <a:endParaRPr lang="en-US" sz="950" dirty="0"/>
          </a:p>
        </p:txBody>
      </p:sp>
      <p:sp>
        <p:nvSpPr>
          <p:cNvPr id="21" name="a013_f_579"/>
          <p:cNvSpPr txBox="1"/>
          <p:nvPr/>
        </p:nvSpPr>
        <p:spPr>
          <a:xfrm>
            <a:off x="10314432" y="5760720"/>
            <a:ext cx="110642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363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36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Einstellungen</a:t>
            </a:r>
            <a:endParaRPr lang="en-US" sz="950" dirty="0"/>
          </a:p>
        </p:txBody>
      </p:sp>
      <p:sp>
        <p:nvSpPr>
          <p:cNvPr id="22" name="a002_f_580"/>
          <p:cNvSpPr/>
          <p:nvPr/>
        </p:nvSpPr>
        <p:spPr>
          <a:xfrm>
            <a:off x="420624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3" name="a002_f_581" descr="/tmp/claude-0/-home-user-cutsheet/6324ba14-9edd-52e0-984d-db7baab43700/scratchpad/deck/img/_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11618"/>
            <a:ext cx="5989320" cy="3743325"/>
          </a:xfrm>
          <a:prstGeom prst="rect">
            <a:avLst/>
          </a:prstGeom>
        </p:spPr>
      </p:pic>
      <p:sp>
        <p:nvSpPr>
          <p:cNvPr id="24" name="s_582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5" name="s_58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48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584"/>
          <p:cNvSpPr txBox="1"/>
          <p:nvPr/>
        </p:nvSpPr>
        <p:spPr>
          <a:xfrm>
            <a:off x="548640" y="502920"/>
            <a:ext cx="1969618" cy="292608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Projekte, Konto &amp; Admin</a:t>
            </a:r>
            <a:endParaRPr lang="en-US" sz="1000" dirty="0"/>
          </a:p>
        </p:txBody>
      </p:sp>
      <p:sp>
        <p:nvSpPr>
          <p:cNvPr id="3" name="a001_f_585"/>
          <p:cNvSpPr txBox="1"/>
          <p:nvPr/>
        </p:nvSpPr>
        <p:spPr>
          <a:xfrm>
            <a:off x="37947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9 von 69</a:t>
            </a:r>
            <a:endParaRPr lang="en-US" sz="950" dirty="0"/>
          </a:p>
        </p:txBody>
      </p:sp>
      <p:sp>
        <p:nvSpPr>
          <p:cNvPr id="4" name="a001_f_586"/>
          <p:cNvSpPr txBox="1"/>
          <p:nvPr/>
        </p:nvSpPr>
        <p:spPr>
          <a:xfrm>
            <a:off x="5486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Neues Projekt &amp; Onboarding</a:t>
            </a:r>
            <a:endParaRPr lang="en-US" sz="2400" dirty="0"/>
          </a:p>
        </p:txBody>
      </p:sp>
      <p:sp>
        <p:nvSpPr>
          <p:cNvPr id="5" name="a001_f_587"/>
          <p:cNvSpPr txBox="1"/>
          <p:nvPr/>
        </p:nvSpPr>
        <p:spPr>
          <a:xfrm>
            <a:off x="5486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(Dialog)</a:t>
            </a:r>
            <a:endParaRPr lang="en-US" sz="1050" dirty="0"/>
          </a:p>
        </p:txBody>
      </p:sp>
      <p:sp>
        <p:nvSpPr>
          <p:cNvPr id="6" name="a003_f_588"/>
          <p:cNvSpPr txBox="1"/>
          <p:nvPr/>
        </p:nvSpPr>
        <p:spPr>
          <a:xfrm>
            <a:off x="5486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Legt eine Produktion an – mit Assistent, Vorlagen und Drehbuch-Import.</a:t>
            </a:r>
            <a:endParaRPr lang="en-US" sz="1400" dirty="0"/>
          </a:p>
        </p:txBody>
      </p:sp>
      <p:sp>
        <p:nvSpPr>
          <p:cNvPr id="7" name="a004_f_589"/>
          <p:cNvSpPr/>
          <p:nvPr/>
        </p:nvSpPr>
        <p:spPr>
          <a:xfrm>
            <a:off x="566928" y="2811780"/>
            <a:ext cx="118872" cy="118872"/>
          </a:xfrm>
          <a:prstGeom prst="ellipse">
            <a:avLst/>
          </a:prstGeom>
          <a:solidFill>
            <a:srgbClr val="636366"/>
          </a:solidFill>
          <a:ln/>
        </p:spPr>
      </p:sp>
      <p:sp>
        <p:nvSpPr>
          <p:cNvPr id="8" name="a004_f_590"/>
          <p:cNvSpPr txBox="1"/>
          <p:nvPr/>
        </p:nvSpPr>
        <p:spPr>
          <a:xfrm>
            <a:off x="8229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Titel, Genre, Format, Regie, Produktion</a:t>
            </a:r>
            <a:endParaRPr lang="en-US" sz="1250" dirty="0"/>
          </a:p>
        </p:txBody>
      </p:sp>
      <p:sp>
        <p:nvSpPr>
          <p:cNvPr id="9" name="a005_f_591"/>
          <p:cNvSpPr/>
          <p:nvPr/>
        </p:nvSpPr>
        <p:spPr>
          <a:xfrm>
            <a:off x="566928" y="3154680"/>
            <a:ext cx="118872" cy="118872"/>
          </a:xfrm>
          <a:prstGeom prst="ellipse">
            <a:avLst/>
          </a:prstGeom>
          <a:solidFill>
            <a:srgbClr val="636366"/>
          </a:solidFill>
          <a:ln/>
        </p:spPr>
      </p:sp>
      <p:sp>
        <p:nvSpPr>
          <p:cNvPr id="10" name="a005_f_592"/>
          <p:cNvSpPr txBox="1"/>
          <p:nvPr/>
        </p:nvSpPr>
        <p:spPr>
          <a:xfrm>
            <a:off x="822960" y="3086100"/>
            <a:ext cx="4617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Vorlagen: Kurzfilm, Spielfilm, Werbung, Doku, Serie, Musikvideo</a:t>
            </a:r>
            <a:endParaRPr lang="en-US" sz="1250" dirty="0"/>
          </a:p>
        </p:txBody>
      </p:sp>
      <p:sp>
        <p:nvSpPr>
          <p:cNvPr id="11" name="a006_f_593"/>
          <p:cNvSpPr/>
          <p:nvPr/>
        </p:nvSpPr>
        <p:spPr>
          <a:xfrm>
            <a:off x="566928" y="3712464"/>
            <a:ext cx="118872" cy="118872"/>
          </a:xfrm>
          <a:prstGeom prst="ellipse">
            <a:avLst/>
          </a:prstGeom>
          <a:solidFill>
            <a:srgbClr val="636366"/>
          </a:solidFill>
          <a:ln/>
        </p:spPr>
      </p:sp>
      <p:sp>
        <p:nvSpPr>
          <p:cNvPr id="12" name="a006_f_594"/>
          <p:cNvSpPr txBox="1"/>
          <p:nvPr/>
        </p:nvSpPr>
        <p:spPr>
          <a:xfrm>
            <a:off x="822960" y="3643884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Assistent beim ersten Start: Projekt, Team, Drehbuch</a:t>
            </a:r>
            <a:endParaRPr lang="en-US" sz="1250" dirty="0"/>
          </a:p>
        </p:txBody>
      </p:sp>
      <p:sp>
        <p:nvSpPr>
          <p:cNvPr id="13" name="a007_f_595"/>
          <p:cNvSpPr/>
          <p:nvPr/>
        </p:nvSpPr>
        <p:spPr>
          <a:xfrm>
            <a:off x="566928" y="4055364"/>
            <a:ext cx="118872" cy="118872"/>
          </a:xfrm>
          <a:prstGeom prst="ellipse">
            <a:avLst/>
          </a:prstGeom>
          <a:solidFill>
            <a:srgbClr val="636366"/>
          </a:solidFill>
          <a:ln/>
        </p:spPr>
      </p:sp>
      <p:sp>
        <p:nvSpPr>
          <p:cNvPr id="14" name="a007_f_596"/>
          <p:cNvSpPr txBox="1"/>
          <p:nvPr/>
        </p:nvSpPr>
        <p:spPr>
          <a:xfrm>
            <a:off x="822960" y="3986784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Drehbuch-Import (Final Draft, Celtx, Fountain)</a:t>
            </a:r>
            <a:endParaRPr lang="en-US" sz="1250" dirty="0"/>
          </a:p>
        </p:txBody>
      </p:sp>
      <p:sp>
        <p:nvSpPr>
          <p:cNvPr id="15" name="a008_f_597"/>
          <p:cNvSpPr/>
          <p:nvPr/>
        </p:nvSpPr>
        <p:spPr>
          <a:xfrm>
            <a:off x="566928" y="4398264"/>
            <a:ext cx="118872" cy="118872"/>
          </a:xfrm>
          <a:prstGeom prst="ellipse">
            <a:avLst/>
          </a:prstGeom>
          <a:solidFill>
            <a:srgbClr val="636366"/>
          </a:solidFill>
          <a:ln/>
        </p:spPr>
      </p:sp>
      <p:sp>
        <p:nvSpPr>
          <p:cNvPr id="16" name="a008_f_598"/>
          <p:cNvSpPr txBox="1"/>
          <p:nvPr/>
        </p:nvSpPr>
        <p:spPr>
          <a:xfrm>
            <a:off x="822960" y="4329684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Szenen, Motive und Figuren entstehen automatisch</a:t>
            </a:r>
            <a:endParaRPr lang="en-US" sz="1250" dirty="0"/>
          </a:p>
        </p:txBody>
      </p:sp>
      <p:sp>
        <p:nvSpPr>
          <p:cNvPr id="17" name="a012_f_599"/>
          <p:cNvSpPr txBox="1"/>
          <p:nvPr/>
        </p:nvSpPr>
        <p:spPr>
          <a:xfrm>
            <a:off x="5486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8" name="a013_f_600"/>
          <p:cNvSpPr txBox="1"/>
          <p:nvPr/>
        </p:nvSpPr>
        <p:spPr>
          <a:xfrm>
            <a:off x="548640" y="5760720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363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36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Meine Projekte</a:t>
            </a:r>
            <a:endParaRPr lang="en-US" sz="950" dirty="0"/>
          </a:p>
        </p:txBody>
      </p:sp>
      <p:sp>
        <p:nvSpPr>
          <p:cNvPr id="19" name="a013_f_601"/>
          <p:cNvSpPr txBox="1"/>
          <p:nvPr/>
        </p:nvSpPr>
        <p:spPr>
          <a:xfrm>
            <a:off x="1810512" y="5760720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F52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</a:t>
            </a:r>
            <a:endParaRPr lang="en-US" sz="950" dirty="0"/>
          </a:p>
        </p:txBody>
      </p:sp>
      <p:sp>
        <p:nvSpPr>
          <p:cNvPr id="20" name="a013_f_602"/>
          <p:cNvSpPr txBox="1"/>
          <p:nvPr/>
        </p:nvSpPr>
        <p:spPr>
          <a:xfrm>
            <a:off x="2560320" y="576072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71E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Stammdaten</a:t>
            </a:r>
            <a:endParaRPr lang="en-US" sz="950" dirty="0"/>
          </a:p>
        </p:txBody>
      </p:sp>
      <p:sp>
        <p:nvSpPr>
          <p:cNvPr id="21" name="a002_f_603"/>
          <p:cNvSpPr/>
          <p:nvPr/>
        </p:nvSpPr>
        <p:spPr>
          <a:xfrm>
            <a:off x="5617159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2" name="a002_f_604" descr="/tmp/claude-0/-home-user-cutsheet/6324ba14-9edd-52e0-984d-db7baab43700/scratchpad/deck/img/_neu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455" y="1511618"/>
            <a:ext cx="5989320" cy="3743325"/>
          </a:xfrm>
          <a:prstGeom prst="rect">
            <a:avLst/>
          </a:prstGeom>
        </p:spPr>
      </p:pic>
      <p:sp>
        <p:nvSpPr>
          <p:cNvPr id="23" name="s_605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4" name="s_606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607"/>
          <p:cNvSpPr txBox="1"/>
          <p:nvPr/>
        </p:nvSpPr>
        <p:spPr>
          <a:xfrm>
            <a:off x="6720840" y="502920"/>
            <a:ext cx="1969618" cy="292608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Projekte, Konto &amp; Admin</a:t>
            </a:r>
            <a:endParaRPr lang="en-US" sz="1000" dirty="0"/>
          </a:p>
        </p:txBody>
      </p:sp>
      <p:sp>
        <p:nvSpPr>
          <p:cNvPr id="3" name="a001_f_608"/>
          <p:cNvSpPr txBox="1"/>
          <p:nvPr/>
        </p:nvSpPr>
        <p:spPr>
          <a:xfrm>
            <a:off x="99669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10 von 69</a:t>
            </a:r>
            <a:endParaRPr lang="en-US" sz="950" dirty="0"/>
          </a:p>
        </p:txBody>
      </p:sp>
      <p:sp>
        <p:nvSpPr>
          <p:cNvPr id="4" name="a001_f_609"/>
          <p:cNvSpPr txBox="1"/>
          <p:nvPr/>
        </p:nvSpPr>
        <p:spPr>
          <a:xfrm>
            <a:off x="67208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Einstellungen</a:t>
            </a:r>
            <a:endParaRPr lang="en-US" sz="3200" dirty="0"/>
          </a:p>
        </p:txBody>
      </p:sp>
      <p:sp>
        <p:nvSpPr>
          <p:cNvPr id="5" name="a001_f_610"/>
          <p:cNvSpPr txBox="1"/>
          <p:nvPr/>
        </p:nvSpPr>
        <p:spPr>
          <a:xfrm>
            <a:off x="67208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/settings</a:t>
            </a:r>
            <a:endParaRPr lang="en-US" sz="1050" dirty="0"/>
          </a:p>
        </p:txBody>
      </p:sp>
      <p:sp>
        <p:nvSpPr>
          <p:cNvPr id="6" name="a003_f_611"/>
          <p:cNvSpPr txBox="1"/>
          <p:nvPr/>
        </p:nvSpPr>
        <p:spPr>
          <a:xfrm>
            <a:off x="67208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eigene Konto: Profil, Sicherheit, Darstellung, Benachrichtigungen, Daten.</a:t>
            </a:r>
            <a:endParaRPr lang="en-US" sz="1400" dirty="0"/>
          </a:p>
        </p:txBody>
      </p:sp>
      <p:sp>
        <p:nvSpPr>
          <p:cNvPr id="7" name="a004_f_612"/>
          <p:cNvSpPr/>
          <p:nvPr/>
        </p:nvSpPr>
        <p:spPr>
          <a:xfrm>
            <a:off x="6739128" y="2811780"/>
            <a:ext cx="118872" cy="118872"/>
          </a:xfrm>
          <a:prstGeom prst="ellipse">
            <a:avLst/>
          </a:prstGeom>
          <a:solidFill>
            <a:srgbClr val="636366"/>
          </a:solidFill>
          <a:ln/>
        </p:spPr>
      </p:sp>
      <p:sp>
        <p:nvSpPr>
          <p:cNvPr id="8" name="a004_f_613"/>
          <p:cNvSpPr txBox="1"/>
          <p:nvPr/>
        </p:nvSpPr>
        <p:spPr>
          <a:xfrm>
            <a:off x="69951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ändern, Passwort ändern</a:t>
            </a:r>
            <a:endParaRPr lang="en-US" sz="1250" dirty="0"/>
          </a:p>
        </p:txBody>
      </p:sp>
      <p:sp>
        <p:nvSpPr>
          <p:cNvPr id="9" name="a005_f_614"/>
          <p:cNvSpPr/>
          <p:nvPr/>
        </p:nvSpPr>
        <p:spPr>
          <a:xfrm>
            <a:off x="6739128" y="3154680"/>
            <a:ext cx="118872" cy="118872"/>
          </a:xfrm>
          <a:prstGeom prst="ellipse">
            <a:avLst/>
          </a:prstGeom>
          <a:solidFill>
            <a:srgbClr val="636366"/>
          </a:solidFill>
          <a:ln/>
        </p:spPr>
      </p:sp>
      <p:sp>
        <p:nvSpPr>
          <p:cNvPr id="10" name="a005_f_615"/>
          <p:cNvSpPr txBox="1"/>
          <p:nvPr/>
        </p:nvSpPr>
        <p:spPr>
          <a:xfrm>
            <a:off x="69951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 / Dunkel</a:t>
            </a:r>
            <a:endParaRPr lang="en-US" sz="1250" dirty="0"/>
          </a:p>
        </p:txBody>
      </p:sp>
      <p:sp>
        <p:nvSpPr>
          <p:cNvPr id="11" name="a006_f_616"/>
          <p:cNvSpPr/>
          <p:nvPr/>
        </p:nvSpPr>
        <p:spPr>
          <a:xfrm>
            <a:off x="6739128" y="3497580"/>
            <a:ext cx="118872" cy="118872"/>
          </a:xfrm>
          <a:prstGeom prst="ellipse">
            <a:avLst/>
          </a:prstGeom>
          <a:solidFill>
            <a:srgbClr val="636366"/>
          </a:solidFill>
          <a:ln/>
        </p:spPr>
      </p:sp>
      <p:sp>
        <p:nvSpPr>
          <p:cNvPr id="12" name="a006_f_617"/>
          <p:cNvSpPr txBox="1"/>
          <p:nvPr/>
        </p:nvSpPr>
        <p:spPr>
          <a:xfrm>
            <a:off x="6995160" y="3429000"/>
            <a:ext cx="4617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Push-Benachrichtigungen bei Dispo-Versand und Zeitänderungen</a:t>
            </a:r>
            <a:endParaRPr lang="en-US" sz="1250" dirty="0"/>
          </a:p>
        </p:txBody>
      </p:sp>
      <p:sp>
        <p:nvSpPr>
          <p:cNvPr id="13" name="a007_f_618"/>
          <p:cNvSpPr/>
          <p:nvPr/>
        </p:nvSpPr>
        <p:spPr>
          <a:xfrm>
            <a:off x="6739128" y="4055364"/>
            <a:ext cx="118872" cy="118872"/>
          </a:xfrm>
          <a:prstGeom prst="ellipse">
            <a:avLst/>
          </a:prstGeom>
          <a:solidFill>
            <a:srgbClr val="636366"/>
          </a:solidFill>
          <a:ln/>
        </p:spPr>
      </p:sp>
      <p:sp>
        <p:nvSpPr>
          <p:cNvPr id="14" name="a007_f_619"/>
          <p:cNvSpPr txBox="1"/>
          <p:nvPr/>
        </p:nvSpPr>
        <p:spPr>
          <a:xfrm>
            <a:off x="6995160" y="3986784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eigenen Daten als JSON exportieren (DSGVO Art. 20)</a:t>
            </a:r>
            <a:endParaRPr lang="en-US" sz="1250" dirty="0"/>
          </a:p>
        </p:txBody>
      </p:sp>
      <p:sp>
        <p:nvSpPr>
          <p:cNvPr id="15" name="a008_f_620"/>
          <p:cNvSpPr/>
          <p:nvPr/>
        </p:nvSpPr>
        <p:spPr>
          <a:xfrm>
            <a:off x="6739128" y="4398264"/>
            <a:ext cx="118872" cy="118872"/>
          </a:xfrm>
          <a:prstGeom prst="ellipse">
            <a:avLst/>
          </a:prstGeom>
          <a:solidFill>
            <a:srgbClr val="636366"/>
          </a:solidFill>
          <a:ln/>
        </p:spPr>
      </p:sp>
      <p:sp>
        <p:nvSpPr>
          <p:cNvPr id="16" name="a008_f_621"/>
          <p:cNvSpPr txBox="1"/>
          <p:nvPr/>
        </p:nvSpPr>
        <p:spPr>
          <a:xfrm>
            <a:off x="6995160" y="4329684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Konto löschen mit Passwort-Bestätigung</a:t>
            </a:r>
            <a:endParaRPr lang="en-US" sz="1250" dirty="0"/>
          </a:p>
        </p:txBody>
      </p:sp>
      <p:sp>
        <p:nvSpPr>
          <p:cNvPr id="17" name="a012_f_622"/>
          <p:cNvSpPr txBox="1"/>
          <p:nvPr/>
        </p:nvSpPr>
        <p:spPr>
          <a:xfrm>
            <a:off x="67208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8" name="a013_f_623"/>
          <p:cNvSpPr txBox="1"/>
          <p:nvPr/>
        </p:nvSpPr>
        <p:spPr>
          <a:xfrm>
            <a:off x="6720840" y="5760720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363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36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Meine Projekte</a:t>
            </a:r>
            <a:endParaRPr lang="en-US" sz="950" dirty="0"/>
          </a:p>
        </p:txBody>
      </p:sp>
      <p:sp>
        <p:nvSpPr>
          <p:cNvPr id="19" name="a013_f_624"/>
          <p:cNvSpPr txBox="1"/>
          <p:nvPr/>
        </p:nvSpPr>
        <p:spPr>
          <a:xfrm>
            <a:off x="7982712" y="576072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284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28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Datenschutzerklärung</a:t>
            </a:r>
            <a:endParaRPr lang="en-US" sz="950" dirty="0"/>
          </a:p>
        </p:txBody>
      </p:sp>
      <p:sp>
        <p:nvSpPr>
          <p:cNvPr id="20" name="a013_f_625"/>
          <p:cNvSpPr txBox="1"/>
          <p:nvPr/>
        </p:nvSpPr>
        <p:spPr>
          <a:xfrm>
            <a:off x="9628632" y="576072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Tagesdispo</a:t>
            </a:r>
            <a:endParaRPr lang="en-US" sz="950" dirty="0"/>
          </a:p>
        </p:txBody>
      </p:sp>
      <p:sp>
        <p:nvSpPr>
          <p:cNvPr id="21" name="a002_f_626"/>
          <p:cNvSpPr/>
          <p:nvPr/>
        </p:nvSpPr>
        <p:spPr>
          <a:xfrm>
            <a:off x="420624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2" name="a002_f_627" descr="/tmp/claude-0/-home-user-cutsheet/6324ba14-9edd-52e0-984d-db7baab43700/scratchpad/deck/img/_settings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11618"/>
            <a:ext cx="5989320" cy="3743325"/>
          </a:xfrm>
          <a:prstGeom prst="rect">
            <a:avLst/>
          </a:prstGeom>
        </p:spPr>
      </p:pic>
      <p:sp>
        <p:nvSpPr>
          <p:cNvPr id="23" name="s_628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4" name="s_629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630"/>
          <p:cNvSpPr txBox="1"/>
          <p:nvPr/>
        </p:nvSpPr>
        <p:spPr>
          <a:xfrm>
            <a:off x="548640" y="502920"/>
            <a:ext cx="1969618" cy="292608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Projekte, Konto &amp; Admin</a:t>
            </a:r>
            <a:endParaRPr lang="en-US" sz="1000" dirty="0"/>
          </a:p>
        </p:txBody>
      </p:sp>
      <p:sp>
        <p:nvSpPr>
          <p:cNvPr id="3" name="a001_f_631"/>
          <p:cNvSpPr txBox="1"/>
          <p:nvPr/>
        </p:nvSpPr>
        <p:spPr>
          <a:xfrm>
            <a:off x="37947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11 von 69</a:t>
            </a:r>
            <a:endParaRPr lang="en-US" sz="950" dirty="0"/>
          </a:p>
        </p:txBody>
      </p:sp>
      <p:sp>
        <p:nvSpPr>
          <p:cNvPr id="4" name="a001_f_632"/>
          <p:cNvSpPr txBox="1"/>
          <p:nvPr/>
        </p:nvSpPr>
        <p:spPr>
          <a:xfrm>
            <a:off x="5486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Panel</a:t>
            </a:r>
            <a:endParaRPr lang="en-US" sz="3200" dirty="0"/>
          </a:p>
        </p:txBody>
      </p:sp>
      <p:sp>
        <p:nvSpPr>
          <p:cNvPr id="5" name="a001_f_633"/>
          <p:cNvSpPr txBox="1"/>
          <p:nvPr/>
        </p:nvSpPr>
        <p:spPr>
          <a:xfrm>
            <a:off x="5486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/admin</a:t>
            </a:r>
            <a:endParaRPr lang="en-US" sz="1050" dirty="0"/>
          </a:p>
        </p:txBody>
      </p:sp>
      <p:sp>
        <p:nvSpPr>
          <p:cNvPr id="6" name="a003_f_634"/>
          <p:cNvSpPr txBox="1"/>
          <p:nvPr/>
        </p:nvSpPr>
        <p:spPr>
          <a:xfrm>
            <a:off x="5486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Verwaltung der ganzen Plattform: Nutzer, Projekte, System und Testprojekt.</a:t>
            </a:r>
            <a:endParaRPr lang="en-US" sz="1400" dirty="0"/>
          </a:p>
        </p:txBody>
      </p:sp>
      <p:sp>
        <p:nvSpPr>
          <p:cNvPr id="7" name="a004_f_635"/>
          <p:cNvSpPr/>
          <p:nvPr/>
        </p:nvSpPr>
        <p:spPr>
          <a:xfrm>
            <a:off x="566928" y="2811780"/>
            <a:ext cx="118872" cy="118872"/>
          </a:xfrm>
          <a:prstGeom prst="ellipse">
            <a:avLst/>
          </a:prstGeom>
          <a:solidFill>
            <a:srgbClr val="636366"/>
          </a:solidFill>
          <a:ln/>
        </p:spPr>
      </p:sp>
      <p:sp>
        <p:nvSpPr>
          <p:cNvPr id="8" name="a004_f_636"/>
          <p:cNvSpPr txBox="1"/>
          <p:nvPr/>
        </p:nvSpPr>
        <p:spPr>
          <a:xfrm>
            <a:off x="822960" y="2743200"/>
            <a:ext cx="4617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Übersicht: Nutzer, Projekte, Szenen, Drehtage, Crew, Skriptblöcke</a:t>
            </a:r>
            <a:endParaRPr lang="en-US" sz="1250" dirty="0"/>
          </a:p>
        </p:txBody>
      </p:sp>
      <p:sp>
        <p:nvSpPr>
          <p:cNvPr id="9" name="a005_f_637"/>
          <p:cNvSpPr/>
          <p:nvPr/>
        </p:nvSpPr>
        <p:spPr>
          <a:xfrm>
            <a:off x="566928" y="3369564"/>
            <a:ext cx="118872" cy="118872"/>
          </a:xfrm>
          <a:prstGeom prst="ellipse">
            <a:avLst/>
          </a:prstGeom>
          <a:solidFill>
            <a:srgbClr val="636366"/>
          </a:solidFill>
          <a:ln/>
        </p:spPr>
      </p:sp>
      <p:sp>
        <p:nvSpPr>
          <p:cNvPr id="10" name="a005_f_638"/>
          <p:cNvSpPr txBox="1"/>
          <p:nvPr/>
        </p:nvSpPr>
        <p:spPr>
          <a:xfrm>
            <a:off x="822960" y="3300984"/>
            <a:ext cx="4617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Nutzer anlegen, Rolle ändern, Passwort zurücksetzen, löschen</a:t>
            </a:r>
            <a:endParaRPr lang="en-US" sz="1250" dirty="0"/>
          </a:p>
        </p:txBody>
      </p:sp>
      <p:sp>
        <p:nvSpPr>
          <p:cNvPr id="11" name="a006_f_639"/>
          <p:cNvSpPr/>
          <p:nvPr/>
        </p:nvSpPr>
        <p:spPr>
          <a:xfrm>
            <a:off x="566928" y="3927348"/>
            <a:ext cx="118872" cy="118872"/>
          </a:xfrm>
          <a:prstGeom prst="ellipse">
            <a:avLst/>
          </a:prstGeom>
          <a:solidFill>
            <a:srgbClr val="636366"/>
          </a:solidFill>
          <a:ln/>
        </p:spPr>
      </p:sp>
      <p:sp>
        <p:nvSpPr>
          <p:cNvPr id="12" name="a006_f_640"/>
          <p:cNvSpPr txBox="1"/>
          <p:nvPr/>
        </p:nvSpPr>
        <p:spPr>
          <a:xfrm>
            <a:off x="822960" y="3858768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Projekte einsehen und löschen</a:t>
            </a:r>
            <a:endParaRPr lang="en-US" sz="1250" dirty="0"/>
          </a:p>
        </p:txBody>
      </p:sp>
      <p:sp>
        <p:nvSpPr>
          <p:cNvPr id="13" name="a007_f_641"/>
          <p:cNvSpPr/>
          <p:nvPr/>
        </p:nvSpPr>
        <p:spPr>
          <a:xfrm>
            <a:off x="566928" y="4270248"/>
            <a:ext cx="118872" cy="118872"/>
          </a:xfrm>
          <a:prstGeom prst="ellipse">
            <a:avLst/>
          </a:prstGeom>
          <a:solidFill>
            <a:srgbClr val="636366"/>
          </a:solidFill>
          <a:ln/>
        </p:spPr>
      </p:sp>
      <p:sp>
        <p:nvSpPr>
          <p:cNvPr id="14" name="a007_f_642"/>
          <p:cNvSpPr txBox="1"/>
          <p:nvPr/>
        </p:nvSpPr>
        <p:spPr>
          <a:xfrm>
            <a:off x="822960" y="4201668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System: Großproduktion „Nordlicht“ per Klick anlegen</a:t>
            </a:r>
            <a:endParaRPr lang="en-US" sz="1250" dirty="0"/>
          </a:p>
        </p:txBody>
      </p:sp>
      <p:sp>
        <p:nvSpPr>
          <p:cNvPr id="15" name="a008_f_643"/>
          <p:cNvSpPr/>
          <p:nvPr/>
        </p:nvSpPr>
        <p:spPr>
          <a:xfrm>
            <a:off x="566928" y="4613148"/>
            <a:ext cx="118872" cy="118872"/>
          </a:xfrm>
          <a:prstGeom prst="ellipse">
            <a:avLst/>
          </a:prstGeom>
          <a:solidFill>
            <a:srgbClr val="636366"/>
          </a:solidFill>
          <a:ln/>
        </p:spPr>
      </p:sp>
      <p:sp>
        <p:nvSpPr>
          <p:cNvPr id="16" name="a008_f_644"/>
          <p:cNvSpPr txBox="1"/>
          <p:nvPr/>
        </p:nvSpPr>
        <p:spPr>
          <a:xfrm>
            <a:off x="822960" y="4544568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Team-Testkonten mit Rollen, Passwörter einmalig angezeigt</a:t>
            </a:r>
            <a:endParaRPr lang="en-US" sz="1250" dirty="0"/>
          </a:p>
        </p:txBody>
      </p:sp>
      <p:sp>
        <p:nvSpPr>
          <p:cNvPr id="17" name="a012_f_645"/>
          <p:cNvSpPr txBox="1"/>
          <p:nvPr/>
        </p:nvSpPr>
        <p:spPr>
          <a:xfrm>
            <a:off x="5486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8" name="a013_f_646"/>
          <p:cNvSpPr txBox="1"/>
          <p:nvPr/>
        </p:nvSpPr>
        <p:spPr>
          <a:xfrm>
            <a:off x="548640" y="5760720"/>
            <a:ext cx="136245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363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36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Admin-Statistiken</a:t>
            </a:r>
            <a:endParaRPr lang="en-US" sz="950" dirty="0"/>
          </a:p>
        </p:txBody>
      </p:sp>
      <p:sp>
        <p:nvSpPr>
          <p:cNvPr id="19" name="a013_f_647"/>
          <p:cNvSpPr txBox="1"/>
          <p:nvPr/>
        </p:nvSpPr>
        <p:spPr>
          <a:xfrm>
            <a:off x="2002536" y="5760720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363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36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Meine Projekte</a:t>
            </a:r>
            <a:endParaRPr lang="en-US" sz="950" dirty="0"/>
          </a:p>
        </p:txBody>
      </p:sp>
      <p:sp>
        <p:nvSpPr>
          <p:cNvPr id="20" name="a013_f_648"/>
          <p:cNvSpPr txBox="1"/>
          <p:nvPr/>
        </p:nvSpPr>
        <p:spPr>
          <a:xfrm>
            <a:off x="3264408" y="576072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71E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50" dirty="0"/>
          </a:p>
        </p:txBody>
      </p:sp>
      <p:sp>
        <p:nvSpPr>
          <p:cNvPr id="21" name="a002_f_649"/>
          <p:cNvSpPr/>
          <p:nvPr/>
        </p:nvSpPr>
        <p:spPr>
          <a:xfrm>
            <a:off x="5617159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2" name="a002_f_650" descr="/tmp/claude-0/-home-user-cutsheet/6324ba14-9edd-52e0-984d-db7baab43700/scratchpad/deck/img/_admin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455" y="1511618"/>
            <a:ext cx="5989320" cy="3743325"/>
          </a:xfrm>
          <a:prstGeom prst="rect">
            <a:avLst/>
          </a:prstGeom>
        </p:spPr>
      </p:pic>
      <p:sp>
        <p:nvSpPr>
          <p:cNvPr id="23" name="s_651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4" name="s_652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653"/>
          <p:cNvSpPr txBox="1"/>
          <p:nvPr/>
        </p:nvSpPr>
        <p:spPr>
          <a:xfrm>
            <a:off x="6720840" y="502920"/>
            <a:ext cx="1969618" cy="292608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Projekte, Konto &amp; Admin</a:t>
            </a:r>
            <a:endParaRPr lang="en-US" sz="1000" dirty="0"/>
          </a:p>
        </p:txBody>
      </p:sp>
      <p:sp>
        <p:nvSpPr>
          <p:cNvPr id="3" name="a001_f_654"/>
          <p:cNvSpPr txBox="1"/>
          <p:nvPr/>
        </p:nvSpPr>
        <p:spPr>
          <a:xfrm>
            <a:off x="99669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12 von 69</a:t>
            </a:r>
            <a:endParaRPr lang="en-US" sz="950" dirty="0"/>
          </a:p>
        </p:txBody>
      </p:sp>
      <p:sp>
        <p:nvSpPr>
          <p:cNvPr id="4" name="a001_f_655"/>
          <p:cNvSpPr txBox="1"/>
          <p:nvPr/>
        </p:nvSpPr>
        <p:spPr>
          <a:xfrm>
            <a:off x="67208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Admin-Statistiken</a:t>
            </a:r>
            <a:endParaRPr lang="en-US" sz="3200" dirty="0"/>
          </a:p>
        </p:txBody>
      </p:sp>
      <p:sp>
        <p:nvSpPr>
          <p:cNvPr id="5" name="a001_f_656"/>
          <p:cNvSpPr txBox="1"/>
          <p:nvPr/>
        </p:nvSpPr>
        <p:spPr>
          <a:xfrm>
            <a:off x="67208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/admin/stats</a:t>
            </a:r>
            <a:endParaRPr lang="en-US" sz="1050" dirty="0"/>
          </a:p>
        </p:txBody>
      </p:sp>
      <p:sp>
        <p:nvSpPr>
          <p:cNvPr id="6" name="a003_f_657"/>
          <p:cNvSpPr txBox="1"/>
          <p:nvPr/>
        </p:nvSpPr>
        <p:spPr>
          <a:xfrm>
            <a:off x="67208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die Plattform genutzt wird – und was Nutzer zurückmelden.</a:t>
            </a:r>
            <a:endParaRPr lang="en-US" sz="1400" dirty="0"/>
          </a:p>
        </p:txBody>
      </p:sp>
      <p:sp>
        <p:nvSpPr>
          <p:cNvPr id="7" name="a004_f_658"/>
          <p:cNvSpPr/>
          <p:nvPr/>
        </p:nvSpPr>
        <p:spPr>
          <a:xfrm>
            <a:off x="6739128" y="2811780"/>
            <a:ext cx="118872" cy="118872"/>
          </a:xfrm>
          <a:prstGeom prst="ellipse">
            <a:avLst/>
          </a:prstGeom>
          <a:solidFill>
            <a:srgbClr val="636366"/>
          </a:solidFill>
          <a:ln/>
        </p:spPr>
      </p:sp>
      <p:sp>
        <p:nvSpPr>
          <p:cNvPr id="8" name="a004_f_659"/>
          <p:cNvSpPr txBox="1"/>
          <p:nvPr/>
        </p:nvSpPr>
        <p:spPr>
          <a:xfrm>
            <a:off x="69951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Projekte, Nutzer, aktive Produktionen, Registrierungen</a:t>
            </a:r>
            <a:endParaRPr lang="en-US" sz="1250" dirty="0"/>
          </a:p>
        </p:txBody>
      </p:sp>
      <p:sp>
        <p:nvSpPr>
          <p:cNvPr id="9" name="a005_f_660"/>
          <p:cNvSpPr/>
          <p:nvPr/>
        </p:nvSpPr>
        <p:spPr>
          <a:xfrm>
            <a:off x="6739128" y="3154680"/>
            <a:ext cx="118872" cy="118872"/>
          </a:xfrm>
          <a:prstGeom prst="ellipse">
            <a:avLst/>
          </a:prstGeom>
          <a:solidFill>
            <a:srgbClr val="636366"/>
          </a:solidFill>
          <a:ln/>
        </p:spPr>
      </p:sp>
      <p:sp>
        <p:nvSpPr>
          <p:cNvPr id="10" name="a005_f_661"/>
          <p:cNvSpPr txBox="1"/>
          <p:nvPr/>
        </p:nvSpPr>
        <p:spPr>
          <a:xfrm>
            <a:off x="69951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Meistgenutzte Bereiche</a:t>
            </a:r>
            <a:endParaRPr lang="en-US" sz="1250" dirty="0"/>
          </a:p>
        </p:txBody>
      </p:sp>
      <p:sp>
        <p:nvSpPr>
          <p:cNvPr id="11" name="a006_f_662"/>
          <p:cNvSpPr/>
          <p:nvPr/>
        </p:nvSpPr>
        <p:spPr>
          <a:xfrm>
            <a:off x="6739128" y="3497580"/>
            <a:ext cx="118872" cy="118872"/>
          </a:xfrm>
          <a:prstGeom prst="ellipse">
            <a:avLst/>
          </a:prstGeom>
          <a:solidFill>
            <a:srgbClr val="636366"/>
          </a:solidFill>
          <a:ln/>
        </p:spPr>
      </p:sp>
      <p:sp>
        <p:nvSpPr>
          <p:cNvPr id="12" name="a006_f_663"/>
          <p:cNvSpPr txBox="1"/>
          <p:nvPr/>
        </p:nvSpPr>
        <p:spPr>
          <a:xfrm>
            <a:off x="69951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Projekte nach Status</a:t>
            </a:r>
            <a:endParaRPr lang="en-US" sz="1250" dirty="0"/>
          </a:p>
        </p:txBody>
      </p:sp>
      <p:sp>
        <p:nvSpPr>
          <p:cNvPr id="13" name="a007_f_664"/>
          <p:cNvSpPr/>
          <p:nvPr/>
        </p:nvSpPr>
        <p:spPr>
          <a:xfrm>
            <a:off x="6739128" y="3840480"/>
            <a:ext cx="118872" cy="118872"/>
          </a:xfrm>
          <a:prstGeom prst="ellipse">
            <a:avLst/>
          </a:prstGeom>
          <a:solidFill>
            <a:srgbClr val="636366"/>
          </a:solidFill>
          <a:ln/>
        </p:spPr>
      </p:sp>
      <p:sp>
        <p:nvSpPr>
          <p:cNvPr id="14" name="a007_f_665"/>
          <p:cNvSpPr txBox="1"/>
          <p:nvPr/>
        </p:nvSpPr>
        <p:spPr>
          <a:xfrm>
            <a:off x="69951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Neueste Registrierungen</a:t>
            </a:r>
            <a:endParaRPr lang="en-US" sz="1250" dirty="0"/>
          </a:p>
        </p:txBody>
      </p:sp>
      <p:sp>
        <p:nvSpPr>
          <p:cNvPr id="15" name="a008_f_666"/>
          <p:cNvSpPr/>
          <p:nvPr/>
        </p:nvSpPr>
        <p:spPr>
          <a:xfrm>
            <a:off x="6739128" y="4183380"/>
            <a:ext cx="118872" cy="118872"/>
          </a:xfrm>
          <a:prstGeom prst="ellipse">
            <a:avLst/>
          </a:prstGeom>
          <a:solidFill>
            <a:srgbClr val="636366"/>
          </a:solidFill>
          <a:ln/>
        </p:spPr>
      </p:sp>
      <p:sp>
        <p:nvSpPr>
          <p:cNvPr id="16" name="a008_f_667"/>
          <p:cNvSpPr txBox="1"/>
          <p:nvPr/>
        </p:nvSpPr>
        <p:spPr>
          <a:xfrm>
            <a:off x="6995160" y="41148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der Nutzer: Fehler, Ideen, Allgemeines</a:t>
            </a:r>
            <a:endParaRPr lang="en-US" sz="1250" dirty="0"/>
          </a:p>
        </p:txBody>
      </p:sp>
      <p:sp>
        <p:nvSpPr>
          <p:cNvPr id="17" name="a012_f_668"/>
          <p:cNvSpPr txBox="1"/>
          <p:nvPr/>
        </p:nvSpPr>
        <p:spPr>
          <a:xfrm>
            <a:off x="67208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8" name="a013_f_669"/>
          <p:cNvSpPr txBox="1"/>
          <p:nvPr/>
        </p:nvSpPr>
        <p:spPr>
          <a:xfrm>
            <a:off x="6720840" y="5760720"/>
            <a:ext cx="97840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363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36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Panel</a:t>
            </a:r>
            <a:endParaRPr lang="en-US" sz="950" dirty="0"/>
          </a:p>
        </p:txBody>
      </p:sp>
      <p:sp>
        <p:nvSpPr>
          <p:cNvPr id="19" name="a013_f_670"/>
          <p:cNvSpPr txBox="1"/>
          <p:nvPr/>
        </p:nvSpPr>
        <p:spPr>
          <a:xfrm>
            <a:off x="7790688" y="576072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0B0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0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Pinboard</a:t>
            </a:r>
            <a:endParaRPr lang="en-US" sz="950" dirty="0"/>
          </a:p>
        </p:txBody>
      </p:sp>
      <p:sp>
        <p:nvSpPr>
          <p:cNvPr id="20" name="a002_f_671"/>
          <p:cNvSpPr/>
          <p:nvPr/>
        </p:nvSpPr>
        <p:spPr>
          <a:xfrm>
            <a:off x="420624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1" name="a002_f_672" descr="/tmp/claude-0/-home-user-cutsheet/6324ba14-9edd-52e0-984d-db7baab43700/scratchpad/deck/img/_admin_stats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11618"/>
            <a:ext cx="5989320" cy="3743325"/>
          </a:xfrm>
          <a:prstGeom prst="rect">
            <a:avLst/>
          </a:prstGeom>
        </p:spPr>
      </p:pic>
      <p:sp>
        <p:nvSpPr>
          <p:cNvPr id="22" name="s_673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3" name="s_674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z_675"/>
          <p:cNvSpPr txBox="1"/>
          <p:nvPr/>
        </p:nvSpPr>
        <p:spPr>
          <a:xfrm>
            <a:off x="548640" y="8229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a002_f_676"/>
          <p:cNvSpPr txBox="1"/>
          <p:nvPr/>
        </p:nvSpPr>
        <p:spPr>
          <a:xfrm>
            <a:off x="548640" y="23317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Übersicht</a:t>
            </a:r>
            <a:endParaRPr lang="en-US" sz="3600" dirty="0"/>
          </a:p>
        </p:txBody>
      </p:sp>
      <p:sp>
        <p:nvSpPr>
          <p:cNvPr id="4" name="a003_f_677"/>
          <p:cNvSpPr txBox="1"/>
          <p:nvPr/>
        </p:nvSpPr>
        <p:spPr>
          <a:xfrm>
            <a:off x="548640" y="36576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Einstieg in jedes Projekt: Lage auf einen Blick, Stammdaten und Aufgaben des Teams.</a:t>
            </a:r>
            <a:endParaRPr lang="en-US" sz="1500" dirty="0"/>
          </a:p>
        </p:txBody>
      </p:sp>
      <p:sp>
        <p:nvSpPr>
          <p:cNvPr id="5" name="a003_f_678"/>
          <p:cNvSpPr txBox="1"/>
          <p:nvPr/>
        </p:nvSpPr>
        <p:spPr>
          <a:xfrm>
            <a:off x="548640" y="5029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Seiten</a:t>
            </a:r>
            <a:endParaRPr lang="en-US" sz="1300" dirty="0"/>
          </a:p>
        </p:txBody>
      </p:sp>
      <p:sp>
        <p:nvSpPr>
          <p:cNvPr id="6" name="a004_f_679"/>
          <p:cNvSpPr/>
          <p:nvPr/>
        </p:nvSpPr>
        <p:spPr>
          <a:xfrm>
            <a:off x="5897880" y="960120"/>
            <a:ext cx="146304" cy="146304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7" name="a004_f_680"/>
          <p:cNvSpPr txBox="1"/>
          <p:nvPr/>
        </p:nvSpPr>
        <p:spPr>
          <a:xfrm>
            <a:off x="621792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8" name="a004_f_681"/>
          <p:cNvSpPr txBox="1"/>
          <p:nvPr/>
        </p:nvSpPr>
        <p:spPr>
          <a:xfrm>
            <a:off x="6217920" y="119786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Lage der Produktion auf einen Blick – mit direktem Sprung zum nächsten Drehtag.</a:t>
            </a:r>
            <a:endParaRPr lang="en-US" sz="1100" dirty="0"/>
          </a:p>
        </p:txBody>
      </p:sp>
      <p:sp>
        <p:nvSpPr>
          <p:cNvPr id="9" name="a005_f_682"/>
          <p:cNvSpPr/>
          <p:nvPr/>
        </p:nvSpPr>
        <p:spPr>
          <a:xfrm>
            <a:off x="5897880" y="1728216"/>
            <a:ext cx="146304" cy="146304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0" name="a005_f_683"/>
          <p:cNvSpPr txBox="1"/>
          <p:nvPr/>
        </p:nvSpPr>
        <p:spPr>
          <a:xfrm>
            <a:off x="6217920" y="163677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Stammdaten</a:t>
            </a:r>
            <a:endParaRPr lang="en-US" sz="1600" dirty="0"/>
          </a:p>
        </p:txBody>
      </p:sp>
      <p:sp>
        <p:nvSpPr>
          <p:cNvPr id="11" name="a005_f_684"/>
          <p:cNvSpPr txBox="1"/>
          <p:nvPr/>
        </p:nvSpPr>
        <p:spPr>
          <a:xfrm>
            <a:off x="621792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Fundament: Projektdaten, Kreativteam, Einstellungen und Mitglieder.</a:t>
            </a:r>
            <a:endParaRPr lang="en-US" sz="1100" dirty="0"/>
          </a:p>
        </p:txBody>
      </p:sp>
      <p:sp>
        <p:nvSpPr>
          <p:cNvPr id="12" name="a006_f_685"/>
          <p:cNvSpPr/>
          <p:nvPr/>
        </p:nvSpPr>
        <p:spPr>
          <a:xfrm>
            <a:off x="5897880" y="2496312"/>
            <a:ext cx="146304" cy="146304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3" name="a006_f_686"/>
          <p:cNvSpPr txBox="1"/>
          <p:nvPr/>
        </p:nvSpPr>
        <p:spPr>
          <a:xfrm>
            <a:off x="6217920" y="24048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Aufgaben</a:t>
            </a:r>
            <a:endParaRPr lang="en-US" sz="1600" dirty="0"/>
          </a:p>
        </p:txBody>
      </p:sp>
      <p:sp>
        <p:nvSpPr>
          <p:cNvPr id="14" name="a006_f_687"/>
          <p:cNvSpPr txBox="1"/>
          <p:nvPr/>
        </p:nvSpPr>
        <p:spPr>
          <a:xfrm>
            <a:off x="6217920" y="273405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To-dos des Teams – mit Zuständigkeit, Frist und Status.</a:t>
            </a:r>
            <a:endParaRPr lang="en-US" sz="1100" dirty="0"/>
          </a:p>
        </p:txBody>
      </p:sp>
      <p:sp>
        <p:nvSpPr>
          <p:cNvPr id="15" name="s_688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16" name="s_689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36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690"/>
          <p:cNvSpPr txBox="1"/>
          <p:nvPr/>
        </p:nvSpPr>
        <p:spPr>
          <a:xfrm>
            <a:off x="548640" y="502920"/>
            <a:ext cx="971093" cy="292608"/>
          </a:xfrm>
          <a:prstGeom prst="roundRect">
            <a:avLst>
              <a:gd name="adj" fmla="val 50000"/>
            </a:avLst>
          </a:prstGeom>
          <a:solidFill>
            <a:srgbClr val="E6F0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Übersicht</a:t>
            </a:r>
            <a:endParaRPr lang="en-US" sz="1000" dirty="0"/>
          </a:p>
        </p:txBody>
      </p:sp>
      <p:sp>
        <p:nvSpPr>
          <p:cNvPr id="3" name="a001_f_691"/>
          <p:cNvSpPr txBox="1"/>
          <p:nvPr/>
        </p:nvSpPr>
        <p:spPr>
          <a:xfrm>
            <a:off x="37947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13 von 69</a:t>
            </a:r>
            <a:endParaRPr lang="en-US" sz="950" dirty="0"/>
          </a:p>
        </p:txBody>
      </p:sp>
      <p:sp>
        <p:nvSpPr>
          <p:cNvPr id="4" name="a001_f_692"/>
          <p:cNvSpPr txBox="1"/>
          <p:nvPr/>
        </p:nvSpPr>
        <p:spPr>
          <a:xfrm>
            <a:off x="5486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3200" dirty="0"/>
          </a:p>
        </p:txBody>
      </p:sp>
      <p:sp>
        <p:nvSpPr>
          <p:cNvPr id="5" name="a001_f_693"/>
          <p:cNvSpPr txBox="1"/>
          <p:nvPr/>
        </p:nvSpPr>
        <p:spPr>
          <a:xfrm>
            <a:off x="5486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</a:t>
            </a:r>
            <a:endParaRPr lang="en-US" sz="1050" dirty="0"/>
          </a:p>
        </p:txBody>
      </p:sp>
      <p:sp>
        <p:nvSpPr>
          <p:cNvPr id="6" name="a003_f_694"/>
          <p:cNvSpPr txBox="1"/>
          <p:nvPr/>
        </p:nvSpPr>
        <p:spPr>
          <a:xfrm>
            <a:off x="5486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Lage der Produktion auf einen Blick – mit direktem Sprung zum nächsten Drehtag.</a:t>
            </a:r>
            <a:endParaRPr lang="en-US" sz="1400" dirty="0"/>
          </a:p>
        </p:txBody>
      </p:sp>
      <p:sp>
        <p:nvSpPr>
          <p:cNvPr id="7" name="a004_f_695"/>
          <p:cNvSpPr/>
          <p:nvPr/>
        </p:nvSpPr>
        <p:spPr>
          <a:xfrm>
            <a:off x="566928" y="2811780"/>
            <a:ext cx="118872" cy="11887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8" name="a004_f_696"/>
          <p:cNvSpPr txBox="1"/>
          <p:nvPr/>
        </p:nvSpPr>
        <p:spPr>
          <a:xfrm>
            <a:off x="8229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Nächster Drehtag mit Countdown und Link zur Dispo</a:t>
            </a:r>
            <a:endParaRPr lang="en-US" sz="1250" dirty="0"/>
          </a:p>
        </p:txBody>
      </p:sp>
      <p:sp>
        <p:nvSpPr>
          <p:cNvPr id="9" name="a005_f_697"/>
          <p:cNvSpPr/>
          <p:nvPr/>
        </p:nvSpPr>
        <p:spPr>
          <a:xfrm>
            <a:off x="566928" y="3154680"/>
            <a:ext cx="118872" cy="11887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0" name="a005_f_698"/>
          <p:cNvSpPr txBox="1"/>
          <p:nvPr/>
        </p:nvSpPr>
        <p:spPr>
          <a:xfrm>
            <a:off x="8229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Kennzahlen: Szenen, Drehtage, Darsteller, Team</a:t>
            </a:r>
            <a:endParaRPr lang="en-US" sz="1250" dirty="0"/>
          </a:p>
        </p:txBody>
      </p:sp>
      <p:sp>
        <p:nvSpPr>
          <p:cNvPr id="11" name="a006_f_699"/>
          <p:cNvSpPr/>
          <p:nvPr/>
        </p:nvSpPr>
        <p:spPr>
          <a:xfrm>
            <a:off x="566928" y="3497580"/>
            <a:ext cx="118872" cy="11887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2" name="a006_f_700"/>
          <p:cNvSpPr txBox="1"/>
          <p:nvPr/>
        </p:nvSpPr>
        <p:spPr>
          <a:xfrm>
            <a:off x="822960" y="3429000"/>
            <a:ext cx="4617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Fortschritt: Drehplan, abgeschlossene Tage, abgedrehte Szenen</a:t>
            </a:r>
            <a:endParaRPr lang="en-US" sz="1250" dirty="0"/>
          </a:p>
        </p:txBody>
      </p:sp>
      <p:sp>
        <p:nvSpPr>
          <p:cNvPr id="13" name="a007_f_701"/>
          <p:cNvSpPr/>
          <p:nvPr/>
        </p:nvSpPr>
        <p:spPr>
          <a:xfrm>
            <a:off x="566928" y="4055364"/>
            <a:ext cx="118872" cy="11887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4" name="a007_f_702"/>
          <p:cNvSpPr txBox="1"/>
          <p:nvPr/>
        </p:nvSpPr>
        <p:spPr>
          <a:xfrm>
            <a:off x="822960" y="3986784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gegen Finanzierung – mit Lücke</a:t>
            </a:r>
            <a:endParaRPr lang="en-US" sz="1250" dirty="0"/>
          </a:p>
        </p:txBody>
      </p:sp>
      <p:sp>
        <p:nvSpPr>
          <p:cNvPr id="15" name="a008_f_703"/>
          <p:cNvSpPr/>
          <p:nvPr/>
        </p:nvSpPr>
        <p:spPr>
          <a:xfrm>
            <a:off x="566928" y="4398264"/>
            <a:ext cx="118872" cy="11887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6" name="a008_f_704"/>
          <p:cNvSpPr txBox="1"/>
          <p:nvPr/>
        </p:nvSpPr>
        <p:spPr>
          <a:xfrm>
            <a:off x="822960" y="4329684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Konfliktradar-Zusammenfassung</a:t>
            </a:r>
            <a:endParaRPr lang="en-US" sz="1250" dirty="0"/>
          </a:p>
        </p:txBody>
      </p:sp>
      <p:sp>
        <p:nvSpPr>
          <p:cNvPr id="17" name="a009_f_705"/>
          <p:cNvSpPr/>
          <p:nvPr/>
        </p:nvSpPr>
        <p:spPr>
          <a:xfrm>
            <a:off x="566928" y="4741164"/>
            <a:ext cx="118872" cy="11887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8" name="a009_f_706"/>
          <p:cNvSpPr txBox="1"/>
          <p:nvPr/>
        </p:nvSpPr>
        <p:spPr>
          <a:xfrm>
            <a:off x="822960" y="4672584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Schnellzugriff auf die wichtigsten Bereiche</a:t>
            </a:r>
            <a:endParaRPr lang="en-US" sz="1250" dirty="0"/>
          </a:p>
        </p:txBody>
      </p:sp>
      <p:sp>
        <p:nvSpPr>
          <p:cNvPr id="19" name="a012_f_707"/>
          <p:cNvSpPr txBox="1"/>
          <p:nvPr/>
        </p:nvSpPr>
        <p:spPr>
          <a:xfrm>
            <a:off x="548640" y="53400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20" name="a013_f_708"/>
          <p:cNvSpPr txBox="1"/>
          <p:nvPr/>
        </p:nvSpPr>
        <p:spPr>
          <a:xfrm>
            <a:off x="548640" y="5614416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Tagesdispo</a:t>
            </a:r>
            <a:endParaRPr lang="en-US" sz="950" dirty="0"/>
          </a:p>
        </p:txBody>
      </p:sp>
      <p:sp>
        <p:nvSpPr>
          <p:cNvPr id="21" name="a013_f_709"/>
          <p:cNvSpPr txBox="1"/>
          <p:nvPr/>
        </p:nvSpPr>
        <p:spPr>
          <a:xfrm>
            <a:off x="1554480" y="5614416"/>
            <a:ext cx="110642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Konfliktradar</a:t>
            </a:r>
            <a:endParaRPr lang="en-US" sz="950" dirty="0"/>
          </a:p>
        </p:txBody>
      </p:sp>
      <p:sp>
        <p:nvSpPr>
          <p:cNvPr id="22" name="a013_f_710"/>
          <p:cNvSpPr txBox="1"/>
          <p:nvPr/>
        </p:nvSpPr>
        <p:spPr>
          <a:xfrm>
            <a:off x="2752344" y="5614416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Drehplan</a:t>
            </a:r>
            <a:endParaRPr lang="en-US" sz="950" dirty="0"/>
          </a:p>
        </p:txBody>
      </p:sp>
      <p:sp>
        <p:nvSpPr>
          <p:cNvPr id="23" name="a013_f_711"/>
          <p:cNvSpPr txBox="1"/>
          <p:nvPr/>
        </p:nvSpPr>
        <p:spPr>
          <a:xfrm>
            <a:off x="3630168" y="5614416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950" dirty="0"/>
          </a:p>
        </p:txBody>
      </p:sp>
      <p:sp>
        <p:nvSpPr>
          <p:cNvPr id="24" name="a013_f_712"/>
          <p:cNvSpPr txBox="1"/>
          <p:nvPr/>
        </p:nvSpPr>
        <p:spPr>
          <a:xfrm>
            <a:off x="4379976" y="5614416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F52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</a:t>
            </a:r>
            <a:endParaRPr lang="en-US" sz="950" dirty="0"/>
          </a:p>
        </p:txBody>
      </p:sp>
      <p:sp>
        <p:nvSpPr>
          <p:cNvPr id="25" name="a013_f_713"/>
          <p:cNvSpPr txBox="1"/>
          <p:nvPr/>
        </p:nvSpPr>
        <p:spPr>
          <a:xfrm>
            <a:off x="548640" y="5961888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2D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Besetzung</a:t>
            </a:r>
            <a:endParaRPr lang="en-US" sz="950" dirty="0"/>
          </a:p>
        </p:txBody>
      </p:sp>
      <p:sp>
        <p:nvSpPr>
          <p:cNvPr id="26" name="a002_f_714"/>
          <p:cNvSpPr/>
          <p:nvPr/>
        </p:nvSpPr>
        <p:spPr>
          <a:xfrm>
            <a:off x="5617159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7" name="a002_f_715" descr="/tmp/claude-0/-home-user-cutsheet/6324ba14-9edd-52e0-984d-db7baab43700/scratchpad/deck/img/light_projects_168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455" y="1511618"/>
            <a:ext cx="5989320" cy="3743325"/>
          </a:xfrm>
          <a:prstGeom prst="rect">
            <a:avLst/>
          </a:prstGeom>
        </p:spPr>
      </p:pic>
      <p:sp>
        <p:nvSpPr>
          <p:cNvPr id="28" name="s_716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9" name="s_717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48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48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48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48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48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718"/>
          <p:cNvSpPr txBox="1"/>
          <p:nvPr/>
        </p:nvSpPr>
        <p:spPr>
          <a:xfrm>
            <a:off x="6720840" y="502920"/>
            <a:ext cx="971093" cy="292608"/>
          </a:xfrm>
          <a:prstGeom prst="roundRect">
            <a:avLst>
              <a:gd name="adj" fmla="val 50000"/>
            </a:avLst>
          </a:prstGeom>
          <a:solidFill>
            <a:srgbClr val="E6F0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Übersicht</a:t>
            </a:r>
            <a:endParaRPr lang="en-US" sz="1000" dirty="0"/>
          </a:p>
        </p:txBody>
      </p:sp>
      <p:sp>
        <p:nvSpPr>
          <p:cNvPr id="3" name="a001_f_719"/>
          <p:cNvSpPr txBox="1"/>
          <p:nvPr/>
        </p:nvSpPr>
        <p:spPr>
          <a:xfrm>
            <a:off x="99669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14 von 69</a:t>
            </a:r>
            <a:endParaRPr lang="en-US" sz="950" dirty="0"/>
          </a:p>
        </p:txBody>
      </p:sp>
      <p:sp>
        <p:nvSpPr>
          <p:cNvPr id="4" name="a001_f_720"/>
          <p:cNvSpPr txBox="1"/>
          <p:nvPr/>
        </p:nvSpPr>
        <p:spPr>
          <a:xfrm>
            <a:off x="67208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Stammdaten</a:t>
            </a:r>
            <a:endParaRPr lang="en-US" sz="3200" dirty="0"/>
          </a:p>
        </p:txBody>
      </p:sp>
      <p:sp>
        <p:nvSpPr>
          <p:cNvPr id="5" name="a001_f_721"/>
          <p:cNvSpPr txBox="1"/>
          <p:nvPr/>
        </p:nvSpPr>
        <p:spPr>
          <a:xfrm>
            <a:off x="67208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/projects/:id/stammdaten</a:t>
            </a:r>
            <a:endParaRPr lang="en-US" sz="1050" dirty="0"/>
          </a:p>
        </p:txBody>
      </p:sp>
      <p:sp>
        <p:nvSpPr>
          <p:cNvPr id="6" name="a003_f_722"/>
          <p:cNvSpPr txBox="1"/>
          <p:nvPr/>
        </p:nvSpPr>
        <p:spPr>
          <a:xfrm>
            <a:off x="67208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Fundament: Projektdaten, Kreativteam, Einstellungen und Mitglieder.</a:t>
            </a:r>
            <a:endParaRPr lang="en-US" sz="1400" dirty="0"/>
          </a:p>
        </p:txBody>
      </p:sp>
      <p:sp>
        <p:nvSpPr>
          <p:cNvPr id="7" name="a004_f_723"/>
          <p:cNvSpPr/>
          <p:nvPr/>
        </p:nvSpPr>
        <p:spPr>
          <a:xfrm>
            <a:off x="6739128" y="2811780"/>
            <a:ext cx="118872" cy="11887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8" name="a004_f_724"/>
          <p:cNvSpPr txBox="1"/>
          <p:nvPr/>
        </p:nvSpPr>
        <p:spPr>
          <a:xfrm>
            <a:off x="69951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Titel, Status, Genre, Laufzeit, Logline</a:t>
            </a:r>
            <a:endParaRPr lang="en-US" sz="1250" dirty="0"/>
          </a:p>
        </p:txBody>
      </p:sp>
      <p:sp>
        <p:nvSpPr>
          <p:cNvPr id="9" name="a005_f_725"/>
          <p:cNvSpPr/>
          <p:nvPr/>
        </p:nvSpPr>
        <p:spPr>
          <a:xfrm>
            <a:off x="6739128" y="3154680"/>
            <a:ext cx="118872" cy="11887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0" name="a005_f_726"/>
          <p:cNvSpPr txBox="1"/>
          <p:nvPr/>
        </p:nvSpPr>
        <p:spPr>
          <a:xfrm>
            <a:off x="69951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Kreativteam: Regie, Produktion, Kamera, Produktionsfirma</a:t>
            </a:r>
            <a:endParaRPr lang="en-US" sz="1250" dirty="0"/>
          </a:p>
        </p:txBody>
      </p:sp>
      <p:sp>
        <p:nvSpPr>
          <p:cNvPr id="11" name="a006_f_727"/>
          <p:cNvSpPr/>
          <p:nvPr/>
        </p:nvSpPr>
        <p:spPr>
          <a:xfrm>
            <a:off x="6739128" y="3497580"/>
            <a:ext cx="118872" cy="11887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2" name="a006_f_728"/>
          <p:cNvSpPr txBox="1"/>
          <p:nvPr/>
        </p:nvSpPr>
        <p:spPr>
          <a:xfrm>
            <a:off x="69951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Drehbeginn und Drehschluss</a:t>
            </a:r>
            <a:endParaRPr lang="en-US" sz="1250" dirty="0"/>
          </a:p>
        </p:txBody>
      </p:sp>
      <p:sp>
        <p:nvSpPr>
          <p:cNvPr id="13" name="a007_f_729"/>
          <p:cNvSpPr/>
          <p:nvPr/>
        </p:nvSpPr>
        <p:spPr>
          <a:xfrm>
            <a:off x="6739128" y="3840480"/>
            <a:ext cx="118872" cy="11887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4" name="a007_f_730"/>
          <p:cNvSpPr txBox="1"/>
          <p:nvPr/>
        </p:nvSpPr>
        <p:spPr>
          <a:xfrm>
            <a:off x="69951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Standard-Wrap, Turnaround-Mindestzeit, Währung, Land</a:t>
            </a:r>
            <a:endParaRPr lang="en-US" sz="1250" dirty="0"/>
          </a:p>
        </p:txBody>
      </p:sp>
      <p:sp>
        <p:nvSpPr>
          <p:cNvPr id="15" name="a008_f_731"/>
          <p:cNvSpPr/>
          <p:nvPr/>
        </p:nvSpPr>
        <p:spPr>
          <a:xfrm>
            <a:off x="6739128" y="4183380"/>
            <a:ext cx="118872" cy="11887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6" name="a008_f_732"/>
          <p:cNvSpPr txBox="1"/>
          <p:nvPr/>
        </p:nvSpPr>
        <p:spPr>
          <a:xfrm>
            <a:off x="6995160" y="41148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Akzentfarbe – steuert alle PDFs</a:t>
            </a:r>
            <a:endParaRPr lang="en-US" sz="1250" dirty="0"/>
          </a:p>
        </p:txBody>
      </p:sp>
      <p:sp>
        <p:nvSpPr>
          <p:cNvPr id="17" name="a009_f_733"/>
          <p:cNvSpPr/>
          <p:nvPr/>
        </p:nvSpPr>
        <p:spPr>
          <a:xfrm>
            <a:off x="6739128" y="4526280"/>
            <a:ext cx="118872" cy="11887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8" name="a009_f_734"/>
          <p:cNvSpPr txBox="1"/>
          <p:nvPr/>
        </p:nvSpPr>
        <p:spPr>
          <a:xfrm>
            <a:off x="6995160" y="4457700"/>
            <a:ext cx="4617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Mitarbeiter per Link oder E-Mail einladen, Rollen vergeben</a:t>
            </a:r>
            <a:endParaRPr lang="en-US" sz="1250" dirty="0"/>
          </a:p>
        </p:txBody>
      </p:sp>
      <p:sp>
        <p:nvSpPr>
          <p:cNvPr id="19" name="a012_f_735"/>
          <p:cNvSpPr txBox="1"/>
          <p:nvPr/>
        </p:nvSpPr>
        <p:spPr>
          <a:xfrm>
            <a:off x="6720840" y="53400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20" name="a013_f_736"/>
          <p:cNvSpPr txBox="1"/>
          <p:nvPr/>
        </p:nvSpPr>
        <p:spPr>
          <a:xfrm>
            <a:off x="6720840" y="5614416"/>
            <a:ext cx="161848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284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28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Einladung ins Projekt</a:t>
            </a:r>
            <a:endParaRPr lang="en-US" sz="950" dirty="0"/>
          </a:p>
        </p:txBody>
      </p:sp>
      <p:sp>
        <p:nvSpPr>
          <p:cNvPr id="21" name="a013_f_737"/>
          <p:cNvSpPr txBox="1"/>
          <p:nvPr/>
        </p:nvSpPr>
        <p:spPr>
          <a:xfrm>
            <a:off x="8430768" y="5614416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Tagesdispo</a:t>
            </a:r>
            <a:endParaRPr lang="en-US" sz="950" dirty="0"/>
          </a:p>
        </p:txBody>
      </p:sp>
      <p:sp>
        <p:nvSpPr>
          <p:cNvPr id="22" name="a013_f_738"/>
          <p:cNvSpPr txBox="1"/>
          <p:nvPr/>
        </p:nvSpPr>
        <p:spPr>
          <a:xfrm>
            <a:off x="9436608" y="5614416"/>
            <a:ext cx="110642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Konfliktradar</a:t>
            </a:r>
            <a:endParaRPr lang="en-US" sz="950" dirty="0"/>
          </a:p>
        </p:txBody>
      </p:sp>
      <p:sp>
        <p:nvSpPr>
          <p:cNvPr id="23" name="a013_f_739"/>
          <p:cNvSpPr txBox="1"/>
          <p:nvPr/>
        </p:nvSpPr>
        <p:spPr>
          <a:xfrm>
            <a:off x="10634472" y="5614416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950" dirty="0"/>
          </a:p>
        </p:txBody>
      </p:sp>
      <p:sp>
        <p:nvSpPr>
          <p:cNvPr id="24" name="a013_f_740"/>
          <p:cNvSpPr txBox="1"/>
          <p:nvPr/>
        </p:nvSpPr>
        <p:spPr>
          <a:xfrm>
            <a:off x="6720840" y="5961888"/>
            <a:ext cx="104241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Tagesbericht</a:t>
            </a:r>
            <a:endParaRPr lang="en-US" sz="950" dirty="0"/>
          </a:p>
        </p:txBody>
      </p:sp>
      <p:sp>
        <p:nvSpPr>
          <p:cNvPr id="25" name="a002_f_741"/>
          <p:cNvSpPr/>
          <p:nvPr/>
        </p:nvSpPr>
        <p:spPr>
          <a:xfrm>
            <a:off x="420624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6" name="a002_f_742" descr="/tmp/claude-0/-home-user-cutsheet/6324ba14-9edd-52e0-984d-db7baab43700/scratchpad/deck/img/light_projects_168_stammdaten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11618"/>
            <a:ext cx="5989320" cy="3743325"/>
          </a:xfrm>
          <a:prstGeom prst="rect">
            <a:avLst/>
          </a:prstGeom>
        </p:spPr>
      </p:pic>
      <p:sp>
        <p:nvSpPr>
          <p:cNvPr id="27" name="s_743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8" name="s_744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48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48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48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48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745"/>
          <p:cNvSpPr txBox="1"/>
          <p:nvPr/>
        </p:nvSpPr>
        <p:spPr>
          <a:xfrm>
            <a:off x="548640" y="502920"/>
            <a:ext cx="971093" cy="292608"/>
          </a:xfrm>
          <a:prstGeom prst="roundRect">
            <a:avLst>
              <a:gd name="adj" fmla="val 50000"/>
            </a:avLst>
          </a:prstGeom>
          <a:solidFill>
            <a:srgbClr val="E6F0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Übersicht</a:t>
            </a:r>
            <a:endParaRPr lang="en-US" sz="1000" dirty="0"/>
          </a:p>
        </p:txBody>
      </p:sp>
      <p:sp>
        <p:nvSpPr>
          <p:cNvPr id="3" name="a001_f_746"/>
          <p:cNvSpPr txBox="1"/>
          <p:nvPr/>
        </p:nvSpPr>
        <p:spPr>
          <a:xfrm>
            <a:off x="37947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15 von 69</a:t>
            </a:r>
            <a:endParaRPr lang="en-US" sz="950" dirty="0"/>
          </a:p>
        </p:txBody>
      </p:sp>
      <p:sp>
        <p:nvSpPr>
          <p:cNvPr id="4" name="a001_f_747"/>
          <p:cNvSpPr txBox="1"/>
          <p:nvPr/>
        </p:nvSpPr>
        <p:spPr>
          <a:xfrm>
            <a:off x="5486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Aufgaben</a:t>
            </a:r>
            <a:endParaRPr lang="en-US" sz="3200" dirty="0"/>
          </a:p>
        </p:txBody>
      </p:sp>
      <p:sp>
        <p:nvSpPr>
          <p:cNvPr id="5" name="a001_f_748"/>
          <p:cNvSpPr txBox="1"/>
          <p:nvPr/>
        </p:nvSpPr>
        <p:spPr>
          <a:xfrm>
            <a:off x="5486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/projects/:id/aufgaben</a:t>
            </a:r>
            <a:endParaRPr lang="en-US" sz="1050" dirty="0"/>
          </a:p>
        </p:txBody>
      </p:sp>
      <p:sp>
        <p:nvSpPr>
          <p:cNvPr id="6" name="a003_f_749"/>
          <p:cNvSpPr txBox="1"/>
          <p:nvPr/>
        </p:nvSpPr>
        <p:spPr>
          <a:xfrm>
            <a:off x="5486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To-dos des Teams – mit Zuständigkeit, Frist und Status.</a:t>
            </a:r>
            <a:endParaRPr lang="en-US" sz="1400" dirty="0"/>
          </a:p>
        </p:txBody>
      </p:sp>
      <p:sp>
        <p:nvSpPr>
          <p:cNvPr id="7" name="a004_f_750"/>
          <p:cNvSpPr/>
          <p:nvPr/>
        </p:nvSpPr>
        <p:spPr>
          <a:xfrm>
            <a:off x="566928" y="2811780"/>
            <a:ext cx="118872" cy="11887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8" name="a004_f_751"/>
          <p:cNvSpPr txBox="1"/>
          <p:nvPr/>
        </p:nvSpPr>
        <p:spPr>
          <a:xfrm>
            <a:off x="8229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 in einer Zeile anlegen</a:t>
            </a:r>
            <a:endParaRPr lang="en-US" sz="1250" dirty="0"/>
          </a:p>
        </p:txBody>
      </p:sp>
      <p:sp>
        <p:nvSpPr>
          <p:cNvPr id="9" name="a005_f_752"/>
          <p:cNvSpPr/>
          <p:nvPr/>
        </p:nvSpPr>
        <p:spPr>
          <a:xfrm>
            <a:off x="566928" y="3154680"/>
            <a:ext cx="118872" cy="11887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0" name="a005_f_753"/>
          <p:cNvSpPr txBox="1"/>
          <p:nvPr/>
        </p:nvSpPr>
        <p:spPr>
          <a:xfrm>
            <a:off x="8229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Offen, In Arbeit, Abnahme, Erledigt</a:t>
            </a:r>
            <a:endParaRPr lang="en-US" sz="1250" dirty="0"/>
          </a:p>
        </p:txBody>
      </p:sp>
      <p:sp>
        <p:nvSpPr>
          <p:cNvPr id="11" name="a006_f_754"/>
          <p:cNvSpPr/>
          <p:nvPr/>
        </p:nvSpPr>
        <p:spPr>
          <a:xfrm>
            <a:off x="566928" y="3497580"/>
            <a:ext cx="118872" cy="11887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2" name="a006_f_755"/>
          <p:cNvSpPr txBox="1"/>
          <p:nvPr/>
        </p:nvSpPr>
        <p:spPr>
          <a:xfrm>
            <a:off x="8229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Zuständig und Fälligkeitsdatum</a:t>
            </a:r>
            <a:endParaRPr lang="en-US" sz="1250" dirty="0"/>
          </a:p>
        </p:txBody>
      </p:sp>
      <p:sp>
        <p:nvSpPr>
          <p:cNvPr id="13" name="a007_f_756"/>
          <p:cNvSpPr/>
          <p:nvPr/>
        </p:nvSpPr>
        <p:spPr>
          <a:xfrm>
            <a:off x="566928" y="3840480"/>
            <a:ext cx="118872" cy="11887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4" name="a007_f_757"/>
          <p:cNvSpPr txBox="1"/>
          <p:nvPr/>
        </p:nvSpPr>
        <p:spPr>
          <a:xfrm>
            <a:off x="8229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Überfällige Aufgaben hervorgehoben</a:t>
            </a:r>
            <a:endParaRPr lang="en-US" sz="1250" dirty="0"/>
          </a:p>
        </p:txBody>
      </p:sp>
      <p:sp>
        <p:nvSpPr>
          <p:cNvPr id="15" name="a008_f_758"/>
          <p:cNvSpPr/>
          <p:nvPr/>
        </p:nvSpPr>
        <p:spPr>
          <a:xfrm>
            <a:off x="566928" y="4183380"/>
            <a:ext cx="118872" cy="118872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6" name="a008_f_759"/>
          <p:cNvSpPr txBox="1"/>
          <p:nvPr/>
        </p:nvSpPr>
        <p:spPr>
          <a:xfrm>
            <a:off x="822960" y="41148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Änderung landet im Audit-Log</a:t>
            </a:r>
            <a:endParaRPr lang="en-US" sz="1250" dirty="0"/>
          </a:p>
        </p:txBody>
      </p:sp>
      <p:sp>
        <p:nvSpPr>
          <p:cNvPr id="17" name="a012_f_760"/>
          <p:cNvSpPr txBox="1"/>
          <p:nvPr/>
        </p:nvSpPr>
        <p:spPr>
          <a:xfrm>
            <a:off x="5486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8" name="a013_f_761"/>
          <p:cNvSpPr txBox="1"/>
          <p:nvPr/>
        </p:nvSpPr>
        <p:spPr>
          <a:xfrm>
            <a:off x="548640" y="576072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71E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9" name="a013_f_762"/>
          <p:cNvSpPr txBox="1"/>
          <p:nvPr/>
        </p:nvSpPr>
        <p:spPr>
          <a:xfrm>
            <a:off x="1490472" y="576072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0B0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0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Audit-Log</a:t>
            </a:r>
            <a:endParaRPr lang="en-US" sz="950" dirty="0"/>
          </a:p>
        </p:txBody>
      </p:sp>
      <p:sp>
        <p:nvSpPr>
          <p:cNvPr id="20" name="a013_f_763"/>
          <p:cNvSpPr txBox="1"/>
          <p:nvPr/>
        </p:nvSpPr>
        <p:spPr>
          <a:xfrm>
            <a:off x="2432304" y="5760720"/>
            <a:ext cx="97840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0B0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0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Aktivitäten</a:t>
            </a:r>
            <a:endParaRPr lang="en-US" sz="950" dirty="0"/>
          </a:p>
        </p:txBody>
      </p:sp>
      <p:sp>
        <p:nvSpPr>
          <p:cNvPr id="21" name="a002_f_764"/>
          <p:cNvSpPr/>
          <p:nvPr/>
        </p:nvSpPr>
        <p:spPr>
          <a:xfrm>
            <a:off x="5617159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2" name="a002_f_765" descr="/tmp/claude-0/-home-user-cutsheet/6324ba14-9edd-52e0-984d-db7baab43700/scratchpad/deck/img/light_projects_168_aufgaben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455" y="1511618"/>
            <a:ext cx="5989320" cy="3743325"/>
          </a:xfrm>
          <a:prstGeom prst="rect">
            <a:avLst/>
          </a:prstGeom>
        </p:spPr>
      </p:pic>
      <p:sp>
        <p:nvSpPr>
          <p:cNvPr id="23" name="s_766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4" name="s_767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z_768"/>
          <p:cNvSpPr txBox="1"/>
          <p:nvPr/>
        </p:nvSpPr>
        <p:spPr>
          <a:xfrm>
            <a:off x="548640" y="8229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a002_f_769"/>
          <p:cNvSpPr txBox="1"/>
          <p:nvPr/>
        </p:nvSpPr>
        <p:spPr>
          <a:xfrm>
            <a:off x="548640" y="23317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Entwicklung</a:t>
            </a:r>
            <a:endParaRPr lang="en-US" sz="3600" dirty="0"/>
          </a:p>
        </p:txBody>
      </p:sp>
      <p:sp>
        <p:nvSpPr>
          <p:cNvPr id="4" name="a003_f_770"/>
          <p:cNvSpPr txBox="1"/>
          <p:nvPr/>
        </p:nvSpPr>
        <p:spPr>
          <a:xfrm>
            <a:off x="548640" y="36576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Drehbuch zur Szene: Schreiben, Aufschlüsseln, Bildsprache und Abstimmung pro Szene.</a:t>
            </a:r>
            <a:endParaRPr lang="en-US" sz="1500" dirty="0"/>
          </a:p>
        </p:txBody>
      </p:sp>
      <p:sp>
        <p:nvSpPr>
          <p:cNvPr id="5" name="a003_f_771"/>
          <p:cNvSpPr txBox="1"/>
          <p:nvPr/>
        </p:nvSpPr>
        <p:spPr>
          <a:xfrm>
            <a:off x="548640" y="5029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Seiten</a:t>
            </a:r>
            <a:endParaRPr lang="en-US" sz="1300" dirty="0"/>
          </a:p>
        </p:txBody>
      </p:sp>
      <p:sp>
        <p:nvSpPr>
          <p:cNvPr id="6" name="a004_f_772"/>
          <p:cNvSpPr/>
          <p:nvPr/>
        </p:nvSpPr>
        <p:spPr>
          <a:xfrm>
            <a:off x="5897880" y="960120"/>
            <a:ext cx="146304" cy="146304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7" name="a004_f_773"/>
          <p:cNvSpPr txBox="1"/>
          <p:nvPr/>
        </p:nvSpPr>
        <p:spPr>
          <a:xfrm>
            <a:off x="621792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 (Szenenübersicht)</a:t>
            </a:r>
            <a:endParaRPr lang="en-US" sz="1600" dirty="0"/>
          </a:p>
        </p:txBody>
      </p:sp>
      <p:sp>
        <p:nvSpPr>
          <p:cNvPr id="8" name="a004_f_774"/>
          <p:cNvSpPr txBox="1"/>
          <p:nvPr/>
        </p:nvSpPr>
        <p:spPr>
          <a:xfrm>
            <a:off x="6217920" y="119786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Rückgrat jeder Planung: alle Szenen mit Aufschlüsselung.</a:t>
            </a:r>
            <a:endParaRPr lang="en-US" sz="1100" dirty="0"/>
          </a:p>
        </p:txBody>
      </p:sp>
      <p:sp>
        <p:nvSpPr>
          <p:cNvPr id="9" name="a005_f_775"/>
          <p:cNvSpPr/>
          <p:nvPr/>
        </p:nvSpPr>
        <p:spPr>
          <a:xfrm>
            <a:off x="5897880" y="1728216"/>
            <a:ext cx="146304" cy="146304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0" name="a005_f_776"/>
          <p:cNvSpPr txBox="1"/>
          <p:nvPr/>
        </p:nvSpPr>
        <p:spPr>
          <a:xfrm>
            <a:off x="6217920" y="163677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Drehbuch-Editor</a:t>
            </a:r>
            <a:endParaRPr lang="en-US" sz="1600" dirty="0"/>
          </a:p>
        </p:txBody>
      </p:sp>
      <p:sp>
        <p:nvSpPr>
          <p:cNvPr id="11" name="a005_f_777"/>
          <p:cNvSpPr txBox="1"/>
          <p:nvPr/>
        </p:nvSpPr>
        <p:spPr>
          <a:xfrm>
            <a:off x="621792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Drehbuch schreiben im Industrieformat – Szenen entstehen dabei automatisch.</a:t>
            </a:r>
            <a:endParaRPr lang="en-US" sz="1100" dirty="0"/>
          </a:p>
        </p:txBody>
      </p:sp>
      <p:sp>
        <p:nvSpPr>
          <p:cNvPr id="12" name="a006_f_778"/>
          <p:cNvSpPr/>
          <p:nvPr/>
        </p:nvSpPr>
        <p:spPr>
          <a:xfrm>
            <a:off x="5897880" y="2496312"/>
            <a:ext cx="146304" cy="146304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3" name="a006_f_779"/>
          <p:cNvSpPr txBox="1"/>
          <p:nvPr/>
        </p:nvSpPr>
        <p:spPr>
          <a:xfrm>
            <a:off x="6217920" y="24048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Moodboard</a:t>
            </a:r>
            <a:endParaRPr lang="en-US" sz="1600" dirty="0"/>
          </a:p>
        </p:txBody>
      </p:sp>
      <p:sp>
        <p:nvSpPr>
          <p:cNvPr id="14" name="a006_f_780"/>
          <p:cNvSpPr txBox="1"/>
          <p:nvPr/>
        </p:nvSpPr>
        <p:spPr>
          <a:xfrm>
            <a:off x="6217920" y="273405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Bildsprache als freie Fläche: Bilder, Farben und Notizen.</a:t>
            </a:r>
            <a:endParaRPr lang="en-US" sz="1100" dirty="0"/>
          </a:p>
        </p:txBody>
      </p:sp>
      <p:sp>
        <p:nvSpPr>
          <p:cNvPr id="15" name="a007_f_781"/>
          <p:cNvSpPr/>
          <p:nvPr/>
        </p:nvSpPr>
        <p:spPr>
          <a:xfrm>
            <a:off x="5897880" y="3264408"/>
            <a:ext cx="146304" cy="146304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6" name="a007_f_782"/>
          <p:cNvSpPr txBox="1"/>
          <p:nvPr/>
        </p:nvSpPr>
        <p:spPr>
          <a:xfrm>
            <a:off x="6217920" y="31729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Szenen-Kommentare</a:t>
            </a:r>
            <a:endParaRPr lang="en-US" sz="1600" dirty="0"/>
          </a:p>
        </p:txBody>
      </p:sp>
      <p:sp>
        <p:nvSpPr>
          <p:cNvPr id="17" name="a007_f_783"/>
          <p:cNvSpPr txBox="1"/>
          <p:nvPr/>
        </p:nvSpPr>
        <p:spPr>
          <a:xfrm>
            <a:off x="6217920" y="35021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Abstimmung pro Szene – projektweit gesammelt, mit Erledigt-Status.</a:t>
            </a:r>
            <a:endParaRPr lang="en-US" sz="1100" dirty="0"/>
          </a:p>
        </p:txBody>
      </p:sp>
      <p:sp>
        <p:nvSpPr>
          <p:cNvPr id="18" name="s_784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19" name="s_785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36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786"/>
          <p:cNvSpPr txBox="1"/>
          <p:nvPr/>
        </p:nvSpPr>
        <p:spPr>
          <a:xfrm>
            <a:off x="6720840" y="502920"/>
            <a:ext cx="1113739" cy="292608"/>
          </a:xfrm>
          <a:prstGeom prst="roundRect">
            <a:avLst>
              <a:gd name="adj" fmla="val 50000"/>
            </a:avLst>
          </a:prstGeom>
          <a:solidFill>
            <a:srgbClr val="F5EA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Entwicklung</a:t>
            </a:r>
            <a:endParaRPr lang="en-US" sz="1000" dirty="0"/>
          </a:p>
        </p:txBody>
      </p:sp>
      <p:sp>
        <p:nvSpPr>
          <p:cNvPr id="3" name="a001_f_787"/>
          <p:cNvSpPr txBox="1"/>
          <p:nvPr/>
        </p:nvSpPr>
        <p:spPr>
          <a:xfrm>
            <a:off x="99669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16 von 69</a:t>
            </a:r>
            <a:endParaRPr lang="en-US" sz="950" dirty="0"/>
          </a:p>
        </p:txBody>
      </p:sp>
      <p:sp>
        <p:nvSpPr>
          <p:cNvPr id="4" name="a001_f_788"/>
          <p:cNvSpPr txBox="1"/>
          <p:nvPr/>
        </p:nvSpPr>
        <p:spPr>
          <a:xfrm>
            <a:off x="67208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 (Szenenübersicht)</a:t>
            </a:r>
            <a:endParaRPr lang="en-US" sz="2800" dirty="0"/>
          </a:p>
        </p:txBody>
      </p:sp>
      <p:sp>
        <p:nvSpPr>
          <p:cNvPr id="5" name="a001_f_789"/>
          <p:cNvSpPr txBox="1"/>
          <p:nvPr/>
        </p:nvSpPr>
        <p:spPr>
          <a:xfrm>
            <a:off x="67208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/projects/:id/drehbuch</a:t>
            </a:r>
            <a:endParaRPr lang="en-US" sz="1050" dirty="0"/>
          </a:p>
        </p:txBody>
      </p:sp>
      <p:sp>
        <p:nvSpPr>
          <p:cNvPr id="6" name="a003_f_790"/>
          <p:cNvSpPr txBox="1"/>
          <p:nvPr/>
        </p:nvSpPr>
        <p:spPr>
          <a:xfrm>
            <a:off x="67208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Rückgrat jeder Planung: alle Szenen mit Aufschlüsselung.</a:t>
            </a:r>
            <a:endParaRPr lang="en-US" sz="1400" dirty="0"/>
          </a:p>
        </p:txBody>
      </p:sp>
      <p:sp>
        <p:nvSpPr>
          <p:cNvPr id="7" name="a004_f_791"/>
          <p:cNvSpPr/>
          <p:nvPr/>
        </p:nvSpPr>
        <p:spPr>
          <a:xfrm>
            <a:off x="6739128" y="2811780"/>
            <a:ext cx="118872" cy="118872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8" name="a004_f_792"/>
          <p:cNvSpPr txBox="1"/>
          <p:nvPr/>
        </p:nvSpPr>
        <p:spPr>
          <a:xfrm>
            <a:off x="69951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Nummer, INT/EXT, Tag/Nacht, Motiv, Seiten in Achteln</a:t>
            </a:r>
            <a:endParaRPr lang="en-US" sz="1250" dirty="0"/>
          </a:p>
        </p:txBody>
      </p:sp>
      <p:sp>
        <p:nvSpPr>
          <p:cNvPr id="9" name="a005_f_793"/>
          <p:cNvSpPr/>
          <p:nvPr/>
        </p:nvSpPr>
        <p:spPr>
          <a:xfrm>
            <a:off x="6739128" y="3154680"/>
            <a:ext cx="118872" cy="118872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0" name="a005_f_794"/>
          <p:cNvSpPr txBox="1"/>
          <p:nvPr/>
        </p:nvSpPr>
        <p:spPr>
          <a:xfrm>
            <a:off x="69951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Figuren und Inventar pro Szene (Breakdown)</a:t>
            </a:r>
            <a:endParaRPr lang="en-US" sz="1250" dirty="0"/>
          </a:p>
        </p:txBody>
      </p:sp>
      <p:sp>
        <p:nvSpPr>
          <p:cNvPr id="11" name="a006_f_795"/>
          <p:cNvSpPr/>
          <p:nvPr/>
        </p:nvSpPr>
        <p:spPr>
          <a:xfrm>
            <a:off x="6739128" y="3497580"/>
            <a:ext cx="118872" cy="118872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2" name="a006_f_796"/>
          <p:cNvSpPr txBox="1"/>
          <p:nvPr/>
        </p:nvSpPr>
        <p:spPr>
          <a:xfrm>
            <a:off x="69951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Geschätzte Drehzeit und interne Notizen</a:t>
            </a:r>
            <a:endParaRPr lang="en-US" sz="1250" dirty="0"/>
          </a:p>
        </p:txBody>
      </p:sp>
      <p:sp>
        <p:nvSpPr>
          <p:cNvPr id="13" name="a007_f_797"/>
          <p:cNvSpPr/>
          <p:nvPr/>
        </p:nvSpPr>
        <p:spPr>
          <a:xfrm>
            <a:off x="6739128" y="3840480"/>
            <a:ext cx="118872" cy="118872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4" name="a007_f_798"/>
          <p:cNvSpPr txBox="1"/>
          <p:nvPr/>
        </p:nvSpPr>
        <p:spPr>
          <a:xfrm>
            <a:off x="69951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Tag/Nacht und abgedreht/offen</a:t>
            </a:r>
            <a:endParaRPr lang="en-US" sz="1250" dirty="0"/>
          </a:p>
        </p:txBody>
      </p:sp>
      <p:sp>
        <p:nvSpPr>
          <p:cNvPr id="15" name="a008_f_799"/>
          <p:cNvSpPr/>
          <p:nvPr/>
        </p:nvSpPr>
        <p:spPr>
          <a:xfrm>
            <a:off x="6739128" y="4183380"/>
            <a:ext cx="118872" cy="118872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6" name="a008_f_800"/>
          <p:cNvSpPr txBox="1"/>
          <p:nvPr/>
        </p:nvSpPr>
        <p:spPr>
          <a:xfrm>
            <a:off x="6995160" y="41148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aus Text („1 INT. KÜCHE – TAG“)</a:t>
            </a:r>
            <a:endParaRPr lang="en-US" sz="1250" dirty="0"/>
          </a:p>
        </p:txBody>
      </p:sp>
      <p:sp>
        <p:nvSpPr>
          <p:cNvPr id="17" name="a009_f_801"/>
          <p:cNvSpPr/>
          <p:nvPr/>
        </p:nvSpPr>
        <p:spPr>
          <a:xfrm>
            <a:off x="6739128" y="4526280"/>
            <a:ext cx="118872" cy="118872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8" name="a009_f_802"/>
          <p:cNvSpPr txBox="1"/>
          <p:nvPr/>
        </p:nvSpPr>
        <p:spPr>
          <a:xfrm>
            <a:off x="6995160" y="44577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im Fountain-Format</a:t>
            </a:r>
            <a:endParaRPr lang="en-US" sz="1250" dirty="0"/>
          </a:p>
        </p:txBody>
      </p:sp>
      <p:sp>
        <p:nvSpPr>
          <p:cNvPr id="19" name="a012_f_803"/>
          <p:cNvSpPr txBox="1"/>
          <p:nvPr/>
        </p:nvSpPr>
        <p:spPr>
          <a:xfrm>
            <a:off x="6720840" y="53400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20" name="a013_f_804"/>
          <p:cNvSpPr txBox="1"/>
          <p:nvPr/>
        </p:nvSpPr>
        <p:spPr>
          <a:xfrm>
            <a:off x="6720840" y="5614416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F52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Drehbuch-Editor</a:t>
            </a:r>
            <a:endParaRPr lang="en-US" sz="950" dirty="0"/>
          </a:p>
        </p:txBody>
      </p:sp>
      <p:sp>
        <p:nvSpPr>
          <p:cNvPr id="21" name="a013_f_805"/>
          <p:cNvSpPr txBox="1"/>
          <p:nvPr/>
        </p:nvSpPr>
        <p:spPr>
          <a:xfrm>
            <a:off x="8046720" y="5614416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Drehplan</a:t>
            </a:r>
            <a:endParaRPr lang="en-US" sz="950" dirty="0"/>
          </a:p>
        </p:txBody>
      </p:sp>
      <p:sp>
        <p:nvSpPr>
          <p:cNvPr id="22" name="a013_f_806"/>
          <p:cNvSpPr txBox="1"/>
          <p:nvPr/>
        </p:nvSpPr>
        <p:spPr>
          <a:xfrm>
            <a:off x="8924544" y="5614416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2D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Besetzung</a:t>
            </a:r>
            <a:endParaRPr lang="en-US" sz="950" dirty="0"/>
          </a:p>
        </p:txBody>
      </p:sp>
      <p:sp>
        <p:nvSpPr>
          <p:cNvPr id="23" name="a013_f_807"/>
          <p:cNvSpPr txBox="1"/>
          <p:nvPr/>
        </p:nvSpPr>
        <p:spPr>
          <a:xfrm>
            <a:off x="9866376" y="5614416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Motive</a:t>
            </a:r>
            <a:endParaRPr lang="en-US" sz="950" dirty="0"/>
          </a:p>
        </p:txBody>
      </p:sp>
      <p:sp>
        <p:nvSpPr>
          <p:cNvPr id="24" name="a013_f_808"/>
          <p:cNvSpPr txBox="1"/>
          <p:nvPr/>
        </p:nvSpPr>
        <p:spPr>
          <a:xfrm>
            <a:off x="10616184" y="5614416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Shotlist</a:t>
            </a:r>
            <a:endParaRPr lang="en-US" sz="950" dirty="0"/>
          </a:p>
        </p:txBody>
      </p:sp>
      <p:sp>
        <p:nvSpPr>
          <p:cNvPr id="25" name="a013_f_809"/>
          <p:cNvSpPr txBox="1"/>
          <p:nvPr/>
        </p:nvSpPr>
        <p:spPr>
          <a:xfrm>
            <a:off x="6720840" y="5961888"/>
            <a:ext cx="97840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Zeitanalyse</a:t>
            </a:r>
            <a:endParaRPr lang="en-US" sz="950" dirty="0"/>
          </a:p>
        </p:txBody>
      </p:sp>
      <p:sp>
        <p:nvSpPr>
          <p:cNvPr id="26" name="a002_f_810"/>
          <p:cNvSpPr/>
          <p:nvPr/>
        </p:nvSpPr>
        <p:spPr>
          <a:xfrm>
            <a:off x="420624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7" name="a002_f_811" descr="/tmp/claude-0/-home-user-cutsheet/6324ba14-9edd-52e0-984d-db7baab43700/scratchpad/deck/img/light_projects_168_drehbuch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11618"/>
            <a:ext cx="5989320" cy="3743325"/>
          </a:xfrm>
          <a:prstGeom prst="rect">
            <a:avLst/>
          </a:prstGeom>
        </p:spPr>
      </p:pic>
      <p:sp>
        <p:nvSpPr>
          <p:cNvPr id="28" name="s_812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9" name="s_81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48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48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48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48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48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814"/>
          <p:cNvSpPr txBox="1"/>
          <p:nvPr/>
        </p:nvSpPr>
        <p:spPr>
          <a:xfrm>
            <a:off x="548640" y="502920"/>
            <a:ext cx="1113739" cy="292608"/>
          </a:xfrm>
          <a:prstGeom prst="roundRect">
            <a:avLst>
              <a:gd name="adj" fmla="val 50000"/>
            </a:avLst>
          </a:prstGeom>
          <a:solidFill>
            <a:srgbClr val="F5EA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Entwicklung</a:t>
            </a:r>
            <a:endParaRPr lang="en-US" sz="1000" dirty="0"/>
          </a:p>
        </p:txBody>
      </p:sp>
      <p:sp>
        <p:nvSpPr>
          <p:cNvPr id="3" name="a001_f_815"/>
          <p:cNvSpPr txBox="1"/>
          <p:nvPr/>
        </p:nvSpPr>
        <p:spPr>
          <a:xfrm>
            <a:off x="37947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17 von 69</a:t>
            </a:r>
            <a:endParaRPr lang="en-US" sz="950" dirty="0"/>
          </a:p>
        </p:txBody>
      </p:sp>
      <p:sp>
        <p:nvSpPr>
          <p:cNvPr id="4" name="a001_f_816"/>
          <p:cNvSpPr txBox="1"/>
          <p:nvPr/>
        </p:nvSpPr>
        <p:spPr>
          <a:xfrm>
            <a:off x="5486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Drehbuch-Editor</a:t>
            </a:r>
            <a:endParaRPr lang="en-US" sz="3200" dirty="0"/>
          </a:p>
        </p:txBody>
      </p:sp>
      <p:sp>
        <p:nvSpPr>
          <p:cNvPr id="5" name="a001_f_817"/>
          <p:cNvSpPr txBox="1"/>
          <p:nvPr/>
        </p:nvSpPr>
        <p:spPr>
          <a:xfrm>
            <a:off x="5486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/projects/:id/screenplay-editor</a:t>
            </a:r>
            <a:endParaRPr lang="en-US" sz="1050" dirty="0"/>
          </a:p>
        </p:txBody>
      </p:sp>
      <p:sp>
        <p:nvSpPr>
          <p:cNvPr id="6" name="a003_f_818"/>
          <p:cNvSpPr txBox="1"/>
          <p:nvPr/>
        </p:nvSpPr>
        <p:spPr>
          <a:xfrm>
            <a:off x="5486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Drehbuch schreiben im Industrieformat – Szenen entstehen dabei automatisch.</a:t>
            </a:r>
            <a:endParaRPr lang="en-US" sz="1400" dirty="0"/>
          </a:p>
        </p:txBody>
      </p:sp>
      <p:sp>
        <p:nvSpPr>
          <p:cNvPr id="7" name="a004_f_819"/>
          <p:cNvSpPr/>
          <p:nvPr/>
        </p:nvSpPr>
        <p:spPr>
          <a:xfrm>
            <a:off x="566928" y="2811780"/>
            <a:ext cx="118872" cy="118872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8" name="a004_f_820"/>
          <p:cNvSpPr txBox="1"/>
          <p:nvPr/>
        </p:nvSpPr>
        <p:spPr>
          <a:xfrm>
            <a:off x="822960" y="2743200"/>
            <a:ext cx="4617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Blocktypen: Szenenüberschrift, Aktion, Figur, Dialog, Anweisung, Übergang, Notiz</a:t>
            </a:r>
            <a:endParaRPr lang="en-US" sz="1250" dirty="0"/>
          </a:p>
        </p:txBody>
      </p:sp>
      <p:sp>
        <p:nvSpPr>
          <p:cNvPr id="9" name="a005_f_821"/>
          <p:cNvSpPr/>
          <p:nvPr/>
        </p:nvSpPr>
        <p:spPr>
          <a:xfrm>
            <a:off x="566928" y="3369564"/>
            <a:ext cx="118872" cy="118872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0" name="a005_f_822"/>
          <p:cNvSpPr txBox="1"/>
          <p:nvPr/>
        </p:nvSpPr>
        <p:spPr>
          <a:xfrm>
            <a:off x="822960" y="3300984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wechselt den Blocktyp wie in Final Draft</a:t>
            </a:r>
            <a:endParaRPr lang="en-US" sz="1250" dirty="0"/>
          </a:p>
        </p:txBody>
      </p:sp>
      <p:sp>
        <p:nvSpPr>
          <p:cNvPr id="11" name="a006_f_823"/>
          <p:cNvSpPr/>
          <p:nvPr/>
        </p:nvSpPr>
        <p:spPr>
          <a:xfrm>
            <a:off x="566928" y="3712464"/>
            <a:ext cx="118872" cy="118872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2" name="a006_f_824"/>
          <p:cNvSpPr txBox="1"/>
          <p:nvPr/>
        </p:nvSpPr>
        <p:spPr>
          <a:xfrm>
            <a:off x="822960" y="3643884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Figurenzusätze V.O., O.S., O.C., WEITER</a:t>
            </a:r>
            <a:endParaRPr lang="en-US" sz="1250" dirty="0"/>
          </a:p>
        </p:txBody>
      </p:sp>
      <p:sp>
        <p:nvSpPr>
          <p:cNvPr id="13" name="a007_f_825"/>
          <p:cNvSpPr/>
          <p:nvPr/>
        </p:nvSpPr>
        <p:spPr>
          <a:xfrm>
            <a:off x="566928" y="4055364"/>
            <a:ext cx="118872" cy="118872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4" name="a007_f_826"/>
          <p:cNvSpPr txBox="1"/>
          <p:nvPr/>
        </p:nvSpPr>
        <p:spPr>
          <a:xfrm>
            <a:off x="822960" y="3986784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Final-Draft-Import (FDX)</a:t>
            </a:r>
            <a:endParaRPr lang="en-US" sz="1250" dirty="0"/>
          </a:p>
        </p:txBody>
      </p:sp>
      <p:sp>
        <p:nvSpPr>
          <p:cNvPr id="15" name="a008_f_827"/>
          <p:cNvSpPr/>
          <p:nvPr/>
        </p:nvSpPr>
        <p:spPr>
          <a:xfrm>
            <a:off x="566928" y="4398264"/>
            <a:ext cx="118872" cy="118872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6" name="a008_f_828"/>
          <p:cNvSpPr txBox="1"/>
          <p:nvPr/>
        </p:nvSpPr>
        <p:spPr>
          <a:xfrm>
            <a:off x="822960" y="4329684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normgerecht, auch mit Anmerkungen</a:t>
            </a:r>
            <a:endParaRPr lang="en-US" sz="1250" dirty="0"/>
          </a:p>
        </p:txBody>
      </p:sp>
      <p:sp>
        <p:nvSpPr>
          <p:cNvPr id="17" name="a009_f_829"/>
          <p:cNvSpPr/>
          <p:nvPr/>
        </p:nvSpPr>
        <p:spPr>
          <a:xfrm>
            <a:off x="566928" y="4741164"/>
            <a:ext cx="118872" cy="118872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8" name="a009_f_830"/>
          <p:cNvSpPr txBox="1"/>
          <p:nvPr/>
        </p:nvSpPr>
        <p:spPr>
          <a:xfrm>
            <a:off x="822960" y="4672584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Fountain-Export</a:t>
            </a:r>
            <a:endParaRPr lang="en-US" sz="1250" dirty="0"/>
          </a:p>
        </p:txBody>
      </p:sp>
      <p:sp>
        <p:nvSpPr>
          <p:cNvPr id="19" name="a012_f_831"/>
          <p:cNvSpPr txBox="1"/>
          <p:nvPr/>
        </p:nvSpPr>
        <p:spPr>
          <a:xfrm>
            <a:off x="5486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20" name="a013_f_832"/>
          <p:cNvSpPr txBox="1"/>
          <p:nvPr/>
        </p:nvSpPr>
        <p:spPr>
          <a:xfrm>
            <a:off x="548640" y="5760720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F52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</a:t>
            </a:r>
            <a:endParaRPr lang="en-US" sz="950" dirty="0"/>
          </a:p>
        </p:txBody>
      </p:sp>
      <p:sp>
        <p:nvSpPr>
          <p:cNvPr id="21" name="a013_f_833"/>
          <p:cNvSpPr txBox="1"/>
          <p:nvPr/>
        </p:nvSpPr>
        <p:spPr>
          <a:xfrm>
            <a:off x="1298448" y="576072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2D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Besetzung</a:t>
            </a:r>
            <a:endParaRPr lang="en-US" sz="950" dirty="0"/>
          </a:p>
        </p:txBody>
      </p:sp>
      <p:sp>
        <p:nvSpPr>
          <p:cNvPr id="22" name="a013_f_834"/>
          <p:cNvSpPr txBox="1"/>
          <p:nvPr/>
        </p:nvSpPr>
        <p:spPr>
          <a:xfrm>
            <a:off x="2240280" y="5760720"/>
            <a:ext cx="5943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0B0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0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Suche</a:t>
            </a:r>
            <a:endParaRPr lang="en-US" sz="950" dirty="0"/>
          </a:p>
        </p:txBody>
      </p:sp>
      <p:sp>
        <p:nvSpPr>
          <p:cNvPr id="23" name="a002_f_835"/>
          <p:cNvSpPr/>
          <p:nvPr/>
        </p:nvSpPr>
        <p:spPr>
          <a:xfrm>
            <a:off x="5617159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4" name="a002_f_836" descr="/tmp/claude-0/-home-user-cutsheet/6324ba14-9edd-52e0-984d-db7baab43700/scratchpad/deck/img/light_projects_168_screenplay-editor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455" y="1511618"/>
            <a:ext cx="5989320" cy="3743325"/>
          </a:xfrm>
          <a:prstGeom prst="rect">
            <a:avLst/>
          </a:prstGeom>
        </p:spPr>
      </p:pic>
      <p:sp>
        <p:nvSpPr>
          <p:cNvPr id="25" name="s_837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6" name="s_838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48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48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839"/>
          <p:cNvSpPr txBox="1"/>
          <p:nvPr/>
        </p:nvSpPr>
        <p:spPr>
          <a:xfrm>
            <a:off x="6720840" y="502920"/>
            <a:ext cx="1113739" cy="292608"/>
          </a:xfrm>
          <a:prstGeom prst="roundRect">
            <a:avLst>
              <a:gd name="adj" fmla="val 50000"/>
            </a:avLst>
          </a:prstGeom>
          <a:solidFill>
            <a:srgbClr val="F5EA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Entwicklung</a:t>
            </a:r>
            <a:endParaRPr lang="en-US" sz="1000" dirty="0"/>
          </a:p>
        </p:txBody>
      </p:sp>
      <p:sp>
        <p:nvSpPr>
          <p:cNvPr id="3" name="a001_f_840"/>
          <p:cNvSpPr txBox="1"/>
          <p:nvPr/>
        </p:nvSpPr>
        <p:spPr>
          <a:xfrm>
            <a:off x="99669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18 von 69</a:t>
            </a:r>
            <a:endParaRPr lang="en-US" sz="950" dirty="0"/>
          </a:p>
        </p:txBody>
      </p:sp>
      <p:sp>
        <p:nvSpPr>
          <p:cNvPr id="4" name="a001_f_841"/>
          <p:cNvSpPr txBox="1"/>
          <p:nvPr/>
        </p:nvSpPr>
        <p:spPr>
          <a:xfrm>
            <a:off x="67208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Moodboard</a:t>
            </a:r>
            <a:endParaRPr lang="en-US" sz="3200" dirty="0"/>
          </a:p>
        </p:txBody>
      </p:sp>
      <p:sp>
        <p:nvSpPr>
          <p:cNvPr id="5" name="a001_f_842"/>
          <p:cNvSpPr txBox="1"/>
          <p:nvPr/>
        </p:nvSpPr>
        <p:spPr>
          <a:xfrm>
            <a:off x="67208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/projects/:id/moodboard</a:t>
            </a:r>
            <a:endParaRPr lang="en-US" sz="1050" dirty="0"/>
          </a:p>
        </p:txBody>
      </p:sp>
      <p:sp>
        <p:nvSpPr>
          <p:cNvPr id="6" name="a003_f_843"/>
          <p:cNvSpPr txBox="1"/>
          <p:nvPr/>
        </p:nvSpPr>
        <p:spPr>
          <a:xfrm>
            <a:off x="67208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Bildsprache als freie Fläche: Bilder, Farben und Notizen.</a:t>
            </a:r>
            <a:endParaRPr lang="en-US" sz="1400" dirty="0"/>
          </a:p>
        </p:txBody>
      </p:sp>
      <p:sp>
        <p:nvSpPr>
          <p:cNvPr id="7" name="a004_f_844"/>
          <p:cNvSpPr/>
          <p:nvPr/>
        </p:nvSpPr>
        <p:spPr>
          <a:xfrm>
            <a:off x="6739128" y="2811780"/>
            <a:ext cx="118872" cy="118872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8" name="a004_f_845"/>
          <p:cNvSpPr txBox="1"/>
          <p:nvPr/>
        </p:nvSpPr>
        <p:spPr>
          <a:xfrm>
            <a:off x="69951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Bilder per URL oder Datei</a:t>
            </a:r>
            <a:endParaRPr lang="en-US" sz="1250" dirty="0"/>
          </a:p>
        </p:txBody>
      </p:sp>
      <p:sp>
        <p:nvSpPr>
          <p:cNvPr id="9" name="a005_f_846"/>
          <p:cNvSpPr/>
          <p:nvPr/>
        </p:nvSpPr>
        <p:spPr>
          <a:xfrm>
            <a:off x="6739128" y="3154680"/>
            <a:ext cx="118872" cy="118872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0" name="a005_f_847"/>
          <p:cNvSpPr txBox="1"/>
          <p:nvPr/>
        </p:nvSpPr>
        <p:spPr>
          <a:xfrm>
            <a:off x="69951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Farbfelder für Farbdramaturgie</a:t>
            </a:r>
            <a:endParaRPr lang="en-US" sz="1250" dirty="0"/>
          </a:p>
        </p:txBody>
      </p:sp>
      <p:sp>
        <p:nvSpPr>
          <p:cNvPr id="11" name="a006_f_848"/>
          <p:cNvSpPr/>
          <p:nvPr/>
        </p:nvSpPr>
        <p:spPr>
          <a:xfrm>
            <a:off x="6739128" y="3497580"/>
            <a:ext cx="118872" cy="118872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2" name="a006_f_849"/>
          <p:cNvSpPr txBox="1"/>
          <p:nvPr/>
        </p:nvSpPr>
        <p:spPr>
          <a:xfrm>
            <a:off x="69951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Notizen in Farben</a:t>
            </a:r>
            <a:endParaRPr lang="en-US" sz="1250" dirty="0"/>
          </a:p>
        </p:txBody>
      </p:sp>
      <p:sp>
        <p:nvSpPr>
          <p:cNvPr id="13" name="a007_f_850"/>
          <p:cNvSpPr/>
          <p:nvPr/>
        </p:nvSpPr>
        <p:spPr>
          <a:xfrm>
            <a:off x="6739128" y="3840480"/>
            <a:ext cx="118872" cy="118872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4" name="a007_f_851"/>
          <p:cNvSpPr txBox="1"/>
          <p:nvPr/>
        </p:nvSpPr>
        <p:spPr>
          <a:xfrm>
            <a:off x="69951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 verschieben, Ansicht zurücksetzen</a:t>
            </a:r>
            <a:endParaRPr lang="en-US" sz="1250" dirty="0"/>
          </a:p>
        </p:txBody>
      </p:sp>
      <p:sp>
        <p:nvSpPr>
          <p:cNvPr id="15" name="a012_f_852"/>
          <p:cNvSpPr txBox="1"/>
          <p:nvPr/>
        </p:nvSpPr>
        <p:spPr>
          <a:xfrm>
            <a:off x="67208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6" name="a013_f_853"/>
          <p:cNvSpPr txBox="1"/>
          <p:nvPr/>
        </p:nvSpPr>
        <p:spPr>
          <a:xfrm>
            <a:off x="6720840" y="5760720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F52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</a:t>
            </a:r>
            <a:endParaRPr lang="en-US" sz="950" dirty="0"/>
          </a:p>
        </p:txBody>
      </p:sp>
      <p:sp>
        <p:nvSpPr>
          <p:cNvPr id="17" name="a013_f_854"/>
          <p:cNvSpPr txBox="1"/>
          <p:nvPr/>
        </p:nvSpPr>
        <p:spPr>
          <a:xfrm>
            <a:off x="7470648" y="576072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71E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Stammdaten</a:t>
            </a:r>
            <a:endParaRPr lang="en-US" sz="950" dirty="0"/>
          </a:p>
        </p:txBody>
      </p:sp>
      <p:sp>
        <p:nvSpPr>
          <p:cNvPr id="18" name="a002_f_855"/>
          <p:cNvSpPr/>
          <p:nvPr/>
        </p:nvSpPr>
        <p:spPr>
          <a:xfrm>
            <a:off x="420624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19" name="a002_f_856" descr="/tmp/claude-0/-home-user-cutsheet/6324ba14-9edd-52e0-984d-db7baab43700/scratchpad/deck/img/light_projects_168_moodboard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11618"/>
            <a:ext cx="5989320" cy="3743325"/>
          </a:xfrm>
          <a:prstGeom prst="rect">
            <a:avLst/>
          </a:prstGeom>
        </p:spPr>
      </p:pic>
      <p:sp>
        <p:nvSpPr>
          <p:cNvPr id="20" name="s_857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1" name="s_858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859"/>
          <p:cNvSpPr txBox="1"/>
          <p:nvPr/>
        </p:nvSpPr>
        <p:spPr>
          <a:xfrm>
            <a:off x="548640" y="502920"/>
            <a:ext cx="1113739" cy="292608"/>
          </a:xfrm>
          <a:prstGeom prst="roundRect">
            <a:avLst>
              <a:gd name="adj" fmla="val 50000"/>
            </a:avLst>
          </a:prstGeom>
          <a:solidFill>
            <a:srgbClr val="F5EA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Entwicklung</a:t>
            </a:r>
            <a:endParaRPr lang="en-US" sz="1000" dirty="0"/>
          </a:p>
        </p:txBody>
      </p:sp>
      <p:sp>
        <p:nvSpPr>
          <p:cNvPr id="3" name="a001_f_860"/>
          <p:cNvSpPr txBox="1"/>
          <p:nvPr/>
        </p:nvSpPr>
        <p:spPr>
          <a:xfrm>
            <a:off x="37947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19 von 69</a:t>
            </a:r>
            <a:endParaRPr lang="en-US" sz="950" dirty="0"/>
          </a:p>
        </p:txBody>
      </p:sp>
      <p:sp>
        <p:nvSpPr>
          <p:cNvPr id="4" name="a001_f_861"/>
          <p:cNvSpPr txBox="1"/>
          <p:nvPr/>
        </p:nvSpPr>
        <p:spPr>
          <a:xfrm>
            <a:off x="5486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Szenen-Kommentare</a:t>
            </a:r>
            <a:endParaRPr lang="en-US" sz="3200" dirty="0"/>
          </a:p>
        </p:txBody>
      </p:sp>
      <p:sp>
        <p:nvSpPr>
          <p:cNvPr id="5" name="a001_f_862"/>
          <p:cNvSpPr txBox="1"/>
          <p:nvPr/>
        </p:nvSpPr>
        <p:spPr>
          <a:xfrm>
            <a:off x="5486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/projects/:id/kommentare</a:t>
            </a:r>
            <a:endParaRPr lang="en-US" sz="1050" dirty="0"/>
          </a:p>
        </p:txBody>
      </p:sp>
      <p:sp>
        <p:nvSpPr>
          <p:cNvPr id="6" name="a003_f_863"/>
          <p:cNvSpPr txBox="1"/>
          <p:nvPr/>
        </p:nvSpPr>
        <p:spPr>
          <a:xfrm>
            <a:off x="5486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Abstimmung pro Szene – projektweit gesammelt, mit Erledigt-Status.</a:t>
            </a:r>
            <a:endParaRPr lang="en-US" sz="1400" dirty="0"/>
          </a:p>
        </p:txBody>
      </p:sp>
      <p:sp>
        <p:nvSpPr>
          <p:cNvPr id="7" name="a004_f_864"/>
          <p:cNvSpPr/>
          <p:nvPr/>
        </p:nvSpPr>
        <p:spPr>
          <a:xfrm>
            <a:off x="566928" y="2811780"/>
            <a:ext cx="118872" cy="118872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8" name="a004_f_865"/>
          <p:cNvSpPr txBox="1"/>
          <p:nvPr/>
        </p:nvSpPr>
        <p:spPr>
          <a:xfrm>
            <a:off x="8229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 mit Zahl offener Kommentare</a:t>
            </a:r>
            <a:endParaRPr lang="en-US" sz="1250" dirty="0"/>
          </a:p>
        </p:txBody>
      </p:sp>
      <p:sp>
        <p:nvSpPr>
          <p:cNvPr id="9" name="a005_f_866"/>
          <p:cNvSpPr/>
          <p:nvPr/>
        </p:nvSpPr>
        <p:spPr>
          <a:xfrm>
            <a:off x="566928" y="3154680"/>
            <a:ext cx="118872" cy="118872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0" name="a005_f_867"/>
          <p:cNvSpPr txBox="1"/>
          <p:nvPr/>
        </p:nvSpPr>
        <p:spPr>
          <a:xfrm>
            <a:off x="8229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Kommentieren, als gelöst markieren, löschen</a:t>
            </a:r>
            <a:endParaRPr lang="en-US" sz="1250" dirty="0"/>
          </a:p>
        </p:txBody>
      </p:sp>
      <p:sp>
        <p:nvSpPr>
          <p:cNvPr id="11" name="a006_f_868"/>
          <p:cNvSpPr/>
          <p:nvPr/>
        </p:nvSpPr>
        <p:spPr>
          <a:xfrm>
            <a:off x="566928" y="3497580"/>
            <a:ext cx="118872" cy="118872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2" name="a006_f_869"/>
          <p:cNvSpPr txBox="1"/>
          <p:nvPr/>
        </p:nvSpPr>
        <p:spPr>
          <a:xfrm>
            <a:off x="8229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Gelöste und ungelöste getrennt</a:t>
            </a:r>
            <a:endParaRPr lang="en-US" sz="1250" dirty="0"/>
          </a:p>
        </p:txBody>
      </p:sp>
      <p:sp>
        <p:nvSpPr>
          <p:cNvPr id="13" name="a007_f_870"/>
          <p:cNvSpPr/>
          <p:nvPr/>
        </p:nvSpPr>
        <p:spPr>
          <a:xfrm>
            <a:off x="566928" y="3840480"/>
            <a:ext cx="118872" cy="118872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4" name="a007_f_871"/>
          <p:cNvSpPr txBox="1"/>
          <p:nvPr/>
        </p:nvSpPr>
        <p:spPr>
          <a:xfrm>
            <a:off x="8229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Erscheinen im Aktivitätsverlauf</a:t>
            </a:r>
            <a:endParaRPr lang="en-US" sz="1250" dirty="0"/>
          </a:p>
        </p:txBody>
      </p:sp>
      <p:sp>
        <p:nvSpPr>
          <p:cNvPr id="15" name="a012_f_872"/>
          <p:cNvSpPr txBox="1"/>
          <p:nvPr/>
        </p:nvSpPr>
        <p:spPr>
          <a:xfrm>
            <a:off x="5486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6" name="a013_f_873"/>
          <p:cNvSpPr txBox="1"/>
          <p:nvPr/>
        </p:nvSpPr>
        <p:spPr>
          <a:xfrm>
            <a:off x="548640" y="5760720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F52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</a:t>
            </a:r>
            <a:endParaRPr lang="en-US" sz="950" dirty="0"/>
          </a:p>
        </p:txBody>
      </p:sp>
      <p:sp>
        <p:nvSpPr>
          <p:cNvPr id="17" name="a013_f_874"/>
          <p:cNvSpPr txBox="1"/>
          <p:nvPr/>
        </p:nvSpPr>
        <p:spPr>
          <a:xfrm>
            <a:off x="1298448" y="5760720"/>
            <a:ext cx="97840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0B0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0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Aktivitäten</a:t>
            </a:r>
            <a:endParaRPr lang="en-US" sz="950" dirty="0"/>
          </a:p>
        </p:txBody>
      </p:sp>
      <p:sp>
        <p:nvSpPr>
          <p:cNvPr id="18" name="a002_f_875"/>
          <p:cNvSpPr/>
          <p:nvPr/>
        </p:nvSpPr>
        <p:spPr>
          <a:xfrm>
            <a:off x="5617159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19" name="a002_f_876" descr="/tmp/claude-0/-home-user-cutsheet/6324ba14-9edd-52e0-984d-db7baab43700/scratchpad/deck/img/light_projects_168_kommentare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455" y="1511618"/>
            <a:ext cx="5989320" cy="3743325"/>
          </a:xfrm>
          <a:prstGeom prst="rect">
            <a:avLst/>
          </a:prstGeom>
        </p:spPr>
      </p:pic>
      <p:sp>
        <p:nvSpPr>
          <p:cNvPr id="20" name="s_877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1" name="s_878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z_879"/>
          <p:cNvSpPr txBox="1"/>
          <p:nvPr/>
        </p:nvSpPr>
        <p:spPr>
          <a:xfrm>
            <a:off x="548640" y="8229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a002_f_880"/>
          <p:cNvSpPr txBox="1"/>
          <p:nvPr/>
        </p:nvSpPr>
        <p:spPr>
          <a:xfrm>
            <a:off x="548640" y="23317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Casting &amp; Team</a:t>
            </a:r>
            <a:endParaRPr lang="en-US" sz="3600" dirty="0"/>
          </a:p>
        </p:txBody>
      </p:sp>
      <p:sp>
        <p:nvSpPr>
          <p:cNvPr id="4" name="a003_f_881"/>
          <p:cNvSpPr txBox="1"/>
          <p:nvPr/>
        </p:nvSpPr>
        <p:spPr>
          <a:xfrm>
            <a:off x="548640" y="36576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ist dabei? Rollen und Darsteller, Verfügbarkeiten, Komparserie, Stab und alle Kontakte.</a:t>
            </a:r>
            <a:endParaRPr lang="en-US" sz="1500" dirty="0"/>
          </a:p>
        </p:txBody>
      </p:sp>
      <p:sp>
        <p:nvSpPr>
          <p:cNvPr id="5" name="a003_f_882"/>
          <p:cNvSpPr txBox="1"/>
          <p:nvPr/>
        </p:nvSpPr>
        <p:spPr>
          <a:xfrm>
            <a:off x="548640" y="5029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Seiten</a:t>
            </a:r>
            <a:endParaRPr lang="en-US" sz="1300" dirty="0"/>
          </a:p>
        </p:txBody>
      </p:sp>
      <p:sp>
        <p:nvSpPr>
          <p:cNvPr id="6" name="a004_f_883"/>
          <p:cNvSpPr/>
          <p:nvPr/>
        </p:nvSpPr>
        <p:spPr>
          <a:xfrm>
            <a:off x="5897880" y="960120"/>
            <a:ext cx="146304" cy="146304"/>
          </a:xfrm>
          <a:prstGeom prst="ellipse">
            <a:avLst/>
          </a:prstGeom>
          <a:solidFill>
            <a:srgbClr val="FF2D55"/>
          </a:solidFill>
          <a:ln/>
        </p:spPr>
      </p:sp>
      <p:sp>
        <p:nvSpPr>
          <p:cNvPr id="7" name="a004_f_884"/>
          <p:cNvSpPr txBox="1"/>
          <p:nvPr/>
        </p:nvSpPr>
        <p:spPr>
          <a:xfrm>
            <a:off x="621792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Besetzung &amp; Rollen</a:t>
            </a:r>
            <a:endParaRPr lang="en-US" sz="1600" dirty="0"/>
          </a:p>
        </p:txBody>
      </p:sp>
      <p:sp>
        <p:nvSpPr>
          <p:cNvPr id="8" name="a004_f_885"/>
          <p:cNvSpPr txBox="1"/>
          <p:nvPr/>
        </p:nvSpPr>
        <p:spPr>
          <a:xfrm>
            <a:off x="6217920" y="119786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Figuren und ihre Darsteller – mit Drehtagen, Szenen und Gagen.</a:t>
            </a:r>
            <a:endParaRPr lang="en-US" sz="1100" dirty="0"/>
          </a:p>
        </p:txBody>
      </p:sp>
      <p:sp>
        <p:nvSpPr>
          <p:cNvPr id="9" name="a005_f_886"/>
          <p:cNvSpPr/>
          <p:nvPr/>
        </p:nvSpPr>
        <p:spPr>
          <a:xfrm>
            <a:off x="5897880" y="1728216"/>
            <a:ext cx="146304" cy="146304"/>
          </a:xfrm>
          <a:prstGeom prst="ellipse">
            <a:avLst/>
          </a:prstGeom>
          <a:solidFill>
            <a:srgbClr val="FF2D55"/>
          </a:solidFill>
          <a:ln/>
        </p:spPr>
      </p:sp>
      <p:sp>
        <p:nvSpPr>
          <p:cNvPr id="10" name="a005_f_887"/>
          <p:cNvSpPr txBox="1"/>
          <p:nvPr/>
        </p:nvSpPr>
        <p:spPr>
          <a:xfrm>
            <a:off x="6217920" y="163677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Sperrtage Cast</a:t>
            </a:r>
            <a:endParaRPr lang="en-US" sz="1600" dirty="0"/>
          </a:p>
        </p:txBody>
      </p:sp>
      <p:sp>
        <p:nvSpPr>
          <p:cNvPr id="11" name="a005_f_888"/>
          <p:cNvSpPr txBox="1"/>
          <p:nvPr/>
        </p:nvSpPr>
        <p:spPr>
          <a:xfrm>
            <a:off x="621792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 Darsteller nicht können – und wo das mit dem Drehplan kollidiert.</a:t>
            </a:r>
            <a:endParaRPr lang="en-US" sz="1100" dirty="0"/>
          </a:p>
        </p:txBody>
      </p:sp>
      <p:sp>
        <p:nvSpPr>
          <p:cNvPr id="12" name="a006_f_889"/>
          <p:cNvSpPr/>
          <p:nvPr/>
        </p:nvSpPr>
        <p:spPr>
          <a:xfrm>
            <a:off x="5897880" y="2496312"/>
            <a:ext cx="146304" cy="146304"/>
          </a:xfrm>
          <a:prstGeom prst="ellipse">
            <a:avLst/>
          </a:prstGeom>
          <a:solidFill>
            <a:srgbClr val="FF2D55"/>
          </a:solidFill>
          <a:ln/>
        </p:spPr>
      </p:sp>
      <p:sp>
        <p:nvSpPr>
          <p:cNvPr id="13" name="a006_f_890"/>
          <p:cNvSpPr txBox="1"/>
          <p:nvPr/>
        </p:nvSpPr>
        <p:spPr>
          <a:xfrm>
            <a:off x="6217920" y="24048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Komparsen</a:t>
            </a:r>
            <a:endParaRPr lang="en-US" sz="1600" dirty="0"/>
          </a:p>
        </p:txBody>
      </p:sp>
      <p:sp>
        <p:nvSpPr>
          <p:cNvPr id="14" name="a006_f_891"/>
          <p:cNvSpPr txBox="1"/>
          <p:nvPr/>
        </p:nvSpPr>
        <p:spPr>
          <a:xfrm>
            <a:off x="6217920" y="273405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Komparserie mit Kontakt und Tarifgruppe.</a:t>
            </a:r>
            <a:endParaRPr lang="en-US" sz="1100" dirty="0"/>
          </a:p>
        </p:txBody>
      </p:sp>
      <p:sp>
        <p:nvSpPr>
          <p:cNvPr id="15" name="a007_f_892"/>
          <p:cNvSpPr/>
          <p:nvPr/>
        </p:nvSpPr>
        <p:spPr>
          <a:xfrm>
            <a:off x="5897880" y="3264408"/>
            <a:ext cx="146304" cy="146304"/>
          </a:xfrm>
          <a:prstGeom prst="ellipse">
            <a:avLst/>
          </a:prstGeom>
          <a:solidFill>
            <a:srgbClr val="FF2D55"/>
          </a:solidFill>
          <a:ln/>
        </p:spPr>
      </p:sp>
      <p:sp>
        <p:nvSpPr>
          <p:cNvPr id="16" name="a007_f_893"/>
          <p:cNvSpPr txBox="1"/>
          <p:nvPr/>
        </p:nvSpPr>
        <p:spPr>
          <a:xfrm>
            <a:off x="6217920" y="31729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Stabliste</a:t>
            </a:r>
            <a:endParaRPr lang="en-US" sz="1600" dirty="0"/>
          </a:p>
        </p:txBody>
      </p:sp>
      <p:sp>
        <p:nvSpPr>
          <p:cNvPr id="17" name="a007_f_894"/>
          <p:cNvSpPr txBox="1"/>
          <p:nvPr/>
        </p:nvSpPr>
        <p:spPr>
          <a:xfrm>
            <a:off x="6217920" y="35021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ganze Team nach Abteilungen – mit Kontakt und Tagesgage.</a:t>
            </a:r>
            <a:endParaRPr lang="en-US" sz="1100" dirty="0"/>
          </a:p>
        </p:txBody>
      </p:sp>
      <p:sp>
        <p:nvSpPr>
          <p:cNvPr id="18" name="a008_f_895"/>
          <p:cNvSpPr/>
          <p:nvPr/>
        </p:nvSpPr>
        <p:spPr>
          <a:xfrm>
            <a:off x="5897880" y="4032504"/>
            <a:ext cx="146304" cy="146304"/>
          </a:xfrm>
          <a:prstGeom prst="ellipse">
            <a:avLst/>
          </a:prstGeom>
          <a:solidFill>
            <a:srgbClr val="FF2D55"/>
          </a:solidFill>
          <a:ln/>
        </p:spPr>
      </p:sp>
      <p:sp>
        <p:nvSpPr>
          <p:cNvPr id="19" name="a008_f_896"/>
          <p:cNvSpPr txBox="1"/>
          <p:nvPr/>
        </p:nvSpPr>
        <p:spPr>
          <a:xfrm>
            <a:off x="6217920" y="394106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Kontaktliste</a:t>
            </a:r>
            <a:endParaRPr lang="en-US" sz="1600" dirty="0"/>
          </a:p>
        </p:txBody>
      </p:sp>
      <p:sp>
        <p:nvSpPr>
          <p:cNvPr id="20" name="a008_f_897"/>
          <p:cNvSpPr txBox="1"/>
          <p:nvPr/>
        </p:nvSpPr>
        <p:spPr>
          <a:xfrm>
            <a:off x="6217920" y="42702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 und Darsteller in einer durchsuchbaren Liste.</a:t>
            </a:r>
            <a:endParaRPr lang="en-US" sz="1100" dirty="0"/>
          </a:p>
        </p:txBody>
      </p:sp>
      <p:sp>
        <p:nvSpPr>
          <p:cNvPr id="21" name="s_898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2" name="s_899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36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900"/>
          <p:cNvSpPr txBox="1"/>
          <p:nvPr/>
        </p:nvSpPr>
        <p:spPr>
          <a:xfrm>
            <a:off x="6720840" y="502920"/>
            <a:ext cx="1327709" cy="292608"/>
          </a:xfrm>
          <a:prstGeom prst="roundRect">
            <a:avLst>
              <a:gd name="adj" fmla="val 50000"/>
            </a:avLst>
          </a:prstGeom>
          <a:solidFill>
            <a:srgbClr val="FFE9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Casting &amp; Team</a:t>
            </a:r>
            <a:endParaRPr lang="en-US" sz="1000" dirty="0"/>
          </a:p>
        </p:txBody>
      </p:sp>
      <p:sp>
        <p:nvSpPr>
          <p:cNvPr id="3" name="a001_f_901"/>
          <p:cNvSpPr txBox="1"/>
          <p:nvPr/>
        </p:nvSpPr>
        <p:spPr>
          <a:xfrm>
            <a:off x="99669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20 von 69</a:t>
            </a:r>
            <a:endParaRPr lang="en-US" sz="950" dirty="0"/>
          </a:p>
        </p:txBody>
      </p:sp>
      <p:sp>
        <p:nvSpPr>
          <p:cNvPr id="4" name="a001_f_902"/>
          <p:cNvSpPr txBox="1"/>
          <p:nvPr/>
        </p:nvSpPr>
        <p:spPr>
          <a:xfrm>
            <a:off x="67208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Besetzung &amp; Rollen</a:t>
            </a:r>
            <a:endParaRPr lang="en-US" sz="3200" dirty="0"/>
          </a:p>
        </p:txBody>
      </p:sp>
      <p:sp>
        <p:nvSpPr>
          <p:cNvPr id="5" name="a001_f_903"/>
          <p:cNvSpPr txBox="1"/>
          <p:nvPr/>
        </p:nvSpPr>
        <p:spPr>
          <a:xfrm>
            <a:off x="67208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/projects/:id/besetzung</a:t>
            </a:r>
            <a:endParaRPr lang="en-US" sz="1050" dirty="0"/>
          </a:p>
        </p:txBody>
      </p:sp>
      <p:sp>
        <p:nvSpPr>
          <p:cNvPr id="6" name="a003_f_904"/>
          <p:cNvSpPr txBox="1"/>
          <p:nvPr/>
        </p:nvSpPr>
        <p:spPr>
          <a:xfrm>
            <a:off x="67208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Figuren und ihre Darsteller – mit Drehtagen, Szenen und Gagen.</a:t>
            </a:r>
            <a:endParaRPr lang="en-US" sz="1400" dirty="0"/>
          </a:p>
        </p:txBody>
      </p:sp>
      <p:sp>
        <p:nvSpPr>
          <p:cNvPr id="7" name="a004_f_905"/>
          <p:cNvSpPr/>
          <p:nvPr/>
        </p:nvSpPr>
        <p:spPr>
          <a:xfrm>
            <a:off x="6739128" y="2811780"/>
            <a:ext cx="118872" cy="118872"/>
          </a:xfrm>
          <a:prstGeom prst="ellipse">
            <a:avLst/>
          </a:prstGeom>
          <a:solidFill>
            <a:srgbClr val="FF2D55"/>
          </a:solidFill>
          <a:ln/>
        </p:spPr>
      </p:sp>
      <p:sp>
        <p:nvSpPr>
          <p:cNvPr id="8" name="a004_f_906"/>
          <p:cNvSpPr txBox="1"/>
          <p:nvPr/>
        </p:nvSpPr>
        <p:spPr>
          <a:xfrm>
            <a:off x="69951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Figuren mit Alter, Geschlecht, Beschreibung</a:t>
            </a:r>
            <a:endParaRPr lang="en-US" sz="1250" dirty="0"/>
          </a:p>
        </p:txBody>
      </p:sp>
      <p:sp>
        <p:nvSpPr>
          <p:cNvPr id="9" name="a005_f_907"/>
          <p:cNvSpPr/>
          <p:nvPr/>
        </p:nvSpPr>
        <p:spPr>
          <a:xfrm>
            <a:off x="6739128" y="3154680"/>
            <a:ext cx="118872" cy="118872"/>
          </a:xfrm>
          <a:prstGeom prst="ellipse">
            <a:avLst/>
          </a:prstGeom>
          <a:solidFill>
            <a:srgbClr val="FF2D55"/>
          </a:solidFill>
          <a:ln/>
        </p:spPr>
      </p:sp>
      <p:sp>
        <p:nvSpPr>
          <p:cNvPr id="10" name="a005_f_908"/>
          <p:cNvSpPr txBox="1"/>
          <p:nvPr/>
        </p:nvSpPr>
        <p:spPr>
          <a:xfrm>
            <a:off x="69951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Darsteller mit Rolle, Agentur, Tagesgage</a:t>
            </a:r>
            <a:endParaRPr lang="en-US" sz="1250" dirty="0"/>
          </a:p>
        </p:txBody>
      </p:sp>
      <p:sp>
        <p:nvSpPr>
          <p:cNvPr id="11" name="a006_f_909"/>
          <p:cNvSpPr/>
          <p:nvPr/>
        </p:nvSpPr>
        <p:spPr>
          <a:xfrm>
            <a:off x="6739128" y="3497580"/>
            <a:ext cx="118872" cy="118872"/>
          </a:xfrm>
          <a:prstGeom prst="ellipse">
            <a:avLst/>
          </a:prstGeom>
          <a:solidFill>
            <a:srgbClr val="FF2D55"/>
          </a:solidFill>
          <a:ln/>
        </p:spPr>
      </p:sp>
      <p:sp>
        <p:nvSpPr>
          <p:cNvPr id="12" name="a006_f_910"/>
          <p:cNvSpPr txBox="1"/>
          <p:nvPr/>
        </p:nvSpPr>
        <p:spPr>
          <a:xfrm>
            <a:off x="69951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Drehtage und Szenen je Darsteller automatisch</a:t>
            </a:r>
            <a:endParaRPr lang="en-US" sz="1250" dirty="0"/>
          </a:p>
        </p:txBody>
      </p:sp>
      <p:sp>
        <p:nvSpPr>
          <p:cNvPr id="13" name="a007_f_911"/>
          <p:cNvSpPr/>
          <p:nvPr/>
        </p:nvSpPr>
        <p:spPr>
          <a:xfrm>
            <a:off x="6739128" y="3840480"/>
            <a:ext cx="118872" cy="118872"/>
          </a:xfrm>
          <a:prstGeom prst="ellipse">
            <a:avLst/>
          </a:prstGeom>
          <a:solidFill>
            <a:srgbClr val="FF2D55"/>
          </a:solidFill>
          <a:ln/>
        </p:spPr>
      </p:sp>
      <p:sp>
        <p:nvSpPr>
          <p:cNvPr id="14" name="a007_f_912"/>
          <p:cNvSpPr txBox="1"/>
          <p:nvPr/>
        </p:nvSpPr>
        <p:spPr>
          <a:xfrm>
            <a:off x="69951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 der Darstellergagen</a:t>
            </a:r>
            <a:endParaRPr lang="en-US" sz="1250" dirty="0"/>
          </a:p>
        </p:txBody>
      </p:sp>
      <p:sp>
        <p:nvSpPr>
          <p:cNvPr id="15" name="a008_f_913"/>
          <p:cNvSpPr/>
          <p:nvPr/>
        </p:nvSpPr>
        <p:spPr>
          <a:xfrm>
            <a:off x="6739128" y="4183380"/>
            <a:ext cx="118872" cy="118872"/>
          </a:xfrm>
          <a:prstGeom prst="ellipse">
            <a:avLst/>
          </a:prstGeom>
          <a:solidFill>
            <a:srgbClr val="FF2D55"/>
          </a:solidFill>
          <a:ln/>
        </p:spPr>
      </p:sp>
      <p:sp>
        <p:nvSpPr>
          <p:cNvPr id="16" name="a008_f_914"/>
          <p:cNvSpPr txBox="1"/>
          <p:nvPr/>
        </p:nvSpPr>
        <p:spPr>
          <a:xfrm>
            <a:off x="6995160" y="41148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Besetzungsliste als PDF, CSV-Export</a:t>
            </a:r>
            <a:endParaRPr lang="en-US" sz="1250" dirty="0"/>
          </a:p>
        </p:txBody>
      </p:sp>
      <p:sp>
        <p:nvSpPr>
          <p:cNvPr id="17" name="a012_f_915"/>
          <p:cNvSpPr txBox="1"/>
          <p:nvPr/>
        </p:nvSpPr>
        <p:spPr>
          <a:xfrm>
            <a:off x="6720840" y="53400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8" name="a013_f_916"/>
          <p:cNvSpPr txBox="1"/>
          <p:nvPr/>
        </p:nvSpPr>
        <p:spPr>
          <a:xfrm>
            <a:off x="6720840" y="5614416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F52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</a:t>
            </a:r>
            <a:endParaRPr lang="en-US" sz="950" dirty="0"/>
          </a:p>
        </p:txBody>
      </p:sp>
      <p:sp>
        <p:nvSpPr>
          <p:cNvPr id="19" name="a013_f_917"/>
          <p:cNvSpPr txBox="1"/>
          <p:nvPr/>
        </p:nvSpPr>
        <p:spPr>
          <a:xfrm>
            <a:off x="7470648" y="5614416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2D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Sperrtage Cast</a:t>
            </a:r>
            <a:endParaRPr lang="en-US" sz="950" dirty="0"/>
          </a:p>
        </p:txBody>
      </p:sp>
      <p:sp>
        <p:nvSpPr>
          <p:cNvPr id="20" name="a013_f_918"/>
          <p:cNvSpPr txBox="1"/>
          <p:nvPr/>
        </p:nvSpPr>
        <p:spPr>
          <a:xfrm>
            <a:off x="8732520" y="5614416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Tagesdispo</a:t>
            </a:r>
            <a:endParaRPr lang="en-US" sz="950" dirty="0"/>
          </a:p>
        </p:txBody>
      </p:sp>
      <p:sp>
        <p:nvSpPr>
          <p:cNvPr id="21" name="a013_f_919"/>
          <p:cNvSpPr txBox="1"/>
          <p:nvPr/>
        </p:nvSpPr>
        <p:spPr>
          <a:xfrm>
            <a:off x="9738360" y="5614416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856D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8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Out of Days</a:t>
            </a:r>
            <a:endParaRPr lang="en-US" sz="950" dirty="0"/>
          </a:p>
        </p:txBody>
      </p:sp>
      <p:sp>
        <p:nvSpPr>
          <p:cNvPr id="22" name="a013_f_920"/>
          <p:cNvSpPr txBox="1"/>
          <p:nvPr/>
        </p:nvSpPr>
        <p:spPr>
          <a:xfrm>
            <a:off x="6720840" y="5961888"/>
            <a:ext cx="104241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2D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Kontaktliste</a:t>
            </a:r>
            <a:endParaRPr lang="en-US" sz="950" dirty="0"/>
          </a:p>
        </p:txBody>
      </p:sp>
      <p:sp>
        <p:nvSpPr>
          <p:cNvPr id="23" name="a013_f_921"/>
          <p:cNvSpPr txBox="1"/>
          <p:nvPr/>
        </p:nvSpPr>
        <p:spPr>
          <a:xfrm>
            <a:off x="7854696" y="5961888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950" dirty="0"/>
          </a:p>
        </p:txBody>
      </p:sp>
      <p:sp>
        <p:nvSpPr>
          <p:cNvPr id="24" name="a002_f_922"/>
          <p:cNvSpPr/>
          <p:nvPr/>
        </p:nvSpPr>
        <p:spPr>
          <a:xfrm>
            <a:off x="420624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5" name="a002_f_923" descr="/tmp/claude-0/-home-user-cutsheet/6324ba14-9edd-52e0-984d-db7baab43700/scratchpad/deck/img/light_projects_168_besetzung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11618"/>
            <a:ext cx="5989320" cy="3743325"/>
          </a:xfrm>
          <a:prstGeom prst="rect">
            <a:avLst/>
          </a:prstGeom>
        </p:spPr>
      </p:pic>
      <p:sp>
        <p:nvSpPr>
          <p:cNvPr id="26" name="s_924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7" name="s_925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48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48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48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926"/>
          <p:cNvSpPr txBox="1"/>
          <p:nvPr/>
        </p:nvSpPr>
        <p:spPr>
          <a:xfrm>
            <a:off x="548640" y="502920"/>
            <a:ext cx="1327709" cy="292608"/>
          </a:xfrm>
          <a:prstGeom prst="roundRect">
            <a:avLst>
              <a:gd name="adj" fmla="val 50000"/>
            </a:avLst>
          </a:prstGeom>
          <a:solidFill>
            <a:srgbClr val="FFE9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Casting &amp; Team</a:t>
            </a:r>
            <a:endParaRPr lang="en-US" sz="1000" dirty="0"/>
          </a:p>
        </p:txBody>
      </p:sp>
      <p:sp>
        <p:nvSpPr>
          <p:cNvPr id="3" name="a001_f_927"/>
          <p:cNvSpPr txBox="1"/>
          <p:nvPr/>
        </p:nvSpPr>
        <p:spPr>
          <a:xfrm>
            <a:off x="37947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21 von 69</a:t>
            </a:r>
            <a:endParaRPr lang="en-US" sz="950" dirty="0"/>
          </a:p>
        </p:txBody>
      </p:sp>
      <p:sp>
        <p:nvSpPr>
          <p:cNvPr id="4" name="a001_f_928"/>
          <p:cNvSpPr txBox="1"/>
          <p:nvPr/>
        </p:nvSpPr>
        <p:spPr>
          <a:xfrm>
            <a:off x="5486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Sperrtage Cast</a:t>
            </a:r>
            <a:endParaRPr lang="en-US" sz="3200" dirty="0"/>
          </a:p>
        </p:txBody>
      </p:sp>
      <p:sp>
        <p:nvSpPr>
          <p:cNvPr id="5" name="a001_f_929"/>
          <p:cNvSpPr txBox="1"/>
          <p:nvPr/>
        </p:nvSpPr>
        <p:spPr>
          <a:xfrm>
            <a:off x="5486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/projects/:id/sperrtage</a:t>
            </a:r>
            <a:endParaRPr lang="en-US" sz="1050" dirty="0"/>
          </a:p>
        </p:txBody>
      </p:sp>
      <p:sp>
        <p:nvSpPr>
          <p:cNvPr id="6" name="a003_f_930"/>
          <p:cNvSpPr txBox="1"/>
          <p:nvPr/>
        </p:nvSpPr>
        <p:spPr>
          <a:xfrm>
            <a:off x="5486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 Darsteller nicht können – und wo das mit dem Drehplan kollidiert.</a:t>
            </a:r>
            <a:endParaRPr lang="en-US" sz="1400" dirty="0"/>
          </a:p>
        </p:txBody>
      </p:sp>
      <p:sp>
        <p:nvSpPr>
          <p:cNvPr id="7" name="a004_f_931"/>
          <p:cNvSpPr/>
          <p:nvPr/>
        </p:nvSpPr>
        <p:spPr>
          <a:xfrm>
            <a:off x="566928" y="2811780"/>
            <a:ext cx="118872" cy="118872"/>
          </a:xfrm>
          <a:prstGeom prst="ellipse">
            <a:avLst/>
          </a:prstGeom>
          <a:solidFill>
            <a:srgbClr val="FF2D55"/>
          </a:solidFill>
          <a:ln/>
        </p:spPr>
      </p:sp>
      <p:sp>
        <p:nvSpPr>
          <p:cNvPr id="8" name="a004_f_932"/>
          <p:cNvSpPr txBox="1"/>
          <p:nvPr/>
        </p:nvSpPr>
        <p:spPr>
          <a:xfrm>
            <a:off x="8229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Sperrtage je Darsteller mit Grund</a:t>
            </a:r>
            <a:endParaRPr lang="en-US" sz="1250" dirty="0"/>
          </a:p>
        </p:txBody>
      </p:sp>
      <p:sp>
        <p:nvSpPr>
          <p:cNvPr id="9" name="a005_f_933"/>
          <p:cNvSpPr/>
          <p:nvPr/>
        </p:nvSpPr>
        <p:spPr>
          <a:xfrm>
            <a:off x="566928" y="3154680"/>
            <a:ext cx="118872" cy="118872"/>
          </a:xfrm>
          <a:prstGeom prst="ellipse">
            <a:avLst/>
          </a:prstGeom>
          <a:solidFill>
            <a:srgbClr val="FF2D55"/>
          </a:solidFill>
          <a:ln/>
        </p:spPr>
      </p:sp>
      <p:sp>
        <p:nvSpPr>
          <p:cNvPr id="10" name="a005_f_934"/>
          <p:cNvSpPr txBox="1"/>
          <p:nvPr/>
        </p:nvSpPr>
        <p:spPr>
          <a:xfrm>
            <a:off x="8229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Kalender: Sperrtag, Drehtag, frei</a:t>
            </a:r>
            <a:endParaRPr lang="en-US" sz="1250" dirty="0"/>
          </a:p>
        </p:txBody>
      </p:sp>
      <p:sp>
        <p:nvSpPr>
          <p:cNvPr id="11" name="a006_f_935"/>
          <p:cNvSpPr/>
          <p:nvPr/>
        </p:nvSpPr>
        <p:spPr>
          <a:xfrm>
            <a:off x="566928" y="3497580"/>
            <a:ext cx="118872" cy="118872"/>
          </a:xfrm>
          <a:prstGeom prst="ellipse">
            <a:avLst/>
          </a:prstGeom>
          <a:solidFill>
            <a:srgbClr val="FF2D55"/>
          </a:solidFill>
          <a:ln/>
        </p:spPr>
      </p:sp>
      <p:sp>
        <p:nvSpPr>
          <p:cNvPr id="12" name="a006_f_936"/>
          <p:cNvSpPr txBox="1"/>
          <p:nvPr/>
        </p:nvSpPr>
        <p:spPr>
          <a:xfrm>
            <a:off x="8229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Kollisionen mit geplanten Drehtagen</a:t>
            </a:r>
            <a:endParaRPr lang="en-US" sz="1250" dirty="0"/>
          </a:p>
        </p:txBody>
      </p:sp>
      <p:sp>
        <p:nvSpPr>
          <p:cNvPr id="13" name="a007_f_937"/>
          <p:cNvSpPr/>
          <p:nvPr/>
        </p:nvSpPr>
        <p:spPr>
          <a:xfrm>
            <a:off x="566928" y="3840480"/>
            <a:ext cx="118872" cy="118872"/>
          </a:xfrm>
          <a:prstGeom prst="ellipse">
            <a:avLst/>
          </a:prstGeom>
          <a:solidFill>
            <a:srgbClr val="FF2D55"/>
          </a:solidFill>
          <a:ln/>
        </p:spPr>
      </p:sp>
      <p:sp>
        <p:nvSpPr>
          <p:cNvPr id="14" name="a007_f_938"/>
          <p:cNvSpPr txBox="1"/>
          <p:nvPr/>
        </p:nvSpPr>
        <p:spPr>
          <a:xfrm>
            <a:off x="8229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 aller Sperrtage</a:t>
            </a:r>
            <a:endParaRPr lang="en-US" sz="1250" dirty="0"/>
          </a:p>
        </p:txBody>
      </p:sp>
      <p:sp>
        <p:nvSpPr>
          <p:cNvPr id="15" name="a012_f_939"/>
          <p:cNvSpPr txBox="1"/>
          <p:nvPr/>
        </p:nvSpPr>
        <p:spPr>
          <a:xfrm>
            <a:off x="5486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6" name="a013_f_940"/>
          <p:cNvSpPr txBox="1"/>
          <p:nvPr/>
        </p:nvSpPr>
        <p:spPr>
          <a:xfrm>
            <a:off x="548640" y="576072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2D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Besetzung</a:t>
            </a:r>
            <a:endParaRPr lang="en-US" sz="950" dirty="0"/>
          </a:p>
        </p:txBody>
      </p:sp>
      <p:sp>
        <p:nvSpPr>
          <p:cNvPr id="17" name="a013_f_941"/>
          <p:cNvSpPr txBox="1"/>
          <p:nvPr/>
        </p:nvSpPr>
        <p:spPr>
          <a:xfrm>
            <a:off x="1490472" y="576072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Drehplan</a:t>
            </a:r>
            <a:endParaRPr lang="en-US" sz="950" dirty="0"/>
          </a:p>
        </p:txBody>
      </p:sp>
      <p:sp>
        <p:nvSpPr>
          <p:cNvPr id="18" name="a013_f_942"/>
          <p:cNvSpPr txBox="1"/>
          <p:nvPr/>
        </p:nvSpPr>
        <p:spPr>
          <a:xfrm>
            <a:off x="2368296" y="5760720"/>
            <a:ext cx="110642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Konfliktradar</a:t>
            </a:r>
            <a:endParaRPr lang="en-US" sz="950" dirty="0"/>
          </a:p>
        </p:txBody>
      </p:sp>
      <p:sp>
        <p:nvSpPr>
          <p:cNvPr id="19" name="a002_f_943"/>
          <p:cNvSpPr/>
          <p:nvPr/>
        </p:nvSpPr>
        <p:spPr>
          <a:xfrm>
            <a:off x="5617159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0" name="a002_f_944" descr="/tmp/claude-0/-home-user-cutsheet/6324ba14-9edd-52e0-984d-db7baab43700/scratchpad/deck/img/light_projects_168_sperrtage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455" y="1511618"/>
            <a:ext cx="5989320" cy="3743325"/>
          </a:xfrm>
          <a:prstGeom prst="rect">
            <a:avLst/>
          </a:prstGeom>
        </p:spPr>
      </p:pic>
      <p:sp>
        <p:nvSpPr>
          <p:cNvPr id="21" name="s_945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2" name="s_946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947"/>
          <p:cNvSpPr txBox="1"/>
          <p:nvPr/>
        </p:nvSpPr>
        <p:spPr>
          <a:xfrm>
            <a:off x="6720840" y="502920"/>
            <a:ext cx="1327709" cy="292608"/>
          </a:xfrm>
          <a:prstGeom prst="roundRect">
            <a:avLst>
              <a:gd name="adj" fmla="val 50000"/>
            </a:avLst>
          </a:prstGeom>
          <a:solidFill>
            <a:srgbClr val="FFE9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Casting &amp; Team</a:t>
            </a:r>
            <a:endParaRPr lang="en-US" sz="1000" dirty="0"/>
          </a:p>
        </p:txBody>
      </p:sp>
      <p:sp>
        <p:nvSpPr>
          <p:cNvPr id="3" name="a001_f_948"/>
          <p:cNvSpPr txBox="1"/>
          <p:nvPr/>
        </p:nvSpPr>
        <p:spPr>
          <a:xfrm>
            <a:off x="99669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22 von 69</a:t>
            </a:r>
            <a:endParaRPr lang="en-US" sz="950" dirty="0"/>
          </a:p>
        </p:txBody>
      </p:sp>
      <p:sp>
        <p:nvSpPr>
          <p:cNvPr id="4" name="a001_f_949"/>
          <p:cNvSpPr txBox="1"/>
          <p:nvPr/>
        </p:nvSpPr>
        <p:spPr>
          <a:xfrm>
            <a:off x="67208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Komparsen</a:t>
            </a:r>
            <a:endParaRPr lang="en-US" sz="3200" dirty="0"/>
          </a:p>
        </p:txBody>
      </p:sp>
      <p:sp>
        <p:nvSpPr>
          <p:cNvPr id="5" name="a001_f_950"/>
          <p:cNvSpPr txBox="1"/>
          <p:nvPr/>
        </p:nvSpPr>
        <p:spPr>
          <a:xfrm>
            <a:off x="67208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/projects/:id/komparsen</a:t>
            </a:r>
            <a:endParaRPr lang="en-US" sz="1050" dirty="0"/>
          </a:p>
        </p:txBody>
      </p:sp>
      <p:sp>
        <p:nvSpPr>
          <p:cNvPr id="6" name="a003_f_951"/>
          <p:cNvSpPr txBox="1"/>
          <p:nvPr/>
        </p:nvSpPr>
        <p:spPr>
          <a:xfrm>
            <a:off x="67208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Komparserie mit Kontakt und Tarifgruppe.</a:t>
            </a:r>
            <a:endParaRPr lang="en-US" sz="1400" dirty="0"/>
          </a:p>
        </p:txBody>
      </p:sp>
      <p:sp>
        <p:nvSpPr>
          <p:cNvPr id="7" name="a004_f_952"/>
          <p:cNvSpPr/>
          <p:nvPr/>
        </p:nvSpPr>
        <p:spPr>
          <a:xfrm>
            <a:off x="6739128" y="2811780"/>
            <a:ext cx="118872" cy="118872"/>
          </a:xfrm>
          <a:prstGeom prst="ellipse">
            <a:avLst/>
          </a:prstGeom>
          <a:solidFill>
            <a:srgbClr val="FF2D55"/>
          </a:solidFill>
          <a:ln/>
        </p:spPr>
      </p:sp>
      <p:sp>
        <p:nvSpPr>
          <p:cNvPr id="8" name="a004_f_953"/>
          <p:cNvSpPr txBox="1"/>
          <p:nvPr/>
        </p:nvSpPr>
        <p:spPr>
          <a:xfrm>
            <a:off x="69951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Telefon, E-Mail, Tarifgruppe, Notizen</a:t>
            </a:r>
            <a:endParaRPr lang="en-US" sz="1250" dirty="0"/>
          </a:p>
        </p:txBody>
      </p:sp>
      <p:sp>
        <p:nvSpPr>
          <p:cNvPr id="9" name="a005_f_954"/>
          <p:cNvSpPr/>
          <p:nvPr/>
        </p:nvSpPr>
        <p:spPr>
          <a:xfrm>
            <a:off x="6739128" y="3154680"/>
            <a:ext cx="118872" cy="118872"/>
          </a:xfrm>
          <a:prstGeom prst="ellipse">
            <a:avLst/>
          </a:prstGeom>
          <a:solidFill>
            <a:srgbClr val="FF2D55"/>
          </a:solidFill>
          <a:ln/>
        </p:spPr>
      </p:sp>
      <p:sp>
        <p:nvSpPr>
          <p:cNvPr id="10" name="a005_f_955"/>
          <p:cNvSpPr txBox="1"/>
          <p:nvPr/>
        </p:nvSpPr>
        <p:spPr>
          <a:xfrm>
            <a:off x="69951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nach Gruppe</a:t>
            </a:r>
            <a:endParaRPr lang="en-US" sz="1250" dirty="0"/>
          </a:p>
        </p:txBody>
      </p:sp>
      <p:sp>
        <p:nvSpPr>
          <p:cNvPr id="11" name="a006_f_956"/>
          <p:cNvSpPr/>
          <p:nvPr/>
        </p:nvSpPr>
        <p:spPr>
          <a:xfrm>
            <a:off x="6739128" y="3497580"/>
            <a:ext cx="118872" cy="118872"/>
          </a:xfrm>
          <a:prstGeom prst="ellipse">
            <a:avLst/>
          </a:prstGeom>
          <a:solidFill>
            <a:srgbClr val="FF2D55"/>
          </a:solidFill>
          <a:ln/>
        </p:spPr>
      </p:sp>
      <p:sp>
        <p:nvSpPr>
          <p:cNvPr id="12" name="a006_f_957"/>
          <p:cNvSpPr txBox="1"/>
          <p:nvPr/>
        </p:nvSpPr>
        <p:spPr>
          <a:xfrm>
            <a:off x="69951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Direkt in der Tabelle bearbeiten</a:t>
            </a:r>
            <a:endParaRPr lang="en-US" sz="1250" dirty="0"/>
          </a:p>
        </p:txBody>
      </p:sp>
      <p:sp>
        <p:nvSpPr>
          <p:cNvPr id="13" name="a007_f_958"/>
          <p:cNvSpPr/>
          <p:nvPr/>
        </p:nvSpPr>
        <p:spPr>
          <a:xfrm>
            <a:off x="6739128" y="3840480"/>
            <a:ext cx="118872" cy="118872"/>
          </a:xfrm>
          <a:prstGeom prst="ellipse">
            <a:avLst/>
          </a:prstGeom>
          <a:solidFill>
            <a:srgbClr val="FF2D55"/>
          </a:solidFill>
          <a:ln/>
        </p:spPr>
      </p:sp>
      <p:sp>
        <p:nvSpPr>
          <p:cNvPr id="14" name="a007_f_959"/>
          <p:cNvSpPr txBox="1"/>
          <p:nvPr/>
        </p:nvSpPr>
        <p:spPr>
          <a:xfrm>
            <a:off x="69951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Erscheint als Komparserie im Tagesdispo-PDF</a:t>
            </a:r>
            <a:endParaRPr lang="en-US" sz="1250" dirty="0"/>
          </a:p>
        </p:txBody>
      </p:sp>
      <p:sp>
        <p:nvSpPr>
          <p:cNvPr id="15" name="a012_f_960"/>
          <p:cNvSpPr txBox="1"/>
          <p:nvPr/>
        </p:nvSpPr>
        <p:spPr>
          <a:xfrm>
            <a:off x="67208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6" name="a013_f_961"/>
          <p:cNvSpPr txBox="1"/>
          <p:nvPr/>
        </p:nvSpPr>
        <p:spPr>
          <a:xfrm>
            <a:off x="6720840" y="576072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Tagesdispo</a:t>
            </a:r>
            <a:endParaRPr lang="en-US" sz="950" dirty="0"/>
          </a:p>
        </p:txBody>
      </p:sp>
      <p:sp>
        <p:nvSpPr>
          <p:cNvPr id="17" name="a013_f_962"/>
          <p:cNvSpPr txBox="1"/>
          <p:nvPr/>
        </p:nvSpPr>
        <p:spPr>
          <a:xfrm>
            <a:off x="7726680" y="576072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2D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Besetzung</a:t>
            </a:r>
            <a:endParaRPr lang="en-US" sz="950" dirty="0"/>
          </a:p>
        </p:txBody>
      </p:sp>
      <p:sp>
        <p:nvSpPr>
          <p:cNvPr id="18" name="a002_f_963"/>
          <p:cNvSpPr/>
          <p:nvPr/>
        </p:nvSpPr>
        <p:spPr>
          <a:xfrm>
            <a:off x="420624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19" name="a002_f_964" descr="/tmp/claude-0/-home-user-cutsheet/6324ba14-9edd-52e0-984d-db7baab43700/scratchpad/deck/img/light_projects_168_komparsen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11618"/>
            <a:ext cx="5989320" cy="3743325"/>
          </a:xfrm>
          <a:prstGeom prst="rect">
            <a:avLst/>
          </a:prstGeom>
        </p:spPr>
      </p:pic>
      <p:sp>
        <p:nvSpPr>
          <p:cNvPr id="20" name="s_965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1" name="s_966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967"/>
          <p:cNvSpPr txBox="1"/>
          <p:nvPr/>
        </p:nvSpPr>
        <p:spPr>
          <a:xfrm>
            <a:off x="548640" y="502920"/>
            <a:ext cx="1327709" cy="292608"/>
          </a:xfrm>
          <a:prstGeom prst="roundRect">
            <a:avLst>
              <a:gd name="adj" fmla="val 50000"/>
            </a:avLst>
          </a:prstGeom>
          <a:solidFill>
            <a:srgbClr val="FFE9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Casting &amp; Team</a:t>
            </a:r>
            <a:endParaRPr lang="en-US" sz="1000" dirty="0"/>
          </a:p>
        </p:txBody>
      </p:sp>
      <p:sp>
        <p:nvSpPr>
          <p:cNvPr id="3" name="a001_f_968"/>
          <p:cNvSpPr txBox="1"/>
          <p:nvPr/>
        </p:nvSpPr>
        <p:spPr>
          <a:xfrm>
            <a:off x="37947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23 von 69</a:t>
            </a:r>
            <a:endParaRPr lang="en-US" sz="950" dirty="0"/>
          </a:p>
        </p:txBody>
      </p:sp>
      <p:sp>
        <p:nvSpPr>
          <p:cNvPr id="4" name="a001_f_969"/>
          <p:cNvSpPr txBox="1"/>
          <p:nvPr/>
        </p:nvSpPr>
        <p:spPr>
          <a:xfrm>
            <a:off x="5486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Stabliste</a:t>
            </a:r>
            <a:endParaRPr lang="en-US" sz="3200" dirty="0"/>
          </a:p>
        </p:txBody>
      </p:sp>
      <p:sp>
        <p:nvSpPr>
          <p:cNvPr id="5" name="a001_f_970"/>
          <p:cNvSpPr txBox="1"/>
          <p:nvPr/>
        </p:nvSpPr>
        <p:spPr>
          <a:xfrm>
            <a:off x="5486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/projects/:id/stabliste</a:t>
            </a:r>
            <a:endParaRPr lang="en-US" sz="1050" dirty="0"/>
          </a:p>
        </p:txBody>
      </p:sp>
      <p:sp>
        <p:nvSpPr>
          <p:cNvPr id="6" name="a003_f_971"/>
          <p:cNvSpPr txBox="1"/>
          <p:nvPr/>
        </p:nvSpPr>
        <p:spPr>
          <a:xfrm>
            <a:off x="5486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ganze Team nach Abteilungen – mit Kontakt und Tagesgage.</a:t>
            </a:r>
            <a:endParaRPr lang="en-US" sz="1400" dirty="0"/>
          </a:p>
        </p:txBody>
      </p:sp>
      <p:sp>
        <p:nvSpPr>
          <p:cNvPr id="7" name="a004_f_972"/>
          <p:cNvSpPr/>
          <p:nvPr/>
        </p:nvSpPr>
        <p:spPr>
          <a:xfrm>
            <a:off x="566928" y="2811780"/>
            <a:ext cx="118872" cy="118872"/>
          </a:xfrm>
          <a:prstGeom prst="ellipse">
            <a:avLst/>
          </a:prstGeom>
          <a:solidFill>
            <a:srgbClr val="FF2D55"/>
          </a:solidFill>
          <a:ln/>
        </p:spPr>
      </p:sp>
      <p:sp>
        <p:nvSpPr>
          <p:cNvPr id="8" name="a004_f_973"/>
          <p:cNvSpPr txBox="1"/>
          <p:nvPr/>
        </p:nvSpPr>
        <p:spPr>
          <a:xfrm>
            <a:off x="8229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Abteilungen, Position, E-Mail, Telefon</a:t>
            </a:r>
            <a:endParaRPr lang="en-US" sz="1250" dirty="0"/>
          </a:p>
        </p:txBody>
      </p:sp>
      <p:sp>
        <p:nvSpPr>
          <p:cNvPr id="9" name="a005_f_974"/>
          <p:cNvSpPr/>
          <p:nvPr/>
        </p:nvSpPr>
        <p:spPr>
          <a:xfrm>
            <a:off x="566928" y="3154680"/>
            <a:ext cx="118872" cy="118872"/>
          </a:xfrm>
          <a:prstGeom prst="ellipse">
            <a:avLst/>
          </a:prstGeom>
          <a:solidFill>
            <a:srgbClr val="FF2D55"/>
          </a:solidFill>
          <a:ln/>
        </p:spPr>
      </p:sp>
      <p:sp>
        <p:nvSpPr>
          <p:cNvPr id="10" name="a005_f_975"/>
          <p:cNvSpPr txBox="1"/>
          <p:nvPr/>
        </p:nvSpPr>
        <p:spPr>
          <a:xfrm>
            <a:off x="8229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Gesamtgage pro Tag</a:t>
            </a:r>
            <a:endParaRPr lang="en-US" sz="1250" dirty="0"/>
          </a:p>
        </p:txBody>
      </p:sp>
      <p:sp>
        <p:nvSpPr>
          <p:cNvPr id="11" name="a006_f_976"/>
          <p:cNvSpPr/>
          <p:nvPr/>
        </p:nvSpPr>
        <p:spPr>
          <a:xfrm>
            <a:off x="566928" y="3497580"/>
            <a:ext cx="118872" cy="118872"/>
          </a:xfrm>
          <a:prstGeom prst="ellipse">
            <a:avLst/>
          </a:prstGeom>
          <a:solidFill>
            <a:srgbClr val="FF2D55"/>
          </a:solidFill>
          <a:ln/>
        </p:spPr>
      </p:sp>
      <p:sp>
        <p:nvSpPr>
          <p:cNvPr id="12" name="a006_f_977"/>
          <p:cNvSpPr txBox="1"/>
          <p:nvPr/>
        </p:nvSpPr>
        <p:spPr>
          <a:xfrm>
            <a:off x="8229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E-Mails einzeln oder alle kopieren</a:t>
            </a:r>
            <a:endParaRPr lang="en-US" sz="1250" dirty="0"/>
          </a:p>
        </p:txBody>
      </p:sp>
      <p:sp>
        <p:nvSpPr>
          <p:cNvPr id="13" name="a007_f_978"/>
          <p:cNvSpPr/>
          <p:nvPr/>
        </p:nvSpPr>
        <p:spPr>
          <a:xfrm>
            <a:off x="566928" y="3840480"/>
            <a:ext cx="118872" cy="118872"/>
          </a:xfrm>
          <a:prstGeom prst="ellipse">
            <a:avLst/>
          </a:prstGeom>
          <a:solidFill>
            <a:srgbClr val="FF2D55"/>
          </a:solidFill>
          <a:ln/>
        </p:spPr>
      </p:sp>
      <p:sp>
        <p:nvSpPr>
          <p:cNvPr id="14" name="a007_f_979"/>
          <p:cNvSpPr txBox="1"/>
          <p:nvPr/>
        </p:nvSpPr>
        <p:spPr>
          <a:xfrm>
            <a:off x="8229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Stabliste als PDF, CSV-Export</a:t>
            </a:r>
            <a:endParaRPr lang="en-US" sz="1250" dirty="0"/>
          </a:p>
        </p:txBody>
      </p:sp>
      <p:sp>
        <p:nvSpPr>
          <p:cNvPr id="15" name="a012_f_980"/>
          <p:cNvSpPr txBox="1"/>
          <p:nvPr/>
        </p:nvSpPr>
        <p:spPr>
          <a:xfrm>
            <a:off x="5486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6" name="a013_f_981"/>
          <p:cNvSpPr txBox="1"/>
          <p:nvPr/>
        </p:nvSpPr>
        <p:spPr>
          <a:xfrm>
            <a:off x="548640" y="576072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Tagesdispo</a:t>
            </a:r>
            <a:endParaRPr lang="en-US" sz="950" dirty="0"/>
          </a:p>
        </p:txBody>
      </p:sp>
      <p:sp>
        <p:nvSpPr>
          <p:cNvPr id="17" name="a013_f_982"/>
          <p:cNvSpPr txBox="1"/>
          <p:nvPr/>
        </p:nvSpPr>
        <p:spPr>
          <a:xfrm>
            <a:off x="1554480" y="5760720"/>
            <a:ext cx="104241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2D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Kontaktliste</a:t>
            </a:r>
            <a:endParaRPr lang="en-US" sz="950" dirty="0"/>
          </a:p>
        </p:txBody>
      </p:sp>
      <p:sp>
        <p:nvSpPr>
          <p:cNvPr id="18" name="a013_f_983"/>
          <p:cNvSpPr txBox="1"/>
          <p:nvPr/>
        </p:nvSpPr>
        <p:spPr>
          <a:xfrm>
            <a:off x="2688336" y="576072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Timesheets</a:t>
            </a:r>
            <a:endParaRPr lang="en-US" sz="950" dirty="0"/>
          </a:p>
        </p:txBody>
      </p:sp>
      <p:sp>
        <p:nvSpPr>
          <p:cNvPr id="19" name="a013_f_984"/>
          <p:cNvSpPr txBox="1"/>
          <p:nvPr/>
        </p:nvSpPr>
        <p:spPr>
          <a:xfrm>
            <a:off x="3694176" y="576072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Catering</a:t>
            </a:r>
            <a:endParaRPr lang="en-US" sz="950" dirty="0"/>
          </a:p>
        </p:txBody>
      </p:sp>
      <p:sp>
        <p:nvSpPr>
          <p:cNvPr id="20" name="a013_f_985"/>
          <p:cNvSpPr txBox="1"/>
          <p:nvPr/>
        </p:nvSpPr>
        <p:spPr>
          <a:xfrm>
            <a:off x="4572000" y="5760720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950" dirty="0"/>
          </a:p>
        </p:txBody>
      </p:sp>
      <p:sp>
        <p:nvSpPr>
          <p:cNvPr id="21" name="a002_f_986"/>
          <p:cNvSpPr/>
          <p:nvPr/>
        </p:nvSpPr>
        <p:spPr>
          <a:xfrm>
            <a:off x="5617159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2" name="a002_f_987" descr="/tmp/claude-0/-home-user-cutsheet/6324ba14-9edd-52e0-984d-db7baab43700/scratchpad/deck/img/light_projects_168_stabliste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455" y="1511618"/>
            <a:ext cx="5989320" cy="3743325"/>
          </a:xfrm>
          <a:prstGeom prst="rect">
            <a:avLst/>
          </a:prstGeom>
        </p:spPr>
      </p:pic>
      <p:sp>
        <p:nvSpPr>
          <p:cNvPr id="23" name="s_988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4" name="s_989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990"/>
          <p:cNvSpPr txBox="1"/>
          <p:nvPr/>
        </p:nvSpPr>
        <p:spPr>
          <a:xfrm>
            <a:off x="6720840" y="502920"/>
            <a:ext cx="1327709" cy="292608"/>
          </a:xfrm>
          <a:prstGeom prst="roundRect">
            <a:avLst>
              <a:gd name="adj" fmla="val 50000"/>
            </a:avLst>
          </a:prstGeom>
          <a:solidFill>
            <a:srgbClr val="FFE9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Casting &amp; Team</a:t>
            </a:r>
            <a:endParaRPr lang="en-US" sz="1000" dirty="0"/>
          </a:p>
        </p:txBody>
      </p:sp>
      <p:sp>
        <p:nvSpPr>
          <p:cNvPr id="3" name="a001_f_991"/>
          <p:cNvSpPr txBox="1"/>
          <p:nvPr/>
        </p:nvSpPr>
        <p:spPr>
          <a:xfrm>
            <a:off x="99669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24 von 69</a:t>
            </a:r>
            <a:endParaRPr lang="en-US" sz="950" dirty="0"/>
          </a:p>
        </p:txBody>
      </p:sp>
      <p:sp>
        <p:nvSpPr>
          <p:cNvPr id="4" name="a001_f_992"/>
          <p:cNvSpPr txBox="1"/>
          <p:nvPr/>
        </p:nvSpPr>
        <p:spPr>
          <a:xfrm>
            <a:off x="67208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Kontaktliste</a:t>
            </a:r>
            <a:endParaRPr lang="en-US" sz="3200" dirty="0"/>
          </a:p>
        </p:txBody>
      </p:sp>
      <p:sp>
        <p:nvSpPr>
          <p:cNvPr id="5" name="a001_f_993"/>
          <p:cNvSpPr txBox="1"/>
          <p:nvPr/>
        </p:nvSpPr>
        <p:spPr>
          <a:xfrm>
            <a:off x="67208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/projects/:id/kontakte</a:t>
            </a:r>
            <a:endParaRPr lang="en-US" sz="1050" dirty="0"/>
          </a:p>
        </p:txBody>
      </p:sp>
      <p:sp>
        <p:nvSpPr>
          <p:cNvPr id="6" name="a003_f_994"/>
          <p:cNvSpPr txBox="1"/>
          <p:nvPr/>
        </p:nvSpPr>
        <p:spPr>
          <a:xfrm>
            <a:off x="67208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 und Darsteller in einer durchsuchbaren Liste.</a:t>
            </a:r>
            <a:endParaRPr lang="en-US" sz="1400" dirty="0"/>
          </a:p>
        </p:txBody>
      </p:sp>
      <p:sp>
        <p:nvSpPr>
          <p:cNvPr id="7" name="a004_f_995"/>
          <p:cNvSpPr/>
          <p:nvPr/>
        </p:nvSpPr>
        <p:spPr>
          <a:xfrm>
            <a:off x="6739128" y="2811780"/>
            <a:ext cx="118872" cy="118872"/>
          </a:xfrm>
          <a:prstGeom prst="ellipse">
            <a:avLst/>
          </a:prstGeom>
          <a:solidFill>
            <a:srgbClr val="FF2D55"/>
          </a:solidFill>
          <a:ln/>
        </p:spPr>
      </p:sp>
      <p:sp>
        <p:nvSpPr>
          <p:cNvPr id="8" name="a004_f_996"/>
          <p:cNvSpPr txBox="1"/>
          <p:nvPr/>
        </p:nvSpPr>
        <p:spPr>
          <a:xfrm>
            <a:off x="69951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Suche, Filter Stab/Darsteller</a:t>
            </a:r>
            <a:endParaRPr lang="en-US" sz="1250" dirty="0"/>
          </a:p>
        </p:txBody>
      </p:sp>
      <p:sp>
        <p:nvSpPr>
          <p:cNvPr id="9" name="a005_f_997"/>
          <p:cNvSpPr/>
          <p:nvPr/>
        </p:nvSpPr>
        <p:spPr>
          <a:xfrm>
            <a:off x="6739128" y="3154680"/>
            <a:ext cx="118872" cy="118872"/>
          </a:xfrm>
          <a:prstGeom prst="ellipse">
            <a:avLst/>
          </a:prstGeom>
          <a:solidFill>
            <a:srgbClr val="FF2D55"/>
          </a:solidFill>
          <a:ln/>
        </p:spPr>
      </p:sp>
      <p:sp>
        <p:nvSpPr>
          <p:cNvPr id="10" name="a005_f_998"/>
          <p:cNvSpPr txBox="1"/>
          <p:nvPr/>
        </p:nvSpPr>
        <p:spPr>
          <a:xfrm>
            <a:off x="69951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Abteilung bzw. Rolle, E-Mail, Telefon</a:t>
            </a:r>
            <a:endParaRPr lang="en-US" sz="1250" dirty="0"/>
          </a:p>
        </p:txBody>
      </p:sp>
      <p:sp>
        <p:nvSpPr>
          <p:cNvPr id="11" name="a006_f_999"/>
          <p:cNvSpPr/>
          <p:nvPr/>
        </p:nvSpPr>
        <p:spPr>
          <a:xfrm>
            <a:off x="6739128" y="3497580"/>
            <a:ext cx="118872" cy="118872"/>
          </a:xfrm>
          <a:prstGeom prst="ellipse">
            <a:avLst/>
          </a:prstGeom>
          <a:solidFill>
            <a:srgbClr val="FF2D55"/>
          </a:solidFill>
          <a:ln/>
        </p:spPr>
      </p:sp>
      <p:sp>
        <p:nvSpPr>
          <p:cNvPr id="12" name="a006_f_1000"/>
          <p:cNvSpPr txBox="1"/>
          <p:nvPr/>
        </p:nvSpPr>
        <p:spPr>
          <a:xfrm>
            <a:off x="69951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E-Mails kopieren</a:t>
            </a:r>
            <a:endParaRPr lang="en-US" sz="1250" dirty="0"/>
          </a:p>
        </p:txBody>
      </p:sp>
      <p:sp>
        <p:nvSpPr>
          <p:cNvPr id="13" name="a007_f_1001"/>
          <p:cNvSpPr/>
          <p:nvPr/>
        </p:nvSpPr>
        <p:spPr>
          <a:xfrm>
            <a:off x="6739128" y="3840480"/>
            <a:ext cx="118872" cy="118872"/>
          </a:xfrm>
          <a:prstGeom prst="ellipse">
            <a:avLst/>
          </a:prstGeom>
          <a:solidFill>
            <a:srgbClr val="FF2D55"/>
          </a:solidFill>
          <a:ln/>
        </p:spPr>
      </p:sp>
      <p:sp>
        <p:nvSpPr>
          <p:cNvPr id="14" name="a007_f_1002"/>
          <p:cNvSpPr txBox="1"/>
          <p:nvPr/>
        </p:nvSpPr>
        <p:spPr>
          <a:xfrm>
            <a:off x="69951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vCard fürs Adressbuch (iOS, Android, Outlook)</a:t>
            </a:r>
            <a:endParaRPr lang="en-US" sz="1250" dirty="0"/>
          </a:p>
        </p:txBody>
      </p:sp>
      <p:sp>
        <p:nvSpPr>
          <p:cNvPr id="15" name="a008_f_1003"/>
          <p:cNvSpPr/>
          <p:nvPr/>
        </p:nvSpPr>
        <p:spPr>
          <a:xfrm>
            <a:off x="6739128" y="4183380"/>
            <a:ext cx="118872" cy="118872"/>
          </a:xfrm>
          <a:prstGeom prst="ellipse">
            <a:avLst/>
          </a:prstGeom>
          <a:solidFill>
            <a:srgbClr val="FF2D55"/>
          </a:solidFill>
          <a:ln/>
        </p:spPr>
      </p:sp>
      <p:sp>
        <p:nvSpPr>
          <p:cNvPr id="16" name="a008_f_1004"/>
          <p:cNvSpPr txBox="1"/>
          <p:nvPr/>
        </p:nvSpPr>
        <p:spPr>
          <a:xfrm>
            <a:off x="6995160" y="41148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CSV-Export</a:t>
            </a:r>
            <a:endParaRPr lang="en-US" sz="1250" dirty="0"/>
          </a:p>
        </p:txBody>
      </p:sp>
      <p:sp>
        <p:nvSpPr>
          <p:cNvPr id="17" name="a012_f_1005"/>
          <p:cNvSpPr txBox="1"/>
          <p:nvPr/>
        </p:nvSpPr>
        <p:spPr>
          <a:xfrm>
            <a:off x="67208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8" name="a013_f_1006"/>
          <p:cNvSpPr txBox="1"/>
          <p:nvPr/>
        </p:nvSpPr>
        <p:spPr>
          <a:xfrm>
            <a:off x="6720840" y="576072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2D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Stabliste</a:t>
            </a:r>
            <a:endParaRPr lang="en-US" sz="950" dirty="0"/>
          </a:p>
        </p:txBody>
      </p:sp>
      <p:sp>
        <p:nvSpPr>
          <p:cNvPr id="19" name="a013_f_1007"/>
          <p:cNvSpPr txBox="1"/>
          <p:nvPr/>
        </p:nvSpPr>
        <p:spPr>
          <a:xfrm>
            <a:off x="7662672" y="576072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2D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Besetzung</a:t>
            </a:r>
            <a:endParaRPr lang="en-US" sz="950" dirty="0"/>
          </a:p>
        </p:txBody>
      </p:sp>
      <p:sp>
        <p:nvSpPr>
          <p:cNvPr id="20" name="a013_f_1008"/>
          <p:cNvSpPr txBox="1"/>
          <p:nvPr/>
        </p:nvSpPr>
        <p:spPr>
          <a:xfrm>
            <a:off x="8604504" y="5760720"/>
            <a:ext cx="110642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0B0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0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 Center</a:t>
            </a:r>
            <a:endParaRPr lang="en-US" sz="950" dirty="0"/>
          </a:p>
        </p:txBody>
      </p:sp>
      <p:sp>
        <p:nvSpPr>
          <p:cNvPr id="21" name="a002_f_1009"/>
          <p:cNvSpPr/>
          <p:nvPr/>
        </p:nvSpPr>
        <p:spPr>
          <a:xfrm>
            <a:off x="420624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2" name="a002_f_1010" descr="/tmp/claude-0/-home-user-cutsheet/6324ba14-9edd-52e0-984d-db7baab43700/scratchpad/deck/img/light_projects_168_kontakte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11618"/>
            <a:ext cx="5989320" cy="3743325"/>
          </a:xfrm>
          <a:prstGeom prst="rect">
            <a:avLst/>
          </a:prstGeom>
        </p:spPr>
      </p:pic>
      <p:sp>
        <p:nvSpPr>
          <p:cNvPr id="23" name="s_1011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4" name="s_1012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z_1013"/>
          <p:cNvSpPr txBox="1"/>
          <p:nvPr/>
        </p:nvSpPr>
        <p:spPr>
          <a:xfrm>
            <a:off x="548640" y="8229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600" dirty="0"/>
          </a:p>
        </p:txBody>
      </p:sp>
      <p:sp>
        <p:nvSpPr>
          <p:cNvPr id="3" name="a002_f_1014"/>
          <p:cNvSpPr txBox="1"/>
          <p:nvPr/>
        </p:nvSpPr>
        <p:spPr>
          <a:xfrm>
            <a:off x="548640" y="23317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Planung &amp; Vorbereitung</a:t>
            </a:r>
            <a:endParaRPr lang="en-US" sz="3600" dirty="0"/>
          </a:p>
        </p:txBody>
      </p:sp>
      <p:sp>
        <p:nvSpPr>
          <p:cNvPr id="4" name="a003_f_1015"/>
          <p:cNvSpPr txBox="1"/>
          <p:nvPr/>
        </p:nvSpPr>
        <p:spPr>
          <a:xfrm>
            <a:off x="548640" y="36576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Wo, wann, womit und für wie viel: Motive, Drehplan, Ressourcen, Budget und Absicherung.</a:t>
            </a:r>
            <a:endParaRPr lang="en-US" sz="1500" dirty="0"/>
          </a:p>
        </p:txBody>
      </p:sp>
      <p:sp>
        <p:nvSpPr>
          <p:cNvPr id="5" name="a003_f_1016"/>
          <p:cNvSpPr txBox="1"/>
          <p:nvPr/>
        </p:nvSpPr>
        <p:spPr>
          <a:xfrm>
            <a:off x="548640" y="5029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Seiten</a:t>
            </a:r>
            <a:endParaRPr lang="en-US" sz="1300" dirty="0"/>
          </a:p>
        </p:txBody>
      </p:sp>
      <p:sp>
        <p:nvSpPr>
          <p:cNvPr id="6" name="a004_f_1017"/>
          <p:cNvSpPr/>
          <p:nvPr/>
        </p:nvSpPr>
        <p:spPr>
          <a:xfrm>
            <a:off x="5897880" y="859536"/>
            <a:ext cx="128016" cy="128016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7" name="a004_f_1018"/>
          <p:cNvSpPr txBox="1"/>
          <p:nvPr/>
        </p:nvSpPr>
        <p:spPr>
          <a:xfrm>
            <a:off x="6172200" y="7772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Motive &amp; Drehorte</a:t>
            </a:r>
            <a:endParaRPr lang="en-US" sz="1350" dirty="0"/>
          </a:p>
        </p:txBody>
      </p:sp>
      <p:sp>
        <p:nvSpPr>
          <p:cNvPr id="8" name="a004_f_1019"/>
          <p:cNvSpPr txBox="1"/>
          <p:nvPr/>
        </p:nvSpPr>
        <p:spPr>
          <a:xfrm>
            <a:off x="6172200" y="10789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/motive</a:t>
            </a:r>
            <a:endParaRPr lang="en-US" sz="900" dirty="0"/>
          </a:p>
        </p:txBody>
      </p:sp>
      <p:sp>
        <p:nvSpPr>
          <p:cNvPr id="9" name="a005_f_1020"/>
          <p:cNvSpPr/>
          <p:nvPr/>
        </p:nvSpPr>
        <p:spPr>
          <a:xfrm>
            <a:off x="5897880" y="1591056"/>
            <a:ext cx="128016" cy="128016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0" name="a005_f_1021"/>
          <p:cNvSpPr txBox="1"/>
          <p:nvPr/>
        </p:nvSpPr>
        <p:spPr>
          <a:xfrm>
            <a:off x="6172200" y="15087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Drehplan</a:t>
            </a:r>
            <a:endParaRPr lang="en-US" sz="1350" dirty="0"/>
          </a:p>
        </p:txBody>
      </p:sp>
      <p:sp>
        <p:nvSpPr>
          <p:cNvPr id="11" name="a005_f_1022"/>
          <p:cNvSpPr txBox="1"/>
          <p:nvPr/>
        </p:nvSpPr>
        <p:spPr>
          <a:xfrm>
            <a:off x="6172200" y="18105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/drehplan</a:t>
            </a:r>
            <a:endParaRPr lang="en-US" sz="900" dirty="0"/>
          </a:p>
        </p:txBody>
      </p:sp>
      <p:sp>
        <p:nvSpPr>
          <p:cNvPr id="12" name="a006_f_1023"/>
          <p:cNvSpPr/>
          <p:nvPr/>
        </p:nvSpPr>
        <p:spPr>
          <a:xfrm>
            <a:off x="5897880" y="2322576"/>
            <a:ext cx="128016" cy="128016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3" name="a006_f_1024"/>
          <p:cNvSpPr txBox="1"/>
          <p:nvPr/>
        </p:nvSpPr>
        <p:spPr>
          <a:xfrm>
            <a:off x="6172200" y="22402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Stäbchenplan</a:t>
            </a:r>
            <a:endParaRPr lang="en-US" sz="1350" dirty="0"/>
          </a:p>
        </p:txBody>
      </p:sp>
      <p:sp>
        <p:nvSpPr>
          <p:cNvPr id="14" name="a006_f_1025"/>
          <p:cNvSpPr txBox="1"/>
          <p:nvPr/>
        </p:nvSpPr>
        <p:spPr>
          <a:xfrm>
            <a:off x="6172200" y="25420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/staebchenplan</a:t>
            </a:r>
            <a:endParaRPr lang="en-US" sz="900" dirty="0"/>
          </a:p>
        </p:txBody>
      </p:sp>
      <p:sp>
        <p:nvSpPr>
          <p:cNvPr id="15" name="a007_f_1026"/>
          <p:cNvSpPr/>
          <p:nvPr/>
        </p:nvSpPr>
        <p:spPr>
          <a:xfrm>
            <a:off x="5897880" y="3054096"/>
            <a:ext cx="128016" cy="128016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6" name="a007_f_1027"/>
          <p:cNvSpPr txBox="1"/>
          <p:nvPr/>
        </p:nvSpPr>
        <p:spPr>
          <a:xfrm>
            <a:off x="6172200" y="2971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Terminkalender</a:t>
            </a:r>
            <a:endParaRPr lang="en-US" sz="1350" dirty="0"/>
          </a:p>
        </p:txBody>
      </p:sp>
      <p:sp>
        <p:nvSpPr>
          <p:cNvPr id="17" name="a007_f_1028"/>
          <p:cNvSpPr txBox="1"/>
          <p:nvPr/>
        </p:nvSpPr>
        <p:spPr>
          <a:xfrm>
            <a:off x="6172200" y="32735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/kalender</a:t>
            </a:r>
            <a:endParaRPr lang="en-US" sz="900" dirty="0"/>
          </a:p>
        </p:txBody>
      </p:sp>
      <p:sp>
        <p:nvSpPr>
          <p:cNvPr id="18" name="a008_f_1029"/>
          <p:cNvSpPr/>
          <p:nvPr/>
        </p:nvSpPr>
        <p:spPr>
          <a:xfrm>
            <a:off x="5897880" y="3785616"/>
            <a:ext cx="128016" cy="128016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9" name="a008_f_1030"/>
          <p:cNvSpPr txBox="1"/>
          <p:nvPr/>
        </p:nvSpPr>
        <p:spPr>
          <a:xfrm>
            <a:off x="6172200" y="37033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Konfliktradar</a:t>
            </a:r>
            <a:endParaRPr lang="en-US" sz="1350" dirty="0"/>
          </a:p>
        </p:txBody>
      </p:sp>
      <p:sp>
        <p:nvSpPr>
          <p:cNvPr id="20" name="a008_f_1031"/>
          <p:cNvSpPr txBox="1"/>
          <p:nvPr/>
        </p:nvSpPr>
        <p:spPr>
          <a:xfrm>
            <a:off x="6172200" y="40050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/konfliktradar</a:t>
            </a:r>
            <a:endParaRPr lang="en-US" sz="900" dirty="0"/>
          </a:p>
        </p:txBody>
      </p:sp>
      <p:sp>
        <p:nvSpPr>
          <p:cNvPr id="21" name="a009_f_1032"/>
          <p:cNvSpPr/>
          <p:nvPr/>
        </p:nvSpPr>
        <p:spPr>
          <a:xfrm>
            <a:off x="5897880" y="4517136"/>
            <a:ext cx="128016" cy="128016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22" name="a009_f_1033"/>
          <p:cNvSpPr txBox="1"/>
          <p:nvPr/>
        </p:nvSpPr>
        <p:spPr>
          <a:xfrm>
            <a:off x="6172200" y="4434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</a:t>
            </a:r>
            <a:endParaRPr lang="en-US" sz="1350" dirty="0"/>
          </a:p>
        </p:txBody>
      </p:sp>
      <p:sp>
        <p:nvSpPr>
          <p:cNvPr id="23" name="a009_f_1034"/>
          <p:cNvSpPr txBox="1"/>
          <p:nvPr/>
        </p:nvSpPr>
        <p:spPr>
          <a:xfrm>
            <a:off x="6172200" y="47365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/equipment</a:t>
            </a:r>
            <a:endParaRPr lang="en-US" sz="900" dirty="0"/>
          </a:p>
        </p:txBody>
      </p:sp>
      <p:sp>
        <p:nvSpPr>
          <p:cNvPr id="24" name="a010_f_1035"/>
          <p:cNvSpPr/>
          <p:nvPr/>
        </p:nvSpPr>
        <p:spPr>
          <a:xfrm>
            <a:off x="8915400" y="859536"/>
            <a:ext cx="128016" cy="128016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25" name="a010_f_1036"/>
          <p:cNvSpPr txBox="1"/>
          <p:nvPr/>
        </p:nvSpPr>
        <p:spPr>
          <a:xfrm>
            <a:off x="9189720" y="7772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Equipment-Kalender</a:t>
            </a:r>
            <a:endParaRPr lang="en-US" sz="1350" dirty="0"/>
          </a:p>
        </p:txBody>
      </p:sp>
      <p:sp>
        <p:nvSpPr>
          <p:cNvPr id="26" name="a010_f_1037"/>
          <p:cNvSpPr txBox="1"/>
          <p:nvPr/>
        </p:nvSpPr>
        <p:spPr>
          <a:xfrm>
            <a:off x="9189720" y="10789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/equipment-kalender</a:t>
            </a:r>
            <a:endParaRPr lang="en-US" sz="900" dirty="0"/>
          </a:p>
        </p:txBody>
      </p:sp>
      <p:sp>
        <p:nvSpPr>
          <p:cNvPr id="27" name="a011_f_1038"/>
          <p:cNvSpPr/>
          <p:nvPr/>
        </p:nvSpPr>
        <p:spPr>
          <a:xfrm>
            <a:off x="8915400" y="1591056"/>
            <a:ext cx="128016" cy="128016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28" name="a011_f_1039"/>
          <p:cNvSpPr txBox="1"/>
          <p:nvPr/>
        </p:nvSpPr>
        <p:spPr>
          <a:xfrm>
            <a:off x="9189720" y="15087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Fahrzeuge</a:t>
            </a:r>
            <a:endParaRPr lang="en-US" sz="1350" dirty="0"/>
          </a:p>
        </p:txBody>
      </p:sp>
      <p:sp>
        <p:nvSpPr>
          <p:cNvPr id="29" name="a011_f_1040"/>
          <p:cNvSpPr txBox="1"/>
          <p:nvPr/>
        </p:nvSpPr>
        <p:spPr>
          <a:xfrm>
            <a:off x="9189720" y="18105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/fahrzeuge</a:t>
            </a:r>
            <a:endParaRPr lang="en-US" sz="900" dirty="0"/>
          </a:p>
        </p:txBody>
      </p:sp>
      <p:sp>
        <p:nvSpPr>
          <p:cNvPr id="30" name="a012_f_1041"/>
          <p:cNvSpPr/>
          <p:nvPr/>
        </p:nvSpPr>
        <p:spPr>
          <a:xfrm>
            <a:off x="8915400" y="2322576"/>
            <a:ext cx="128016" cy="128016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31" name="a012_f_1042"/>
          <p:cNvSpPr txBox="1"/>
          <p:nvPr/>
        </p:nvSpPr>
        <p:spPr>
          <a:xfrm>
            <a:off x="9189720" y="22402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Catering</a:t>
            </a:r>
            <a:endParaRPr lang="en-US" sz="1350" dirty="0"/>
          </a:p>
        </p:txBody>
      </p:sp>
      <p:sp>
        <p:nvSpPr>
          <p:cNvPr id="32" name="a012_f_1043"/>
          <p:cNvSpPr txBox="1"/>
          <p:nvPr/>
        </p:nvSpPr>
        <p:spPr>
          <a:xfrm>
            <a:off x="9189720" y="25420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/catering</a:t>
            </a:r>
            <a:endParaRPr lang="en-US" sz="900" dirty="0"/>
          </a:p>
        </p:txBody>
      </p:sp>
      <p:sp>
        <p:nvSpPr>
          <p:cNvPr id="33" name="a013_f_1044"/>
          <p:cNvSpPr/>
          <p:nvPr/>
        </p:nvSpPr>
        <p:spPr>
          <a:xfrm>
            <a:off x="8915400" y="3054096"/>
            <a:ext cx="128016" cy="128016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34" name="a013_f_1045"/>
          <p:cNvSpPr txBox="1"/>
          <p:nvPr/>
        </p:nvSpPr>
        <p:spPr>
          <a:xfrm>
            <a:off x="9189720" y="2971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&amp; Finanzierung</a:t>
            </a:r>
            <a:endParaRPr lang="en-US" sz="1350" dirty="0"/>
          </a:p>
        </p:txBody>
      </p:sp>
      <p:sp>
        <p:nvSpPr>
          <p:cNvPr id="35" name="a013_f_1046"/>
          <p:cNvSpPr txBox="1"/>
          <p:nvPr/>
        </p:nvSpPr>
        <p:spPr>
          <a:xfrm>
            <a:off x="9189720" y="32735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/budget</a:t>
            </a:r>
            <a:endParaRPr lang="en-US" sz="900" dirty="0"/>
          </a:p>
        </p:txBody>
      </p:sp>
      <p:sp>
        <p:nvSpPr>
          <p:cNvPr id="36" name="a014_f_1047"/>
          <p:cNvSpPr/>
          <p:nvPr/>
        </p:nvSpPr>
        <p:spPr>
          <a:xfrm>
            <a:off x="8915400" y="3785616"/>
            <a:ext cx="128016" cy="128016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37" name="a014_f_1048"/>
          <p:cNvSpPr txBox="1"/>
          <p:nvPr/>
        </p:nvSpPr>
        <p:spPr>
          <a:xfrm>
            <a:off x="9189720" y="37033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Kostenstand</a:t>
            </a:r>
            <a:endParaRPr lang="en-US" sz="1350" dirty="0"/>
          </a:p>
        </p:txBody>
      </p:sp>
      <p:sp>
        <p:nvSpPr>
          <p:cNvPr id="38" name="a014_f_1049"/>
          <p:cNvSpPr txBox="1"/>
          <p:nvPr/>
        </p:nvSpPr>
        <p:spPr>
          <a:xfrm>
            <a:off x="9189720" y="40050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/kostenstand</a:t>
            </a:r>
            <a:endParaRPr lang="en-US" sz="900" dirty="0"/>
          </a:p>
        </p:txBody>
      </p:sp>
      <p:sp>
        <p:nvSpPr>
          <p:cNvPr id="39" name="a015_f_1050"/>
          <p:cNvSpPr/>
          <p:nvPr/>
        </p:nvSpPr>
        <p:spPr>
          <a:xfrm>
            <a:off x="8915400" y="4517136"/>
            <a:ext cx="128016" cy="128016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40" name="a015_f_1051"/>
          <p:cNvSpPr txBox="1"/>
          <p:nvPr/>
        </p:nvSpPr>
        <p:spPr>
          <a:xfrm>
            <a:off x="9189720" y="4434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Versicherungen</a:t>
            </a:r>
            <a:endParaRPr lang="en-US" sz="1350" dirty="0"/>
          </a:p>
        </p:txBody>
      </p:sp>
      <p:sp>
        <p:nvSpPr>
          <p:cNvPr id="41" name="a015_f_1052"/>
          <p:cNvSpPr txBox="1"/>
          <p:nvPr/>
        </p:nvSpPr>
        <p:spPr>
          <a:xfrm>
            <a:off x="9189720" y="47365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/versicherungen</a:t>
            </a:r>
            <a:endParaRPr lang="en-US" sz="900" dirty="0"/>
          </a:p>
        </p:txBody>
      </p:sp>
      <p:sp>
        <p:nvSpPr>
          <p:cNvPr id="42" name="s_1053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43" name="s_1054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36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48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48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48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48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48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48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48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48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48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48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48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48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48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48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4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48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48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48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4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48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2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48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48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42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48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48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  <p:bldP spid="25" grpId="0" animBg="1"/>
      <p:bldP spid="26" grpId="0" animBg="1"/>
      <p:bldP spid="28" grpId="0" animBg="1"/>
      <p:bldP spid="29" grpId="0" animBg="1"/>
      <p:bldP spid="31" grpId="0" animBg="1"/>
      <p:bldP spid="32" grpId="0" animBg="1"/>
      <p:bldP spid="34" grpId="0" animBg="1"/>
      <p:bldP spid="35" grpId="0" animBg="1"/>
      <p:bldP spid="37" grpId="0" animBg="1"/>
      <p:bldP spid="38" grpId="0" animBg="1"/>
      <p:bldP spid="40" grpId="0" animBg="1"/>
      <p:bldP spid="4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1055"/>
          <p:cNvSpPr txBox="1"/>
          <p:nvPr/>
        </p:nvSpPr>
        <p:spPr>
          <a:xfrm>
            <a:off x="548640" y="502920"/>
            <a:ext cx="1898294" cy="292608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Planung &amp; Vorbereitung</a:t>
            </a:r>
            <a:endParaRPr lang="en-US" sz="1000" dirty="0"/>
          </a:p>
        </p:txBody>
      </p:sp>
      <p:sp>
        <p:nvSpPr>
          <p:cNvPr id="3" name="a001_f_1056"/>
          <p:cNvSpPr txBox="1"/>
          <p:nvPr/>
        </p:nvSpPr>
        <p:spPr>
          <a:xfrm>
            <a:off x="37947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25 von 69</a:t>
            </a:r>
            <a:endParaRPr lang="en-US" sz="950" dirty="0"/>
          </a:p>
        </p:txBody>
      </p:sp>
      <p:sp>
        <p:nvSpPr>
          <p:cNvPr id="4" name="a001_f_1057"/>
          <p:cNvSpPr txBox="1"/>
          <p:nvPr/>
        </p:nvSpPr>
        <p:spPr>
          <a:xfrm>
            <a:off x="5486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Motive &amp; Drehorte</a:t>
            </a:r>
            <a:endParaRPr lang="en-US" sz="3200" dirty="0"/>
          </a:p>
        </p:txBody>
      </p:sp>
      <p:sp>
        <p:nvSpPr>
          <p:cNvPr id="5" name="a001_f_1058"/>
          <p:cNvSpPr txBox="1"/>
          <p:nvPr/>
        </p:nvSpPr>
        <p:spPr>
          <a:xfrm>
            <a:off x="5486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/projects/:id/motive</a:t>
            </a:r>
            <a:endParaRPr lang="en-US" sz="1050" dirty="0"/>
          </a:p>
        </p:txBody>
      </p:sp>
      <p:sp>
        <p:nvSpPr>
          <p:cNvPr id="6" name="a003_f_1059"/>
          <p:cNvSpPr txBox="1"/>
          <p:nvPr/>
        </p:nvSpPr>
        <p:spPr>
          <a:xfrm>
            <a:off x="5486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Drehorte mit Karte, Kosten – und dem Motivvertrag zum Unterschreiben.</a:t>
            </a:r>
            <a:endParaRPr lang="en-US" sz="1400" dirty="0"/>
          </a:p>
        </p:txBody>
      </p:sp>
      <p:sp>
        <p:nvSpPr>
          <p:cNvPr id="7" name="a004_f_1060"/>
          <p:cNvSpPr/>
          <p:nvPr/>
        </p:nvSpPr>
        <p:spPr>
          <a:xfrm>
            <a:off x="566928" y="28117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8" name="a004_f_1061"/>
          <p:cNvSpPr txBox="1"/>
          <p:nvPr/>
        </p:nvSpPr>
        <p:spPr>
          <a:xfrm>
            <a:off x="8229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Adresse, Ansprechpartner, Miete pro Tag, Strom</a:t>
            </a:r>
            <a:endParaRPr lang="en-US" sz="1250" dirty="0"/>
          </a:p>
        </p:txBody>
      </p:sp>
      <p:sp>
        <p:nvSpPr>
          <p:cNvPr id="9" name="a005_f_1062"/>
          <p:cNvSpPr/>
          <p:nvPr/>
        </p:nvSpPr>
        <p:spPr>
          <a:xfrm>
            <a:off x="566928" y="31546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0" name="a005_f_1063"/>
          <p:cNvSpPr txBox="1"/>
          <p:nvPr/>
        </p:nvSpPr>
        <p:spPr>
          <a:xfrm>
            <a:off x="8229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Koordinaten per OpenStreetMap-Suche, Karte</a:t>
            </a:r>
            <a:endParaRPr lang="en-US" sz="1250" dirty="0"/>
          </a:p>
        </p:txBody>
      </p:sp>
      <p:sp>
        <p:nvSpPr>
          <p:cNvPr id="11" name="a006_f_1064"/>
          <p:cNvSpPr/>
          <p:nvPr/>
        </p:nvSpPr>
        <p:spPr>
          <a:xfrm>
            <a:off x="566928" y="34975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2" name="a006_f_1065"/>
          <p:cNvSpPr txBox="1"/>
          <p:nvPr/>
        </p:nvSpPr>
        <p:spPr>
          <a:xfrm>
            <a:off x="8229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Drehtage je Motiv</a:t>
            </a:r>
            <a:endParaRPr lang="en-US" sz="1250" dirty="0"/>
          </a:p>
        </p:txBody>
      </p:sp>
      <p:sp>
        <p:nvSpPr>
          <p:cNvPr id="13" name="a007_f_1066"/>
          <p:cNvSpPr/>
          <p:nvPr/>
        </p:nvSpPr>
        <p:spPr>
          <a:xfrm>
            <a:off x="566928" y="38404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4" name="a007_f_1067"/>
          <p:cNvSpPr txBox="1"/>
          <p:nvPr/>
        </p:nvSpPr>
        <p:spPr>
          <a:xfrm>
            <a:off x="8229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Motivvertrag digital unterschreiben, als PDF</a:t>
            </a:r>
            <a:endParaRPr lang="en-US" sz="1250" dirty="0"/>
          </a:p>
        </p:txBody>
      </p:sp>
      <p:sp>
        <p:nvSpPr>
          <p:cNvPr id="15" name="a008_f_1068"/>
          <p:cNvSpPr/>
          <p:nvPr/>
        </p:nvSpPr>
        <p:spPr>
          <a:xfrm>
            <a:off x="566928" y="41833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6" name="a008_f_1069"/>
          <p:cNvSpPr txBox="1"/>
          <p:nvPr/>
        </p:nvSpPr>
        <p:spPr>
          <a:xfrm>
            <a:off x="822960" y="41148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Motivliste als PDF</a:t>
            </a:r>
            <a:endParaRPr lang="en-US" sz="1250" dirty="0"/>
          </a:p>
        </p:txBody>
      </p:sp>
      <p:sp>
        <p:nvSpPr>
          <p:cNvPr id="17" name="a012_f_1070"/>
          <p:cNvSpPr txBox="1"/>
          <p:nvPr/>
        </p:nvSpPr>
        <p:spPr>
          <a:xfrm>
            <a:off x="5486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8" name="a013_f_1071"/>
          <p:cNvSpPr txBox="1"/>
          <p:nvPr/>
        </p:nvSpPr>
        <p:spPr>
          <a:xfrm>
            <a:off x="548640" y="5760720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F52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</a:t>
            </a:r>
            <a:endParaRPr lang="en-US" sz="950" dirty="0"/>
          </a:p>
        </p:txBody>
      </p:sp>
      <p:sp>
        <p:nvSpPr>
          <p:cNvPr id="19" name="a013_f_1072"/>
          <p:cNvSpPr txBox="1"/>
          <p:nvPr/>
        </p:nvSpPr>
        <p:spPr>
          <a:xfrm>
            <a:off x="1298448" y="576072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Drehplan</a:t>
            </a:r>
            <a:endParaRPr lang="en-US" sz="950" dirty="0"/>
          </a:p>
        </p:txBody>
      </p:sp>
      <p:sp>
        <p:nvSpPr>
          <p:cNvPr id="20" name="a013_f_1073"/>
          <p:cNvSpPr txBox="1"/>
          <p:nvPr/>
        </p:nvSpPr>
        <p:spPr>
          <a:xfrm>
            <a:off x="2176272" y="576072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Tagesdispo</a:t>
            </a:r>
            <a:endParaRPr lang="en-US" sz="950" dirty="0"/>
          </a:p>
        </p:txBody>
      </p:sp>
      <p:sp>
        <p:nvSpPr>
          <p:cNvPr id="21" name="a013_f_1074"/>
          <p:cNvSpPr txBox="1"/>
          <p:nvPr/>
        </p:nvSpPr>
        <p:spPr>
          <a:xfrm>
            <a:off x="3182112" y="5760720"/>
            <a:ext cx="110642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Konfliktradar</a:t>
            </a:r>
            <a:endParaRPr lang="en-US" sz="950" dirty="0"/>
          </a:p>
        </p:txBody>
      </p:sp>
      <p:sp>
        <p:nvSpPr>
          <p:cNvPr id="22" name="a002_f_1075"/>
          <p:cNvSpPr/>
          <p:nvPr/>
        </p:nvSpPr>
        <p:spPr>
          <a:xfrm>
            <a:off x="5617159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3" name="a002_f_1076" descr="/tmp/claude-0/-home-user-cutsheet/6324ba14-9edd-52e0-984d-db7baab43700/scratchpad/deck/img/light_projects_168_motive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455" y="1511618"/>
            <a:ext cx="5989320" cy="3743325"/>
          </a:xfrm>
          <a:prstGeom prst="rect">
            <a:avLst/>
          </a:prstGeom>
        </p:spPr>
      </p:pic>
      <p:sp>
        <p:nvSpPr>
          <p:cNvPr id="24" name="s_1077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5" name="s_1078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48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1079"/>
          <p:cNvSpPr txBox="1"/>
          <p:nvPr/>
        </p:nvSpPr>
        <p:spPr>
          <a:xfrm>
            <a:off x="6720840" y="502920"/>
            <a:ext cx="1898294" cy="292608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Planung &amp; Vorbereitung</a:t>
            </a:r>
            <a:endParaRPr lang="en-US" sz="1000" dirty="0"/>
          </a:p>
        </p:txBody>
      </p:sp>
      <p:sp>
        <p:nvSpPr>
          <p:cNvPr id="3" name="a001_f_1080"/>
          <p:cNvSpPr txBox="1"/>
          <p:nvPr/>
        </p:nvSpPr>
        <p:spPr>
          <a:xfrm>
            <a:off x="99669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26 von 69</a:t>
            </a:r>
            <a:endParaRPr lang="en-US" sz="950" dirty="0"/>
          </a:p>
        </p:txBody>
      </p:sp>
      <p:sp>
        <p:nvSpPr>
          <p:cNvPr id="4" name="a001_f_1081"/>
          <p:cNvSpPr txBox="1"/>
          <p:nvPr/>
        </p:nvSpPr>
        <p:spPr>
          <a:xfrm>
            <a:off x="67208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Drehplan</a:t>
            </a:r>
            <a:endParaRPr lang="en-US" sz="3200" dirty="0"/>
          </a:p>
        </p:txBody>
      </p:sp>
      <p:sp>
        <p:nvSpPr>
          <p:cNvPr id="5" name="a001_f_1082"/>
          <p:cNvSpPr txBox="1"/>
          <p:nvPr/>
        </p:nvSpPr>
        <p:spPr>
          <a:xfrm>
            <a:off x="67208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/projects/:id/drehplan</a:t>
            </a:r>
            <a:endParaRPr lang="en-US" sz="1050" dirty="0"/>
          </a:p>
        </p:txBody>
      </p:sp>
      <p:sp>
        <p:nvSpPr>
          <p:cNvPr id="6" name="a003_f_1083"/>
          <p:cNvSpPr txBox="1"/>
          <p:nvPr/>
        </p:nvSpPr>
        <p:spPr>
          <a:xfrm>
            <a:off x="67208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 auf Drehtage ziehen – mit Versionen und KI-Optimierung.</a:t>
            </a:r>
            <a:endParaRPr lang="en-US" sz="1400" dirty="0"/>
          </a:p>
        </p:txBody>
      </p:sp>
      <p:sp>
        <p:nvSpPr>
          <p:cNvPr id="7" name="a004_f_1084"/>
          <p:cNvSpPr/>
          <p:nvPr/>
        </p:nvSpPr>
        <p:spPr>
          <a:xfrm>
            <a:off x="6739128" y="28117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8" name="a004_f_1085"/>
          <p:cNvSpPr txBox="1"/>
          <p:nvPr/>
        </p:nvSpPr>
        <p:spPr>
          <a:xfrm>
            <a:off x="69951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 per Drag &amp; Drop aus der Ablage auf Drehtage</a:t>
            </a:r>
            <a:endParaRPr lang="en-US" sz="1250" dirty="0"/>
          </a:p>
        </p:txBody>
      </p:sp>
      <p:sp>
        <p:nvSpPr>
          <p:cNvPr id="9" name="a005_f_1086"/>
          <p:cNvSpPr/>
          <p:nvPr/>
        </p:nvSpPr>
        <p:spPr>
          <a:xfrm>
            <a:off x="6739128" y="31546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0" name="a005_f_1087"/>
          <p:cNvSpPr txBox="1"/>
          <p:nvPr/>
        </p:nvSpPr>
        <p:spPr>
          <a:xfrm>
            <a:off x="69951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Drehtage einzeln oder als Zeitraum (bis 60)</a:t>
            </a:r>
            <a:endParaRPr lang="en-US" sz="1250" dirty="0"/>
          </a:p>
        </p:txBody>
      </p:sp>
      <p:sp>
        <p:nvSpPr>
          <p:cNvPr id="11" name="a006_f_1088"/>
          <p:cNvSpPr/>
          <p:nvPr/>
        </p:nvSpPr>
        <p:spPr>
          <a:xfrm>
            <a:off x="6739128" y="34975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2" name="a006_f_1089"/>
          <p:cNvSpPr txBox="1"/>
          <p:nvPr/>
        </p:nvSpPr>
        <p:spPr>
          <a:xfrm>
            <a:off x="69951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Sperrtage der Darsteller am Tag sichtbar</a:t>
            </a:r>
            <a:endParaRPr lang="en-US" sz="1250" dirty="0"/>
          </a:p>
        </p:txBody>
      </p:sp>
      <p:sp>
        <p:nvSpPr>
          <p:cNvPr id="13" name="a007_f_1090"/>
          <p:cNvSpPr/>
          <p:nvPr/>
        </p:nvSpPr>
        <p:spPr>
          <a:xfrm>
            <a:off x="6739128" y="38404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4" name="a007_f_1091"/>
          <p:cNvSpPr txBox="1"/>
          <p:nvPr/>
        </p:nvSpPr>
        <p:spPr>
          <a:xfrm>
            <a:off x="69951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Versionen speichern und wiederherstellen</a:t>
            </a:r>
            <a:endParaRPr lang="en-US" sz="1250" dirty="0"/>
          </a:p>
        </p:txBody>
      </p:sp>
      <p:sp>
        <p:nvSpPr>
          <p:cNvPr id="15" name="a008_f_1092"/>
          <p:cNvSpPr/>
          <p:nvPr/>
        </p:nvSpPr>
        <p:spPr>
          <a:xfrm>
            <a:off x="6739128" y="41833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6" name="a008_f_1093"/>
          <p:cNvSpPr txBox="1"/>
          <p:nvPr/>
        </p:nvSpPr>
        <p:spPr>
          <a:xfrm>
            <a:off x="6995160" y="41148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KI-Optimierung des Plans</a:t>
            </a:r>
            <a:endParaRPr lang="en-US" sz="1250" dirty="0"/>
          </a:p>
        </p:txBody>
      </p:sp>
      <p:sp>
        <p:nvSpPr>
          <p:cNvPr id="17" name="a009_f_1094"/>
          <p:cNvSpPr/>
          <p:nvPr/>
        </p:nvSpPr>
        <p:spPr>
          <a:xfrm>
            <a:off x="6739128" y="45262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8" name="a009_f_1095"/>
          <p:cNvSpPr txBox="1"/>
          <p:nvPr/>
        </p:nvSpPr>
        <p:spPr>
          <a:xfrm>
            <a:off x="6995160" y="44577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 Brief und Drehplan als PDF</a:t>
            </a:r>
            <a:endParaRPr lang="en-US" sz="1250" dirty="0"/>
          </a:p>
        </p:txBody>
      </p:sp>
      <p:sp>
        <p:nvSpPr>
          <p:cNvPr id="19" name="a012_f_1096"/>
          <p:cNvSpPr txBox="1"/>
          <p:nvPr/>
        </p:nvSpPr>
        <p:spPr>
          <a:xfrm>
            <a:off x="6720840" y="53400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20" name="a013_f_1097"/>
          <p:cNvSpPr txBox="1"/>
          <p:nvPr/>
        </p:nvSpPr>
        <p:spPr>
          <a:xfrm>
            <a:off x="6720840" y="5614416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F52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</a:t>
            </a:r>
            <a:endParaRPr lang="en-US" sz="950" dirty="0"/>
          </a:p>
        </p:txBody>
      </p:sp>
      <p:sp>
        <p:nvSpPr>
          <p:cNvPr id="21" name="a013_f_1098"/>
          <p:cNvSpPr txBox="1"/>
          <p:nvPr/>
        </p:nvSpPr>
        <p:spPr>
          <a:xfrm>
            <a:off x="7470648" y="5614416"/>
            <a:ext cx="104241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Stäbchenplan</a:t>
            </a:r>
            <a:endParaRPr lang="en-US" sz="950" dirty="0"/>
          </a:p>
        </p:txBody>
      </p:sp>
      <p:sp>
        <p:nvSpPr>
          <p:cNvPr id="22" name="a013_f_1099"/>
          <p:cNvSpPr txBox="1"/>
          <p:nvPr/>
        </p:nvSpPr>
        <p:spPr>
          <a:xfrm>
            <a:off x="8604504" y="5614416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Tagesdispo</a:t>
            </a:r>
            <a:endParaRPr lang="en-US" sz="950" dirty="0"/>
          </a:p>
        </p:txBody>
      </p:sp>
      <p:sp>
        <p:nvSpPr>
          <p:cNvPr id="23" name="a013_f_1100"/>
          <p:cNvSpPr txBox="1"/>
          <p:nvPr/>
        </p:nvSpPr>
        <p:spPr>
          <a:xfrm>
            <a:off x="9610344" y="5614416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2D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Sperrtage Cast</a:t>
            </a:r>
            <a:endParaRPr lang="en-US" sz="950" dirty="0"/>
          </a:p>
        </p:txBody>
      </p:sp>
      <p:sp>
        <p:nvSpPr>
          <p:cNvPr id="24" name="a013_f_1101"/>
          <p:cNvSpPr txBox="1"/>
          <p:nvPr/>
        </p:nvSpPr>
        <p:spPr>
          <a:xfrm>
            <a:off x="6720840" y="5961888"/>
            <a:ext cx="110642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Konfliktradar</a:t>
            </a:r>
            <a:endParaRPr lang="en-US" sz="950" dirty="0"/>
          </a:p>
        </p:txBody>
      </p:sp>
      <p:sp>
        <p:nvSpPr>
          <p:cNvPr id="25" name="a013_f_1102"/>
          <p:cNvSpPr txBox="1"/>
          <p:nvPr/>
        </p:nvSpPr>
        <p:spPr>
          <a:xfrm>
            <a:off x="7918704" y="5961888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Terminkalender</a:t>
            </a:r>
            <a:endParaRPr lang="en-US" sz="950" dirty="0"/>
          </a:p>
        </p:txBody>
      </p:sp>
      <p:sp>
        <p:nvSpPr>
          <p:cNvPr id="26" name="a002_f_1103"/>
          <p:cNvSpPr/>
          <p:nvPr/>
        </p:nvSpPr>
        <p:spPr>
          <a:xfrm>
            <a:off x="420624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7" name="a002_f_1104" descr="/tmp/claude-0/-home-user-cutsheet/6324ba14-9edd-52e0-984d-db7baab43700/scratchpad/deck/img/light_projects_168_drehplan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11618"/>
            <a:ext cx="5989320" cy="3743325"/>
          </a:xfrm>
          <a:prstGeom prst="rect">
            <a:avLst/>
          </a:prstGeom>
        </p:spPr>
      </p:pic>
      <p:sp>
        <p:nvSpPr>
          <p:cNvPr id="28" name="s_1105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9" name="s_1106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48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48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48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48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48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1107"/>
          <p:cNvSpPr txBox="1"/>
          <p:nvPr/>
        </p:nvSpPr>
        <p:spPr>
          <a:xfrm>
            <a:off x="548640" y="502920"/>
            <a:ext cx="1898294" cy="292608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Planung &amp; Vorbereitung</a:t>
            </a:r>
            <a:endParaRPr lang="en-US" sz="1000" dirty="0"/>
          </a:p>
        </p:txBody>
      </p:sp>
      <p:sp>
        <p:nvSpPr>
          <p:cNvPr id="3" name="a001_f_1108"/>
          <p:cNvSpPr txBox="1"/>
          <p:nvPr/>
        </p:nvSpPr>
        <p:spPr>
          <a:xfrm>
            <a:off x="37947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27 von 69</a:t>
            </a:r>
            <a:endParaRPr lang="en-US" sz="950" dirty="0"/>
          </a:p>
        </p:txBody>
      </p:sp>
      <p:sp>
        <p:nvSpPr>
          <p:cNvPr id="4" name="a001_f_1109"/>
          <p:cNvSpPr txBox="1"/>
          <p:nvPr/>
        </p:nvSpPr>
        <p:spPr>
          <a:xfrm>
            <a:off x="5486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Stäbchenplan</a:t>
            </a:r>
            <a:endParaRPr lang="en-US" sz="3200" dirty="0"/>
          </a:p>
        </p:txBody>
      </p:sp>
      <p:sp>
        <p:nvSpPr>
          <p:cNvPr id="5" name="a001_f_1110"/>
          <p:cNvSpPr txBox="1"/>
          <p:nvPr/>
        </p:nvSpPr>
        <p:spPr>
          <a:xfrm>
            <a:off x="5486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/projects/:id/staebchenplan</a:t>
            </a:r>
            <a:endParaRPr lang="en-US" sz="1050" dirty="0"/>
          </a:p>
        </p:txBody>
      </p:sp>
      <p:sp>
        <p:nvSpPr>
          <p:cNvPr id="6" name="a003_f_1111"/>
          <p:cNvSpPr txBox="1"/>
          <p:nvPr/>
        </p:nvSpPr>
        <p:spPr>
          <a:xfrm>
            <a:off x="5486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klassische Stripboard-Blick: Szenenstreifen nach Drehtag.</a:t>
            </a:r>
            <a:endParaRPr lang="en-US" sz="1400" dirty="0"/>
          </a:p>
        </p:txBody>
      </p:sp>
      <p:sp>
        <p:nvSpPr>
          <p:cNvPr id="7" name="a004_f_1112"/>
          <p:cNvSpPr/>
          <p:nvPr/>
        </p:nvSpPr>
        <p:spPr>
          <a:xfrm>
            <a:off x="566928" y="28117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8" name="a004_f_1113"/>
          <p:cNvSpPr txBox="1"/>
          <p:nvPr/>
        </p:nvSpPr>
        <p:spPr>
          <a:xfrm>
            <a:off x="8229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Farbstreifen INT/EXT × Tag/Nacht</a:t>
            </a:r>
            <a:endParaRPr lang="en-US" sz="1250" dirty="0"/>
          </a:p>
        </p:txBody>
      </p:sp>
      <p:sp>
        <p:nvSpPr>
          <p:cNvPr id="9" name="a005_f_1114"/>
          <p:cNvSpPr/>
          <p:nvPr/>
        </p:nvSpPr>
        <p:spPr>
          <a:xfrm>
            <a:off x="566928" y="31546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0" name="a005_f_1115"/>
          <p:cNvSpPr txBox="1"/>
          <p:nvPr/>
        </p:nvSpPr>
        <p:spPr>
          <a:xfrm>
            <a:off x="8229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 gesamt, verplant, Seiten, Drehtage</a:t>
            </a:r>
            <a:endParaRPr lang="en-US" sz="1250" dirty="0"/>
          </a:p>
        </p:txBody>
      </p:sp>
      <p:sp>
        <p:nvSpPr>
          <p:cNvPr id="11" name="a006_f_1116"/>
          <p:cNvSpPr/>
          <p:nvPr/>
        </p:nvSpPr>
        <p:spPr>
          <a:xfrm>
            <a:off x="566928" y="34975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2" name="a006_f_1117"/>
          <p:cNvSpPr txBox="1"/>
          <p:nvPr/>
        </p:nvSpPr>
        <p:spPr>
          <a:xfrm>
            <a:off x="8229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 verplante Szenen sichtbar</a:t>
            </a:r>
            <a:endParaRPr lang="en-US" sz="1250" dirty="0"/>
          </a:p>
        </p:txBody>
      </p:sp>
      <p:sp>
        <p:nvSpPr>
          <p:cNvPr id="13" name="a007_f_1118"/>
          <p:cNvSpPr/>
          <p:nvPr/>
        </p:nvSpPr>
        <p:spPr>
          <a:xfrm>
            <a:off x="566928" y="38404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4" name="a007_f_1119"/>
          <p:cNvSpPr txBox="1"/>
          <p:nvPr/>
        </p:nvSpPr>
        <p:spPr>
          <a:xfrm>
            <a:off x="8229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Liest direkt aus dem Drehplan</a:t>
            </a:r>
            <a:endParaRPr lang="en-US" sz="1250" dirty="0"/>
          </a:p>
        </p:txBody>
      </p:sp>
      <p:sp>
        <p:nvSpPr>
          <p:cNvPr id="15" name="a012_f_1120"/>
          <p:cNvSpPr txBox="1"/>
          <p:nvPr/>
        </p:nvSpPr>
        <p:spPr>
          <a:xfrm>
            <a:off x="5486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6" name="a013_f_1121"/>
          <p:cNvSpPr txBox="1"/>
          <p:nvPr/>
        </p:nvSpPr>
        <p:spPr>
          <a:xfrm>
            <a:off x="548640" y="576072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Drehplan</a:t>
            </a:r>
            <a:endParaRPr lang="en-US" sz="950" dirty="0"/>
          </a:p>
        </p:txBody>
      </p:sp>
      <p:sp>
        <p:nvSpPr>
          <p:cNvPr id="17" name="a013_f_1122"/>
          <p:cNvSpPr txBox="1"/>
          <p:nvPr/>
        </p:nvSpPr>
        <p:spPr>
          <a:xfrm>
            <a:off x="1426464" y="5760720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F52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</a:t>
            </a:r>
            <a:endParaRPr lang="en-US" sz="950" dirty="0"/>
          </a:p>
        </p:txBody>
      </p:sp>
      <p:sp>
        <p:nvSpPr>
          <p:cNvPr id="18" name="a002_f_1123"/>
          <p:cNvSpPr/>
          <p:nvPr/>
        </p:nvSpPr>
        <p:spPr>
          <a:xfrm>
            <a:off x="5617159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19" name="a002_f_1124" descr="/tmp/claude-0/-home-user-cutsheet/6324ba14-9edd-52e0-984d-db7baab43700/scratchpad/deck/img/light_projects_168_staebchenplan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455" y="1511618"/>
            <a:ext cx="5989320" cy="3743325"/>
          </a:xfrm>
          <a:prstGeom prst="rect">
            <a:avLst/>
          </a:prstGeom>
        </p:spPr>
      </p:pic>
      <p:sp>
        <p:nvSpPr>
          <p:cNvPr id="20" name="s_1125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1" name="s_1126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1127"/>
          <p:cNvSpPr txBox="1"/>
          <p:nvPr/>
        </p:nvSpPr>
        <p:spPr>
          <a:xfrm>
            <a:off x="6720840" y="502920"/>
            <a:ext cx="1898294" cy="292608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Planung &amp; Vorbereitung</a:t>
            </a:r>
            <a:endParaRPr lang="en-US" sz="1000" dirty="0"/>
          </a:p>
        </p:txBody>
      </p:sp>
      <p:sp>
        <p:nvSpPr>
          <p:cNvPr id="3" name="a001_f_1128"/>
          <p:cNvSpPr txBox="1"/>
          <p:nvPr/>
        </p:nvSpPr>
        <p:spPr>
          <a:xfrm>
            <a:off x="99669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28 von 69</a:t>
            </a:r>
            <a:endParaRPr lang="en-US" sz="950" dirty="0"/>
          </a:p>
        </p:txBody>
      </p:sp>
      <p:sp>
        <p:nvSpPr>
          <p:cNvPr id="4" name="a001_f_1129"/>
          <p:cNvSpPr txBox="1"/>
          <p:nvPr/>
        </p:nvSpPr>
        <p:spPr>
          <a:xfrm>
            <a:off x="67208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Terminkalender</a:t>
            </a:r>
            <a:endParaRPr lang="en-US" sz="3200" dirty="0"/>
          </a:p>
        </p:txBody>
      </p:sp>
      <p:sp>
        <p:nvSpPr>
          <p:cNvPr id="5" name="a001_f_1130"/>
          <p:cNvSpPr txBox="1"/>
          <p:nvPr/>
        </p:nvSpPr>
        <p:spPr>
          <a:xfrm>
            <a:off x="67208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/projects/:id/kalender</a:t>
            </a:r>
            <a:endParaRPr lang="en-US" sz="1050" dirty="0"/>
          </a:p>
        </p:txBody>
      </p:sp>
      <p:sp>
        <p:nvSpPr>
          <p:cNvPr id="6" name="a003_f_1131"/>
          <p:cNvSpPr txBox="1"/>
          <p:nvPr/>
        </p:nvSpPr>
        <p:spPr>
          <a:xfrm>
            <a:off x="67208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Termine neben den Drehtagen – Proben, Besichtigungen, Meetings.</a:t>
            </a:r>
            <a:endParaRPr lang="en-US" sz="1400" dirty="0"/>
          </a:p>
        </p:txBody>
      </p:sp>
      <p:sp>
        <p:nvSpPr>
          <p:cNvPr id="7" name="a004_f_1132"/>
          <p:cNvSpPr/>
          <p:nvPr/>
        </p:nvSpPr>
        <p:spPr>
          <a:xfrm>
            <a:off x="6739128" y="28117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8" name="a004_f_1133"/>
          <p:cNvSpPr txBox="1"/>
          <p:nvPr/>
        </p:nvSpPr>
        <p:spPr>
          <a:xfrm>
            <a:off x="69951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Monatsansicht mit Drehtagen</a:t>
            </a:r>
            <a:endParaRPr lang="en-US" sz="1250" dirty="0"/>
          </a:p>
        </p:txBody>
      </p:sp>
      <p:sp>
        <p:nvSpPr>
          <p:cNvPr id="9" name="a005_f_1134"/>
          <p:cNvSpPr/>
          <p:nvPr/>
        </p:nvSpPr>
        <p:spPr>
          <a:xfrm>
            <a:off x="6739128" y="31546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0" name="a005_f_1135"/>
          <p:cNvSpPr txBox="1"/>
          <p:nvPr/>
        </p:nvSpPr>
        <p:spPr>
          <a:xfrm>
            <a:off x="69951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Termine mit Typ, Zeitraum, Notizen</a:t>
            </a:r>
            <a:endParaRPr lang="en-US" sz="1250" dirty="0"/>
          </a:p>
        </p:txBody>
      </p:sp>
      <p:sp>
        <p:nvSpPr>
          <p:cNvPr id="11" name="a006_f_1136"/>
          <p:cNvSpPr/>
          <p:nvPr/>
        </p:nvSpPr>
        <p:spPr>
          <a:xfrm>
            <a:off x="6739128" y="34975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2" name="a006_f_1137"/>
          <p:cNvSpPr txBox="1"/>
          <p:nvPr/>
        </p:nvSpPr>
        <p:spPr>
          <a:xfrm>
            <a:off x="69951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Legende nach Termintyp</a:t>
            </a:r>
            <a:endParaRPr lang="en-US" sz="1250" dirty="0"/>
          </a:p>
        </p:txBody>
      </p:sp>
      <p:sp>
        <p:nvSpPr>
          <p:cNvPr id="13" name="a007_f_1138"/>
          <p:cNvSpPr/>
          <p:nvPr/>
        </p:nvSpPr>
        <p:spPr>
          <a:xfrm>
            <a:off x="6739128" y="38404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4" name="a007_f_1139"/>
          <p:cNvSpPr txBox="1"/>
          <p:nvPr/>
        </p:nvSpPr>
        <p:spPr>
          <a:xfrm>
            <a:off x="69951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als .ics für Google, Apple, Outlook</a:t>
            </a:r>
            <a:endParaRPr lang="en-US" sz="1250" dirty="0"/>
          </a:p>
        </p:txBody>
      </p:sp>
      <p:sp>
        <p:nvSpPr>
          <p:cNvPr id="15" name="a012_f_1140"/>
          <p:cNvSpPr txBox="1"/>
          <p:nvPr/>
        </p:nvSpPr>
        <p:spPr>
          <a:xfrm>
            <a:off x="67208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6" name="a013_f_1141"/>
          <p:cNvSpPr txBox="1"/>
          <p:nvPr/>
        </p:nvSpPr>
        <p:spPr>
          <a:xfrm>
            <a:off x="6720840" y="576072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Drehplan</a:t>
            </a:r>
            <a:endParaRPr lang="en-US" sz="950" dirty="0"/>
          </a:p>
        </p:txBody>
      </p:sp>
      <p:sp>
        <p:nvSpPr>
          <p:cNvPr id="17" name="a013_f_1142"/>
          <p:cNvSpPr txBox="1"/>
          <p:nvPr/>
        </p:nvSpPr>
        <p:spPr>
          <a:xfrm>
            <a:off x="7598664" y="576072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71E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8" name="a002_f_1143"/>
          <p:cNvSpPr/>
          <p:nvPr/>
        </p:nvSpPr>
        <p:spPr>
          <a:xfrm>
            <a:off x="420624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19" name="a002_f_1144" descr="/tmp/claude-0/-home-user-cutsheet/6324ba14-9edd-52e0-984d-db7baab43700/scratchpad/deck/img/f_kalender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11618"/>
            <a:ext cx="5989320" cy="3743325"/>
          </a:xfrm>
          <a:prstGeom prst="rect">
            <a:avLst/>
          </a:prstGeom>
        </p:spPr>
      </p:pic>
      <p:sp>
        <p:nvSpPr>
          <p:cNvPr id="20" name="s_1145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1" name="s_1146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1147"/>
          <p:cNvSpPr txBox="1"/>
          <p:nvPr/>
        </p:nvSpPr>
        <p:spPr>
          <a:xfrm>
            <a:off x="548640" y="502920"/>
            <a:ext cx="1898294" cy="292608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Planung &amp; Vorbereitung</a:t>
            </a:r>
            <a:endParaRPr lang="en-US" sz="1000" dirty="0"/>
          </a:p>
        </p:txBody>
      </p:sp>
      <p:sp>
        <p:nvSpPr>
          <p:cNvPr id="3" name="a001_f_1148"/>
          <p:cNvSpPr txBox="1"/>
          <p:nvPr/>
        </p:nvSpPr>
        <p:spPr>
          <a:xfrm>
            <a:off x="37947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29 von 69</a:t>
            </a:r>
            <a:endParaRPr lang="en-US" sz="950" dirty="0"/>
          </a:p>
        </p:txBody>
      </p:sp>
      <p:sp>
        <p:nvSpPr>
          <p:cNvPr id="4" name="a001_f_1149"/>
          <p:cNvSpPr txBox="1"/>
          <p:nvPr/>
        </p:nvSpPr>
        <p:spPr>
          <a:xfrm>
            <a:off x="5486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Konfliktradar</a:t>
            </a:r>
            <a:endParaRPr lang="en-US" sz="3200" dirty="0"/>
          </a:p>
        </p:txBody>
      </p:sp>
      <p:sp>
        <p:nvSpPr>
          <p:cNvPr id="5" name="a001_f_1150"/>
          <p:cNvSpPr txBox="1"/>
          <p:nvPr/>
        </p:nvSpPr>
        <p:spPr>
          <a:xfrm>
            <a:off x="5486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/projects/:id/konfliktradar</a:t>
            </a:r>
            <a:endParaRPr lang="en-US" sz="1050" dirty="0"/>
          </a:p>
        </p:txBody>
      </p:sp>
      <p:sp>
        <p:nvSpPr>
          <p:cNvPr id="6" name="a003_f_1151"/>
          <p:cNvSpPr txBox="1"/>
          <p:nvPr/>
        </p:nvSpPr>
        <p:spPr>
          <a:xfrm>
            <a:off x="5486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Prüft das ganze Projekt automatisch und zeigt, was nicht zusammenpasst.</a:t>
            </a:r>
            <a:endParaRPr lang="en-US" sz="1400" dirty="0"/>
          </a:p>
        </p:txBody>
      </p:sp>
      <p:sp>
        <p:nvSpPr>
          <p:cNvPr id="7" name="a004_f_1152"/>
          <p:cNvSpPr/>
          <p:nvPr/>
        </p:nvSpPr>
        <p:spPr>
          <a:xfrm>
            <a:off x="566928" y="28117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8" name="a004_f_1153"/>
          <p:cNvSpPr txBox="1"/>
          <p:nvPr/>
        </p:nvSpPr>
        <p:spPr>
          <a:xfrm>
            <a:off x="8229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Ruhezeit (Turnaround) je Person verletzt</a:t>
            </a:r>
            <a:endParaRPr lang="en-US" sz="1250" dirty="0"/>
          </a:p>
        </p:txBody>
      </p:sp>
      <p:sp>
        <p:nvSpPr>
          <p:cNvPr id="9" name="a005_f_1154"/>
          <p:cNvSpPr/>
          <p:nvPr/>
        </p:nvSpPr>
        <p:spPr>
          <a:xfrm>
            <a:off x="566928" y="31546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0" name="a005_f_1155"/>
          <p:cNvSpPr txBox="1"/>
          <p:nvPr/>
        </p:nvSpPr>
        <p:spPr>
          <a:xfrm>
            <a:off x="8229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gegen Finanzierung, fehlende Budgetfassung</a:t>
            </a:r>
            <a:endParaRPr lang="en-US" sz="1250" dirty="0"/>
          </a:p>
        </p:txBody>
      </p:sp>
      <p:sp>
        <p:nvSpPr>
          <p:cNvPr id="11" name="a006_f_1156"/>
          <p:cNvSpPr/>
          <p:nvPr/>
        </p:nvSpPr>
        <p:spPr>
          <a:xfrm>
            <a:off x="566928" y="34975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2" name="a006_f_1157"/>
          <p:cNvSpPr txBox="1"/>
          <p:nvPr/>
        </p:nvSpPr>
        <p:spPr>
          <a:xfrm>
            <a:off x="8229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 eingeplante Szenen, Szene an mehreren Tagen</a:t>
            </a:r>
            <a:endParaRPr lang="en-US" sz="1250" dirty="0"/>
          </a:p>
        </p:txBody>
      </p:sp>
      <p:sp>
        <p:nvSpPr>
          <p:cNvPr id="13" name="a007_f_1158"/>
          <p:cNvSpPr/>
          <p:nvPr/>
        </p:nvSpPr>
        <p:spPr>
          <a:xfrm>
            <a:off x="566928" y="38404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4" name="a007_f_1159"/>
          <p:cNvSpPr txBox="1"/>
          <p:nvPr/>
        </p:nvSpPr>
        <p:spPr>
          <a:xfrm>
            <a:off x="8229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Leere Drehtage, doppelte Daten</a:t>
            </a:r>
            <a:endParaRPr lang="en-US" sz="1250" dirty="0"/>
          </a:p>
        </p:txBody>
      </p:sp>
      <p:sp>
        <p:nvSpPr>
          <p:cNvPr id="15" name="a008_f_1160"/>
          <p:cNvSpPr/>
          <p:nvPr/>
        </p:nvSpPr>
        <p:spPr>
          <a:xfrm>
            <a:off x="566928" y="41833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6" name="a008_f_1161"/>
          <p:cNvSpPr txBox="1"/>
          <p:nvPr/>
        </p:nvSpPr>
        <p:spPr>
          <a:xfrm>
            <a:off x="822960" y="41148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 ohne Motiv/Figuren, Motive ohne Adresse</a:t>
            </a:r>
            <a:endParaRPr lang="en-US" sz="1250" dirty="0"/>
          </a:p>
        </p:txBody>
      </p:sp>
      <p:sp>
        <p:nvSpPr>
          <p:cNvPr id="17" name="a009_f_1162"/>
          <p:cNvSpPr/>
          <p:nvPr/>
        </p:nvSpPr>
        <p:spPr>
          <a:xfrm>
            <a:off x="566928" y="45262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8" name="a009_f_1163"/>
          <p:cNvSpPr txBox="1"/>
          <p:nvPr/>
        </p:nvSpPr>
        <p:spPr>
          <a:xfrm>
            <a:off x="822960" y="44577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Befund mit Sprung an die Stelle</a:t>
            </a:r>
            <a:endParaRPr lang="en-US" sz="1250" dirty="0"/>
          </a:p>
        </p:txBody>
      </p:sp>
      <p:sp>
        <p:nvSpPr>
          <p:cNvPr id="19" name="a012_f_1164"/>
          <p:cNvSpPr txBox="1"/>
          <p:nvPr/>
        </p:nvSpPr>
        <p:spPr>
          <a:xfrm>
            <a:off x="548640" y="53400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20" name="a013_f_1165"/>
          <p:cNvSpPr txBox="1"/>
          <p:nvPr/>
        </p:nvSpPr>
        <p:spPr>
          <a:xfrm>
            <a:off x="548640" y="5614416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Drehplan</a:t>
            </a:r>
            <a:endParaRPr lang="en-US" sz="950" dirty="0"/>
          </a:p>
        </p:txBody>
      </p:sp>
      <p:sp>
        <p:nvSpPr>
          <p:cNvPr id="21" name="a013_f_1166"/>
          <p:cNvSpPr txBox="1"/>
          <p:nvPr/>
        </p:nvSpPr>
        <p:spPr>
          <a:xfrm>
            <a:off x="1426464" y="5614416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Tagesdispo</a:t>
            </a:r>
            <a:endParaRPr lang="en-US" sz="950" dirty="0"/>
          </a:p>
        </p:txBody>
      </p:sp>
      <p:sp>
        <p:nvSpPr>
          <p:cNvPr id="22" name="a013_f_1167"/>
          <p:cNvSpPr txBox="1"/>
          <p:nvPr/>
        </p:nvSpPr>
        <p:spPr>
          <a:xfrm>
            <a:off x="2432304" y="5614416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950" dirty="0"/>
          </a:p>
        </p:txBody>
      </p:sp>
      <p:sp>
        <p:nvSpPr>
          <p:cNvPr id="23" name="a013_f_1168"/>
          <p:cNvSpPr txBox="1"/>
          <p:nvPr/>
        </p:nvSpPr>
        <p:spPr>
          <a:xfrm>
            <a:off x="3182112" y="5614416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F52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</a:t>
            </a:r>
            <a:endParaRPr lang="en-US" sz="950" dirty="0"/>
          </a:p>
        </p:txBody>
      </p:sp>
      <p:sp>
        <p:nvSpPr>
          <p:cNvPr id="24" name="a013_f_1169"/>
          <p:cNvSpPr txBox="1"/>
          <p:nvPr/>
        </p:nvSpPr>
        <p:spPr>
          <a:xfrm>
            <a:off x="3931920" y="5614416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Motive</a:t>
            </a:r>
            <a:endParaRPr lang="en-US" sz="950" dirty="0"/>
          </a:p>
        </p:txBody>
      </p:sp>
      <p:sp>
        <p:nvSpPr>
          <p:cNvPr id="25" name="a013_f_1170"/>
          <p:cNvSpPr txBox="1"/>
          <p:nvPr/>
        </p:nvSpPr>
        <p:spPr>
          <a:xfrm>
            <a:off x="548640" y="5961888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2D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Besetzung</a:t>
            </a:r>
            <a:endParaRPr lang="en-US" sz="950" dirty="0"/>
          </a:p>
        </p:txBody>
      </p:sp>
      <p:sp>
        <p:nvSpPr>
          <p:cNvPr id="26" name="a002_f_1171"/>
          <p:cNvSpPr/>
          <p:nvPr/>
        </p:nvSpPr>
        <p:spPr>
          <a:xfrm>
            <a:off x="5617159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7" name="a002_f_1172" descr="/tmp/claude-0/-home-user-cutsheet/6324ba14-9edd-52e0-984d-db7baab43700/scratchpad/deck/img/light_projects_168_konfliktradar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455" y="1511618"/>
            <a:ext cx="5989320" cy="3743325"/>
          </a:xfrm>
          <a:prstGeom prst="rect">
            <a:avLst/>
          </a:prstGeom>
        </p:spPr>
      </p:pic>
      <p:sp>
        <p:nvSpPr>
          <p:cNvPr id="28" name="s_1173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9" name="s_1174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48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48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48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48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48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1175"/>
          <p:cNvSpPr txBox="1"/>
          <p:nvPr/>
        </p:nvSpPr>
        <p:spPr>
          <a:xfrm>
            <a:off x="6720840" y="502920"/>
            <a:ext cx="1898294" cy="292608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Planung &amp; Vorbereitung</a:t>
            </a:r>
            <a:endParaRPr lang="en-US" sz="1000" dirty="0"/>
          </a:p>
        </p:txBody>
      </p:sp>
      <p:sp>
        <p:nvSpPr>
          <p:cNvPr id="3" name="a001_f_1176"/>
          <p:cNvSpPr txBox="1"/>
          <p:nvPr/>
        </p:nvSpPr>
        <p:spPr>
          <a:xfrm>
            <a:off x="99669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30 von 69</a:t>
            </a:r>
            <a:endParaRPr lang="en-US" sz="950" dirty="0"/>
          </a:p>
        </p:txBody>
      </p:sp>
      <p:sp>
        <p:nvSpPr>
          <p:cNvPr id="4" name="a001_f_1177"/>
          <p:cNvSpPr txBox="1"/>
          <p:nvPr/>
        </p:nvSpPr>
        <p:spPr>
          <a:xfrm>
            <a:off x="67208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</a:t>
            </a:r>
            <a:endParaRPr lang="en-US" sz="3200" dirty="0"/>
          </a:p>
        </p:txBody>
      </p:sp>
      <p:sp>
        <p:nvSpPr>
          <p:cNvPr id="5" name="a001_f_1178"/>
          <p:cNvSpPr txBox="1"/>
          <p:nvPr/>
        </p:nvSpPr>
        <p:spPr>
          <a:xfrm>
            <a:off x="67208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/projects/:id/equipment</a:t>
            </a:r>
            <a:endParaRPr lang="en-US" sz="1050" dirty="0"/>
          </a:p>
        </p:txBody>
      </p:sp>
      <p:sp>
        <p:nvSpPr>
          <p:cNvPr id="6" name="a003_f_1179"/>
          <p:cNvSpPr txBox="1"/>
          <p:nvPr/>
        </p:nvSpPr>
        <p:spPr>
          <a:xfrm>
            <a:off x="67208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Technik in Listen – mit Verleiher, Tagespreis und Summe.</a:t>
            </a:r>
            <a:endParaRPr lang="en-US" sz="1400" dirty="0"/>
          </a:p>
        </p:txBody>
      </p:sp>
      <p:sp>
        <p:nvSpPr>
          <p:cNvPr id="7" name="a004_f_1180"/>
          <p:cNvSpPr/>
          <p:nvPr/>
        </p:nvSpPr>
        <p:spPr>
          <a:xfrm>
            <a:off x="6739128" y="28117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8" name="a004_f_1181"/>
          <p:cNvSpPr txBox="1"/>
          <p:nvPr/>
        </p:nvSpPr>
        <p:spPr>
          <a:xfrm>
            <a:off x="69951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Mehrere Listen (Kamera, Licht, Ton …)</a:t>
            </a:r>
            <a:endParaRPr lang="en-US" sz="1250" dirty="0"/>
          </a:p>
        </p:txBody>
      </p:sp>
      <p:sp>
        <p:nvSpPr>
          <p:cNvPr id="9" name="a005_f_1182"/>
          <p:cNvSpPr/>
          <p:nvPr/>
        </p:nvSpPr>
        <p:spPr>
          <a:xfrm>
            <a:off x="6739128" y="31546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0" name="a005_f_1183"/>
          <p:cNvSpPr txBox="1"/>
          <p:nvPr/>
        </p:nvSpPr>
        <p:spPr>
          <a:xfrm>
            <a:off x="69951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Menge, Verleiher, Preis/Tag, Tage, Status</a:t>
            </a:r>
            <a:endParaRPr lang="en-US" sz="1250" dirty="0"/>
          </a:p>
        </p:txBody>
      </p:sp>
      <p:sp>
        <p:nvSpPr>
          <p:cNvPr id="11" name="a006_f_1184"/>
          <p:cNvSpPr/>
          <p:nvPr/>
        </p:nvSpPr>
        <p:spPr>
          <a:xfrm>
            <a:off x="6739128" y="34975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2" name="a006_f_1185"/>
          <p:cNvSpPr txBox="1"/>
          <p:nvPr/>
        </p:nvSpPr>
        <p:spPr>
          <a:xfrm>
            <a:off x="69951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 je Liste</a:t>
            </a:r>
            <a:endParaRPr lang="en-US" sz="1250" dirty="0"/>
          </a:p>
        </p:txBody>
      </p:sp>
      <p:sp>
        <p:nvSpPr>
          <p:cNvPr id="13" name="a007_f_1186"/>
          <p:cNvSpPr/>
          <p:nvPr/>
        </p:nvSpPr>
        <p:spPr>
          <a:xfrm>
            <a:off x="6739128" y="38404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4" name="a007_f_1187"/>
          <p:cNvSpPr txBox="1"/>
          <p:nvPr/>
        </p:nvSpPr>
        <p:spPr>
          <a:xfrm>
            <a:off x="69951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Equipmentliste als PDF</a:t>
            </a:r>
            <a:endParaRPr lang="en-US" sz="1250" dirty="0"/>
          </a:p>
        </p:txBody>
      </p:sp>
      <p:sp>
        <p:nvSpPr>
          <p:cNvPr id="15" name="a012_f_1188"/>
          <p:cNvSpPr txBox="1"/>
          <p:nvPr/>
        </p:nvSpPr>
        <p:spPr>
          <a:xfrm>
            <a:off x="67208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6" name="a013_f_1189"/>
          <p:cNvSpPr txBox="1"/>
          <p:nvPr/>
        </p:nvSpPr>
        <p:spPr>
          <a:xfrm>
            <a:off x="6720840" y="5760720"/>
            <a:ext cx="142646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Equipment-Kalender</a:t>
            </a:r>
            <a:endParaRPr lang="en-US" sz="950" dirty="0"/>
          </a:p>
        </p:txBody>
      </p:sp>
      <p:sp>
        <p:nvSpPr>
          <p:cNvPr id="17" name="a013_f_1190"/>
          <p:cNvSpPr txBox="1"/>
          <p:nvPr/>
        </p:nvSpPr>
        <p:spPr>
          <a:xfrm>
            <a:off x="8238744" y="5760720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950" dirty="0"/>
          </a:p>
        </p:txBody>
      </p:sp>
      <p:sp>
        <p:nvSpPr>
          <p:cNvPr id="18" name="a013_f_1191"/>
          <p:cNvSpPr txBox="1"/>
          <p:nvPr/>
        </p:nvSpPr>
        <p:spPr>
          <a:xfrm>
            <a:off x="8988552" y="576072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Drehplan</a:t>
            </a:r>
            <a:endParaRPr lang="en-US" sz="950" dirty="0"/>
          </a:p>
        </p:txBody>
      </p:sp>
      <p:sp>
        <p:nvSpPr>
          <p:cNvPr id="19" name="a002_f_1192"/>
          <p:cNvSpPr/>
          <p:nvPr/>
        </p:nvSpPr>
        <p:spPr>
          <a:xfrm>
            <a:off x="420624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0" name="a002_f_1193" descr="/tmp/claude-0/-home-user-cutsheet/6324ba14-9edd-52e0-984d-db7baab43700/scratchpad/deck/img/light_projects_168_equipment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11618"/>
            <a:ext cx="5989320" cy="3743325"/>
          </a:xfrm>
          <a:prstGeom prst="rect">
            <a:avLst/>
          </a:prstGeom>
        </p:spPr>
      </p:pic>
      <p:sp>
        <p:nvSpPr>
          <p:cNvPr id="21" name="s_1194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2" name="s_1195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1196"/>
          <p:cNvSpPr txBox="1"/>
          <p:nvPr/>
        </p:nvSpPr>
        <p:spPr>
          <a:xfrm>
            <a:off x="548640" y="502920"/>
            <a:ext cx="1898294" cy="292608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Planung &amp; Vorbereitung</a:t>
            </a:r>
            <a:endParaRPr lang="en-US" sz="1000" dirty="0"/>
          </a:p>
        </p:txBody>
      </p:sp>
      <p:sp>
        <p:nvSpPr>
          <p:cNvPr id="3" name="a001_f_1197"/>
          <p:cNvSpPr txBox="1"/>
          <p:nvPr/>
        </p:nvSpPr>
        <p:spPr>
          <a:xfrm>
            <a:off x="37947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31 von 69</a:t>
            </a:r>
            <a:endParaRPr lang="en-US" sz="950" dirty="0"/>
          </a:p>
        </p:txBody>
      </p:sp>
      <p:sp>
        <p:nvSpPr>
          <p:cNvPr id="4" name="a001_f_1198"/>
          <p:cNvSpPr txBox="1"/>
          <p:nvPr/>
        </p:nvSpPr>
        <p:spPr>
          <a:xfrm>
            <a:off x="5486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Equipment-Kalender</a:t>
            </a:r>
            <a:endParaRPr lang="en-US" sz="3200" dirty="0"/>
          </a:p>
        </p:txBody>
      </p:sp>
      <p:sp>
        <p:nvSpPr>
          <p:cNvPr id="5" name="a001_f_1199"/>
          <p:cNvSpPr txBox="1"/>
          <p:nvPr/>
        </p:nvSpPr>
        <p:spPr>
          <a:xfrm>
            <a:off x="5486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/projects/:id/equipment-kalender</a:t>
            </a:r>
            <a:endParaRPr lang="en-US" sz="1050" dirty="0"/>
          </a:p>
        </p:txBody>
      </p:sp>
      <p:sp>
        <p:nvSpPr>
          <p:cNvPr id="6" name="a003_f_1200"/>
          <p:cNvSpPr txBox="1"/>
          <p:nvPr/>
        </p:nvSpPr>
        <p:spPr>
          <a:xfrm>
            <a:off x="5486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 welches Gerät gebucht ist – und wo sich Buchungen überschneiden.</a:t>
            </a:r>
            <a:endParaRPr lang="en-US" sz="1400" dirty="0"/>
          </a:p>
        </p:txBody>
      </p:sp>
      <p:sp>
        <p:nvSpPr>
          <p:cNvPr id="7" name="a004_f_1201"/>
          <p:cNvSpPr/>
          <p:nvPr/>
        </p:nvSpPr>
        <p:spPr>
          <a:xfrm>
            <a:off x="566928" y="28117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8" name="a004_f_1202"/>
          <p:cNvSpPr txBox="1"/>
          <p:nvPr/>
        </p:nvSpPr>
        <p:spPr>
          <a:xfrm>
            <a:off x="8229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Wochenleiste je Equipment-Position</a:t>
            </a:r>
            <a:endParaRPr lang="en-US" sz="1250" dirty="0"/>
          </a:p>
        </p:txBody>
      </p:sp>
      <p:sp>
        <p:nvSpPr>
          <p:cNvPr id="9" name="a005_f_1203"/>
          <p:cNvSpPr/>
          <p:nvPr/>
        </p:nvSpPr>
        <p:spPr>
          <a:xfrm>
            <a:off x="566928" y="31546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0" name="a005_f_1204"/>
          <p:cNvSpPr txBox="1"/>
          <p:nvPr/>
        </p:nvSpPr>
        <p:spPr>
          <a:xfrm>
            <a:off x="8229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Buchungen mit Zeitraum und Notiz</a:t>
            </a:r>
            <a:endParaRPr lang="en-US" sz="1250" dirty="0"/>
          </a:p>
        </p:txBody>
      </p:sp>
      <p:sp>
        <p:nvSpPr>
          <p:cNvPr id="11" name="a006_f_1205"/>
          <p:cNvSpPr/>
          <p:nvPr/>
        </p:nvSpPr>
        <p:spPr>
          <a:xfrm>
            <a:off x="566928" y="34975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2" name="a006_f_1206"/>
          <p:cNvSpPr txBox="1"/>
          <p:nvPr/>
        </p:nvSpPr>
        <p:spPr>
          <a:xfrm>
            <a:off x="8229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Konflikte farbig markiert</a:t>
            </a:r>
            <a:endParaRPr lang="en-US" sz="1250" dirty="0"/>
          </a:p>
        </p:txBody>
      </p:sp>
      <p:sp>
        <p:nvSpPr>
          <p:cNvPr id="13" name="a007_f_1207"/>
          <p:cNvSpPr/>
          <p:nvPr/>
        </p:nvSpPr>
        <p:spPr>
          <a:xfrm>
            <a:off x="566928" y="38404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4" name="a007_f_1208"/>
          <p:cNvSpPr txBox="1"/>
          <p:nvPr/>
        </p:nvSpPr>
        <p:spPr>
          <a:xfrm>
            <a:off x="8229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 aller Buchungen</a:t>
            </a:r>
            <a:endParaRPr lang="en-US" sz="1250" dirty="0"/>
          </a:p>
        </p:txBody>
      </p:sp>
      <p:sp>
        <p:nvSpPr>
          <p:cNvPr id="15" name="a012_f_1209"/>
          <p:cNvSpPr txBox="1"/>
          <p:nvPr/>
        </p:nvSpPr>
        <p:spPr>
          <a:xfrm>
            <a:off x="5486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6" name="a013_f_1210"/>
          <p:cNvSpPr txBox="1"/>
          <p:nvPr/>
        </p:nvSpPr>
        <p:spPr>
          <a:xfrm>
            <a:off x="548640" y="576072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</a:t>
            </a:r>
            <a:endParaRPr lang="en-US" sz="950" dirty="0"/>
          </a:p>
        </p:txBody>
      </p:sp>
      <p:sp>
        <p:nvSpPr>
          <p:cNvPr id="17" name="a013_f_1211"/>
          <p:cNvSpPr txBox="1"/>
          <p:nvPr/>
        </p:nvSpPr>
        <p:spPr>
          <a:xfrm>
            <a:off x="1490472" y="576072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Drehplan</a:t>
            </a:r>
            <a:endParaRPr lang="en-US" sz="950" dirty="0"/>
          </a:p>
        </p:txBody>
      </p:sp>
      <p:sp>
        <p:nvSpPr>
          <p:cNvPr id="18" name="a002_f_1212"/>
          <p:cNvSpPr/>
          <p:nvPr/>
        </p:nvSpPr>
        <p:spPr>
          <a:xfrm>
            <a:off x="5617159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19" name="a002_f_1213" descr="/tmp/claude-0/-home-user-cutsheet/6324ba14-9edd-52e0-984d-db7baab43700/scratchpad/deck/img/light_projects_168_equipment-kalender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455" y="1511618"/>
            <a:ext cx="5989320" cy="3743325"/>
          </a:xfrm>
          <a:prstGeom prst="rect">
            <a:avLst/>
          </a:prstGeom>
        </p:spPr>
      </p:pic>
      <p:sp>
        <p:nvSpPr>
          <p:cNvPr id="20" name="s_1214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1" name="s_1215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1216"/>
          <p:cNvSpPr txBox="1"/>
          <p:nvPr/>
        </p:nvSpPr>
        <p:spPr>
          <a:xfrm>
            <a:off x="6720840" y="502920"/>
            <a:ext cx="1898294" cy="292608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Planung &amp; Vorbereitung</a:t>
            </a:r>
            <a:endParaRPr lang="en-US" sz="1000" dirty="0"/>
          </a:p>
        </p:txBody>
      </p:sp>
      <p:sp>
        <p:nvSpPr>
          <p:cNvPr id="3" name="a001_f_1217"/>
          <p:cNvSpPr txBox="1"/>
          <p:nvPr/>
        </p:nvSpPr>
        <p:spPr>
          <a:xfrm>
            <a:off x="99669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32 von 69</a:t>
            </a:r>
            <a:endParaRPr lang="en-US" sz="950" dirty="0"/>
          </a:p>
        </p:txBody>
      </p:sp>
      <p:sp>
        <p:nvSpPr>
          <p:cNvPr id="4" name="a001_f_1218"/>
          <p:cNvSpPr txBox="1"/>
          <p:nvPr/>
        </p:nvSpPr>
        <p:spPr>
          <a:xfrm>
            <a:off x="67208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Fahrzeuge</a:t>
            </a:r>
            <a:endParaRPr lang="en-US" sz="3200" dirty="0"/>
          </a:p>
        </p:txBody>
      </p:sp>
      <p:sp>
        <p:nvSpPr>
          <p:cNvPr id="5" name="a001_f_1219"/>
          <p:cNvSpPr txBox="1"/>
          <p:nvPr/>
        </p:nvSpPr>
        <p:spPr>
          <a:xfrm>
            <a:off x="67208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/projects/:id/fahrzeuge</a:t>
            </a:r>
            <a:endParaRPr lang="en-US" sz="1050" dirty="0"/>
          </a:p>
        </p:txBody>
      </p:sp>
      <p:sp>
        <p:nvSpPr>
          <p:cNvPr id="6" name="a003_f_1220"/>
          <p:cNvSpPr txBox="1"/>
          <p:nvPr/>
        </p:nvSpPr>
        <p:spPr>
          <a:xfrm>
            <a:off x="67208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Fuhrpark der Produktion mit Fahrer und Kennzeichen.</a:t>
            </a:r>
            <a:endParaRPr lang="en-US" sz="1400" dirty="0"/>
          </a:p>
        </p:txBody>
      </p:sp>
      <p:sp>
        <p:nvSpPr>
          <p:cNvPr id="7" name="a004_f_1221"/>
          <p:cNvSpPr/>
          <p:nvPr/>
        </p:nvSpPr>
        <p:spPr>
          <a:xfrm>
            <a:off x="6739128" y="28117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8" name="a004_f_1222"/>
          <p:cNvSpPr txBox="1"/>
          <p:nvPr/>
        </p:nvSpPr>
        <p:spPr>
          <a:xfrm>
            <a:off x="69951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Kennzeichen, Typ</a:t>
            </a:r>
            <a:endParaRPr lang="en-US" sz="1250" dirty="0"/>
          </a:p>
        </p:txBody>
      </p:sp>
      <p:sp>
        <p:nvSpPr>
          <p:cNvPr id="9" name="a005_f_1223"/>
          <p:cNvSpPr/>
          <p:nvPr/>
        </p:nvSpPr>
        <p:spPr>
          <a:xfrm>
            <a:off x="6739128" y="31546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0" name="a005_f_1224"/>
          <p:cNvSpPr txBox="1"/>
          <p:nvPr/>
        </p:nvSpPr>
        <p:spPr>
          <a:xfrm>
            <a:off x="69951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Fahrer mit Telefon</a:t>
            </a:r>
            <a:endParaRPr lang="en-US" sz="1250" dirty="0"/>
          </a:p>
        </p:txBody>
      </p:sp>
      <p:sp>
        <p:nvSpPr>
          <p:cNvPr id="11" name="a006_f_1225"/>
          <p:cNvSpPr/>
          <p:nvPr/>
        </p:nvSpPr>
        <p:spPr>
          <a:xfrm>
            <a:off x="6739128" y="34975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2" name="a006_f_1226"/>
          <p:cNvSpPr txBox="1"/>
          <p:nvPr/>
        </p:nvSpPr>
        <p:spPr>
          <a:xfrm>
            <a:off x="69951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Direkt in der Tabelle bearbeiten</a:t>
            </a:r>
            <a:endParaRPr lang="en-US" sz="1250" dirty="0"/>
          </a:p>
        </p:txBody>
      </p:sp>
      <p:sp>
        <p:nvSpPr>
          <p:cNvPr id="13" name="a012_f_1227"/>
          <p:cNvSpPr txBox="1"/>
          <p:nvPr/>
        </p:nvSpPr>
        <p:spPr>
          <a:xfrm>
            <a:off x="67208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4" name="a013_f_1228"/>
          <p:cNvSpPr txBox="1"/>
          <p:nvPr/>
        </p:nvSpPr>
        <p:spPr>
          <a:xfrm>
            <a:off x="6720840" y="576072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2D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Stabliste</a:t>
            </a:r>
            <a:endParaRPr lang="en-US" sz="950" dirty="0"/>
          </a:p>
        </p:txBody>
      </p:sp>
      <p:sp>
        <p:nvSpPr>
          <p:cNvPr id="15" name="a013_f_1229"/>
          <p:cNvSpPr txBox="1"/>
          <p:nvPr/>
        </p:nvSpPr>
        <p:spPr>
          <a:xfrm>
            <a:off x="7662672" y="576072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Tagesdispo</a:t>
            </a:r>
            <a:endParaRPr lang="en-US" sz="950" dirty="0"/>
          </a:p>
        </p:txBody>
      </p:sp>
      <p:sp>
        <p:nvSpPr>
          <p:cNvPr id="16" name="a002_f_1230"/>
          <p:cNvSpPr/>
          <p:nvPr/>
        </p:nvSpPr>
        <p:spPr>
          <a:xfrm>
            <a:off x="420624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17" name="a002_f_1231" descr="/tmp/claude-0/-home-user-cutsheet/6324ba14-9edd-52e0-984d-db7baab43700/scratchpad/deck/img/light_projects_168_fahrzeuge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11618"/>
            <a:ext cx="5989320" cy="3743325"/>
          </a:xfrm>
          <a:prstGeom prst="rect">
            <a:avLst/>
          </a:prstGeom>
        </p:spPr>
      </p:pic>
      <p:sp>
        <p:nvSpPr>
          <p:cNvPr id="18" name="s_1232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19" name="s_123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1234"/>
          <p:cNvSpPr txBox="1"/>
          <p:nvPr/>
        </p:nvSpPr>
        <p:spPr>
          <a:xfrm>
            <a:off x="548640" y="502920"/>
            <a:ext cx="1898294" cy="292608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Planung &amp; Vorbereitung</a:t>
            </a:r>
            <a:endParaRPr lang="en-US" sz="1000" dirty="0"/>
          </a:p>
        </p:txBody>
      </p:sp>
      <p:sp>
        <p:nvSpPr>
          <p:cNvPr id="3" name="a001_f_1235"/>
          <p:cNvSpPr txBox="1"/>
          <p:nvPr/>
        </p:nvSpPr>
        <p:spPr>
          <a:xfrm>
            <a:off x="37947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33 von 69</a:t>
            </a:r>
            <a:endParaRPr lang="en-US" sz="950" dirty="0"/>
          </a:p>
        </p:txBody>
      </p:sp>
      <p:sp>
        <p:nvSpPr>
          <p:cNvPr id="4" name="a001_f_1236"/>
          <p:cNvSpPr txBox="1"/>
          <p:nvPr/>
        </p:nvSpPr>
        <p:spPr>
          <a:xfrm>
            <a:off x="5486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Catering</a:t>
            </a:r>
            <a:endParaRPr lang="en-US" sz="3200" dirty="0"/>
          </a:p>
        </p:txBody>
      </p:sp>
      <p:sp>
        <p:nvSpPr>
          <p:cNvPr id="5" name="a001_f_1237"/>
          <p:cNvSpPr txBox="1"/>
          <p:nvPr/>
        </p:nvSpPr>
        <p:spPr>
          <a:xfrm>
            <a:off x="5486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/projects/:id/catering</a:t>
            </a:r>
            <a:endParaRPr lang="en-US" sz="1050" dirty="0"/>
          </a:p>
        </p:txBody>
      </p:sp>
      <p:sp>
        <p:nvSpPr>
          <p:cNvPr id="6" name="a003_f_1238"/>
          <p:cNvSpPr txBox="1"/>
          <p:nvPr/>
        </p:nvSpPr>
        <p:spPr>
          <a:xfrm>
            <a:off x="5486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Ernährung aller Personen – und die Essensliste für jeden Drehtag.</a:t>
            </a:r>
            <a:endParaRPr lang="en-US" sz="1400" dirty="0"/>
          </a:p>
        </p:txBody>
      </p:sp>
      <p:sp>
        <p:nvSpPr>
          <p:cNvPr id="7" name="a004_f_1239"/>
          <p:cNvSpPr/>
          <p:nvPr/>
        </p:nvSpPr>
        <p:spPr>
          <a:xfrm>
            <a:off x="566928" y="28117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8" name="a004_f_1240"/>
          <p:cNvSpPr txBox="1"/>
          <p:nvPr/>
        </p:nvSpPr>
        <p:spPr>
          <a:xfrm>
            <a:off x="8229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Diät je Person: vegetarisch, vegan, glutenfrei, halal …</a:t>
            </a:r>
            <a:endParaRPr lang="en-US" sz="1250" dirty="0"/>
          </a:p>
        </p:txBody>
      </p:sp>
      <p:sp>
        <p:nvSpPr>
          <p:cNvPr id="9" name="a005_f_1241"/>
          <p:cNvSpPr/>
          <p:nvPr/>
        </p:nvSpPr>
        <p:spPr>
          <a:xfrm>
            <a:off x="566928" y="31546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0" name="a005_f_1242"/>
          <p:cNvSpPr txBox="1"/>
          <p:nvPr/>
        </p:nvSpPr>
        <p:spPr>
          <a:xfrm>
            <a:off x="8229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Allergien und Notizen</a:t>
            </a:r>
            <a:endParaRPr lang="en-US" sz="1250" dirty="0"/>
          </a:p>
        </p:txBody>
      </p:sp>
      <p:sp>
        <p:nvSpPr>
          <p:cNvPr id="11" name="a006_f_1243"/>
          <p:cNvSpPr/>
          <p:nvPr/>
        </p:nvSpPr>
        <p:spPr>
          <a:xfrm>
            <a:off x="566928" y="34975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2" name="a006_f_1244"/>
          <p:cNvSpPr txBox="1"/>
          <p:nvPr/>
        </p:nvSpPr>
        <p:spPr>
          <a:xfrm>
            <a:off x="8229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Tagesliste aus der Dispo des Drehtags</a:t>
            </a:r>
            <a:endParaRPr lang="en-US" sz="1250" dirty="0"/>
          </a:p>
        </p:txBody>
      </p:sp>
      <p:sp>
        <p:nvSpPr>
          <p:cNvPr id="13" name="a007_f_1245"/>
          <p:cNvSpPr/>
          <p:nvPr/>
        </p:nvSpPr>
        <p:spPr>
          <a:xfrm>
            <a:off x="566928" y="38404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4" name="a007_f_1246"/>
          <p:cNvSpPr txBox="1"/>
          <p:nvPr/>
        </p:nvSpPr>
        <p:spPr>
          <a:xfrm>
            <a:off x="8229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Ernährungsübersicht mit Zählung</a:t>
            </a:r>
            <a:endParaRPr lang="en-US" sz="1250" dirty="0"/>
          </a:p>
        </p:txBody>
      </p:sp>
      <p:sp>
        <p:nvSpPr>
          <p:cNvPr id="15" name="a008_f_1247"/>
          <p:cNvSpPr/>
          <p:nvPr/>
        </p:nvSpPr>
        <p:spPr>
          <a:xfrm>
            <a:off x="566928" y="41833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6" name="a008_f_1248"/>
          <p:cNvSpPr txBox="1"/>
          <p:nvPr/>
        </p:nvSpPr>
        <p:spPr>
          <a:xfrm>
            <a:off x="822960" y="41148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Tagesliste als PDF</a:t>
            </a:r>
            <a:endParaRPr lang="en-US" sz="1250" dirty="0"/>
          </a:p>
        </p:txBody>
      </p:sp>
      <p:sp>
        <p:nvSpPr>
          <p:cNvPr id="17" name="a012_f_1249"/>
          <p:cNvSpPr txBox="1"/>
          <p:nvPr/>
        </p:nvSpPr>
        <p:spPr>
          <a:xfrm>
            <a:off x="5486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8" name="a013_f_1250"/>
          <p:cNvSpPr txBox="1"/>
          <p:nvPr/>
        </p:nvSpPr>
        <p:spPr>
          <a:xfrm>
            <a:off x="548640" y="576072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Tagesdispo</a:t>
            </a:r>
            <a:endParaRPr lang="en-US" sz="950" dirty="0"/>
          </a:p>
        </p:txBody>
      </p:sp>
      <p:sp>
        <p:nvSpPr>
          <p:cNvPr id="19" name="a013_f_1251"/>
          <p:cNvSpPr txBox="1"/>
          <p:nvPr/>
        </p:nvSpPr>
        <p:spPr>
          <a:xfrm>
            <a:off x="1554480" y="576072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2D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Stabliste</a:t>
            </a:r>
            <a:endParaRPr lang="en-US" sz="950" dirty="0"/>
          </a:p>
        </p:txBody>
      </p:sp>
      <p:sp>
        <p:nvSpPr>
          <p:cNvPr id="20" name="a013_f_1252"/>
          <p:cNvSpPr txBox="1"/>
          <p:nvPr/>
        </p:nvSpPr>
        <p:spPr>
          <a:xfrm>
            <a:off x="2496312" y="576072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2D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Besetzung</a:t>
            </a:r>
            <a:endParaRPr lang="en-US" sz="950" dirty="0"/>
          </a:p>
        </p:txBody>
      </p:sp>
      <p:sp>
        <p:nvSpPr>
          <p:cNvPr id="21" name="a002_f_1253"/>
          <p:cNvSpPr/>
          <p:nvPr/>
        </p:nvSpPr>
        <p:spPr>
          <a:xfrm>
            <a:off x="5617159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2" name="a002_f_1254" descr="/tmp/claude-0/-home-user-cutsheet/6324ba14-9edd-52e0-984d-db7baab43700/scratchpad/deck/img/f_catering_tag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455" y="1511618"/>
            <a:ext cx="5989320" cy="3743325"/>
          </a:xfrm>
          <a:prstGeom prst="rect">
            <a:avLst/>
          </a:prstGeom>
        </p:spPr>
      </p:pic>
      <p:sp>
        <p:nvSpPr>
          <p:cNvPr id="23" name="s_1255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4" name="s_1256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1257"/>
          <p:cNvSpPr txBox="1"/>
          <p:nvPr/>
        </p:nvSpPr>
        <p:spPr>
          <a:xfrm>
            <a:off x="6720840" y="502920"/>
            <a:ext cx="1898294" cy="292608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Planung &amp; Vorbereitung</a:t>
            </a:r>
            <a:endParaRPr lang="en-US" sz="1000" dirty="0"/>
          </a:p>
        </p:txBody>
      </p:sp>
      <p:sp>
        <p:nvSpPr>
          <p:cNvPr id="3" name="a001_f_1258"/>
          <p:cNvSpPr txBox="1"/>
          <p:nvPr/>
        </p:nvSpPr>
        <p:spPr>
          <a:xfrm>
            <a:off x="99669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34 von 69</a:t>
            </a:r>
            <a:endParaRPr lang="en-US" sz="950" dirty="0"/>
          </a:p>
        </p:txBody>
      </p:sp>
      <p:sp>
        <p:nvSpPr>
          <p:cNvPr id="4" name="a001_f_1259"/>
          <p:cNvSpPr txBox="1"/>
          <p:nvPr/>
        </p:nvSpPr>
        <p:spPr>
          <a:xfrm>
            <a:off x="67208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&amp; Finanzierung</a:t>
            </a:r>
            <a:endParaRPr lang="en-US" sz="2800" dirty="0"/>
          </a:p>
        </p:txBody>
      </p:sp>
      <p:sp>
        <p:nvSpPr>
          <p:cNvPr id="5" name="a001_f_1260"/>
          <p:cNvSpPr txBox="1"/>
          <p:nvPr/>
        </p:nvSpPr>
        <p:spPr>
          <a:xfrm>
            <a:off x="67208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/projects/:id/budget</a:t>
            </a:r>
            <a:endParaRPr lang="en-US" sz="1050" dirty="0"/>
          </a:p>
        </p:txBody>
      </p:sp>
      <p:sp>
        <p:nvSpPr>
          <p:cNvPr id="6" name="a003_f_1261"/>
          <p:cNvSpPr txBox="1"/>
          <p:nvPr/>
        </p:nvSpPr>
        <p:spPr>
          <a:xfrm>
            <a:off x="67208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Kalkulation und Finanzierungsplan in Fassungen – mit Übernahme echter Kosten.</a:t>
            </a:r>
            <a:endParaRPr lang="en-US" sz="1400" dirty="0"/>
          </a:p>
        </p:txBody>
      </p:sp>
      <p:sp>
        <p:nvSpPr>
          <p:cNvPr id="7" name="a004_f_1262"/>
          <p:cNvSpPr/>
          <p:nvPr/>
        </p:nvSpPr>
        <p:spPr>
          <a:xfrm>
            <a:off x="6739128" y="28117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8" name="a004_f_1263"/>
          <p:cNvSpPr txBox="1"/>
          <p:nvPr/>
        </p:nvSpPr>
        <p:spPr>
          <a:xfrm>
            <a:off x="69951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Kalkulationsfassungen mit Kategorien und Positionen</a:t>
            </a:r>
            <a:endParaRPr lang="en-US" sz="1250" dirty="0"/>
          </a:p>
        </p:txBody>
      </p:sp>
      <p:sp>
        <p:nvSpPr>
          <p:cNvPr id="9" name="a005_f_1264"/>
          <p:cNvSpPr/>
          <p:nvPr/>
        </p:nvSpPr>
        <p:spPr>
          <a:xfrm>
            <a:off x="6739128" y="31546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0" name="a005_f_1265"/>
          <p:cNvSpPr txBox="1"/>
          <p:nvPr/>
        </p:nvSpPr>
        <p:spPr>
          <a:xfrm>
            <a:off x="69951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Einheit, Menge, Einzelpreis, Summe</a:t>
            </a:r>
            <a:endParaRPr lang="en-US" sz="1250" dirty="0"/>
          </a:p>
        </p:txBody>
      </p:sp>
      <p:sp>
        <p:nvSpPr>
          <p:cNvPr id="11" name="a006_f_1266"/>
          <p:cNvSpPr/>
          <p:nvPr/>
        </p:nvSpPr>
        <p:spPr>
          <a:xfrm>
            <a:off x="6739128" y="34975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2" name="a006_f_1267"/>
          <p:cNvSpPr txBox="1"/>
          <p:nvPr/>
        </p:nvSpPr>
        <p:spPr>
          <a:xfrm>
            <a:off x="69951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Finanzierungsplan: Geldgeber, Betrag, Anteil, Status</a:t>
            </a:r>
            <a:endParaRPr lang="en-US" sz="1250" dirty="0"/>
          </a:p>
        </p:txBody>
      </p:sp>
      <p:sp>
        <p:nvSpPr>
          <p:cNvPr id="13" name="a007_f_1268"/>
          <p:cNvSpPr/>
          <p:nvPr/>
        </p:nvSpPr>
        <p:spPr>
          <a:xfrm>
            <a:off x="6739128" y="38404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4" name="a007_f_1269"/>
          <p:cNvSpPr txBox="1"/>
          <p:nvPr/>
        </p:nvSpPr>
        <p:spPr>
          <a:xfrm>
            <a:off x="69951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„Kosten übernehmen“ aus Gagen, Dispo und Equipment</a:t>
            </a:r>
            <a:endParaRPr lang="en-US" sz="1250" dirty="0"/>
          </a:p>
        </p:txBody>
      </p:sp>
      <p:sp>
        <p:nvSpPr>
          <p:cNvPr id="15" name="a008_f_1270"/>
          <p:cNvSpPr/>
          <p:nvPr/>
        </p:nvSpPr>
        <p:spPr>
          <a:xfrm>
            <a:off x="6739128" y="41833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6" name="a008_f_1271"/>
          <p:cNvSpPr txBox="1"/>
          <p:nvPr/>
        </p:nvSpPr>
        <p:spPr>
          <a:xfrm>
            <a:off x="6995160" y="41148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Kalkulation als PDF</a:t>
            </a:r>
            <a:endParaRPr lang="en-US" sz="1250" dirty="0"/>
          </a:p>
        </p:txBody>
      </p:sp>
      <p:sp>
        <p:nvSpPr>
          <p:cNvPr id="17" name="a009_f_1272"/>
          <p:cNvSpPr/>
          <p:nvPr/>
        </p:nvSpPr>
        <p:spPr>
          <a:xfrm>
            <a:off x="6739128" y="45262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8" name="a009_f_1273"/>
          <p:cNvSpPr txBox="1"/>
          <p:nvPr/>
        </p:nvSpPr>
        <p:spPr>
          <a:xfrm>
            <a:off x="6995160" y="4457700"/>
            <a:ext cx="4617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Förderantrag als PDF: Projekt, Team, Motive, Kosten, Finanzierung</a:t>
            </a:r>
            <a:endParaRPr lang="en-US" sz="1250" dirty="0"/>
          </a:p>
        </p:txBody>
      </p:sp>
      <p:sp>
        <p:nvSpPr>
          <p:cNvPr id="19" name="a012_f_1274"/>
          <p:cNvSpPr txBox="1"/>
          <p:nvPr/>
        </p:nvSpPr>
        <p:spPr>
          <a:xfrm>
            <a:off x="6720840" y="53400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20" name="a013_f_1275"/>
          <p:cNvSpPr txBox="1"/>
          <p:nvPr/>
        </p:nvSpPr>
        <p:spPr>
          <a:xfrm>
            <a:off x="6720840" y="5614416"/>
            <a:ext cx="97840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Kostenstand</a:t>
            </a:r>
            <a:endParaRPr lang="en-US" sz="950" dirty="0"/>
          </a:p>
        </p:txBody>
      </p:sp>
      <p:sp>
        <p:nvSpPr>
          <p:cNvPr id="21" name="a013_f_1276"/>
          <p:cNvSpPr txBox="1"/>
          <p:nvPr/>
        </p:nvSpPr>
        <p:spPr>
          <a:xfrm>
            <a:off x="7790688" y="5614416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2D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Besetzung</a:t>
            </a:r>
            <a:endParaRPr lang="en-US" sz="950" dirty="0"/>
          </a:p>
        </p:txBody>
      </p:sp>
      <p:sp>
        <p:nvSpPr>
          <p:cNvPr id="22" name="a013_f_1277"/>
          <p:cNvSpPr txBox="1"/>
          <p:nvPr/>
        </p:nvSpPr>
        <p:spPr>
          <a:xfrm>
            <a:off x="8732520" y="5614416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2D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Stabliste</a:t>
            </a:r>
            <a:endParaRPr lang="en-US" sz="950" dirty="0"/>
          </a:p>
        </p:txBody>
      </p:sp>
      <p:sp>
        <p:nvSpPr>
          <p:cNvPr id="23" name="a013_f_1278"/>
          <p:cNvSpPr txBox="1"/>
          <p:nvPr/>
        </p:nvSpPr>
        <p:spPr>
          <a:xfrm>
            <a:off x="9674352" y="5614416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</a:t>
            </a:r>
            <a:endParaRPr lang="en-US" sz="950" dirty="0"/>
          </a:p>
        </p:txBody>
      </p:sp>
      <p:sp>
        <p:nvSpPr>
          <p:cNvPr id="24" name="a013_f_1279"/>
          <p:cNvSpPr txBox="1"/>
          <p:nvPr/>
        </p:nvSpPr>
        <p:spPr>
          <a:xfrm>
            <a:off x="6720840" y="5961888"/>
            <a:ext cx="110642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Konfliktradar</a:t>
            </a:r>
            <a:endParaRPr lang="en-US" sz="950" dirty="0"/>
          </a:p>
        </p:txBody>
      </p:sp>
      <p:sp>
        <p:nvSpPr>
          <p:cNvPr id="25" name="a013_f_1280"/>
          <p:cNvSpPr txBox="1"/>
          <p:nvPr/>
        </p:nvSpPr>
        <p:spPr>
          <a:xfrm>
            <a:off x="7918704" y="5961888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71E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50" dirty="0"/>
          </a:p>
        </p:txBody>
      </p:sp>
      <p:sp>
        <p:nvSpPr>
          <p:cNvPr id="26" name="a002_f_1281"/>
          <p:cNvSpPr/>
          <p:nvPr/>
        </p:nvSpPr>
        <p:spPr>
          <a:xfrm>
            <a:off x="420624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7" name="a002_f_1282" descr="/tmp/claude-0/-home-user-cutsheet/6324ba14-9edd-52e0-984d-db7baab43700/scratchpad/deck/img/f_budget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11618"/>
            <a:ext cx="5989320" cy="3743325"/>
          </a:xfrm>
          <a:prstGeom prst="rect">
            <a:avLst/>
          </a:prstGeom>
        </p:spPr>
      </p:pic>
      <p:sp>
        <p:nvSpPr>
          <p:cNvPr id="28" name="s_1283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9" name="s_1284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48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48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48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48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48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1285"/>
          <p:cNvSpPr txBox="1"/>
          <p:nvPr/>
        </p:nvSpPr>
        <p:spPr>
          <a:xfrm>
            <a:off x="548640" y="502920"/>
            <a:ext cx="1898294" cy="292608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Planung &amp; Vorbereitung</a:t>
            </a:r>
            <a:endParaRPr lang="en-US" sz="1000" dirty="0"/>
          </a:p>
        </p:txBody>
      </p:sp>
      <p:sp>
        <p:nvSpPr>
          <p:cNvPr id="3" name="a001_f_1286"/>
          <p:cNvSpPr txBox="1"/>
          <p:nvPr/>
        </p:nvSpPr>
        <p:spPr>
          <a:xfrm>
            <a:off x="37947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35 von 69</a:t>
            </a:r>
            <a:endParaRPr lang="en-US" sz="950" dirty="0"/>
          </a:p>
        </p:txBody>
      </p:sp>
      <p:sp>
        <p:nvSpPr>
          <p:cNvPr id="4" name="a001_f_1287"/>
          <p:cNvSpPr txBox="1"/>
          <p:nvPr/>
        </p:nvSpPr>
        <p:spPr>
          <a:xfrm>
            <a:off x="5486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Kostenstand</a:t>
            </a:r>
            <a:endParaRPr lang="en-US" sz="3200" dirty="0"/>
          </a:p>
        </p:txBody>
      </p:sp>
      <p:sp>
        <p:nvSpPr>
          <p:cNvPr id="5" name="a001_f_1288"/>
          <p:cNvSpPr txBox="1"/>
          <p:nvPr/>
        </p:nvSpPr>
        <p:spPr>
          <a:xfrm>
            <a:off x="5486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/projects/:id/kostenstand</a:t>
            </a:r>
            <a:endParaRPr lang="en-US" sz="1050" dirty="0"/>
          </a:p>
        </p:txBody>
      </p:sp>
      <p:sp>
        <p:nvSpPr>
          <p:cNvPr id="6" name="a003_f_1289"/>
          <p:cNvSpPr txBox="1"/>
          <p:nvPr/>
        </p:nvSpPr>
        <p:spPr>
          <a:xfrm>
            <a:off x="5486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Soll gegen Ist: Was kalkuliert ist – und was schon ausgegeben wurde.</a:t>
            </a:r>
            <a:endParaRPr lang="en-US" sz="1400" dirty="0"/>
          </a:p>
        </p:txBody>
      </p:sp>
      <p:sp>
        <p:nvSpPr>
          <p:cNvPr id="7" name="a004_f_1290"/>
          <p:cNvSpPr/>
          <p:nvPr/>
        </p:nvSpPr>
        <p:spPr>
          <a:xfrm>
            <a:off x="566928" y="28117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8" name="a004_f_1291"/>
          <p:cNvSpPr txBox="1"/>
          <p:nvPr/>
        </p:nvSpPr>
        <p:spPr>
          <a:xfrm>
            <a:off x="8229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Kalkuliert, ausgegeben, verbleibend</a:t>
            </a:r>
            <a:endParaRPr lang="en-US" sz="1250" dirty="0"/>
          </a:p>
        </p:txBody>
      </p:sp>
      <p:sp>
        <p:nvSpPr>
          <p:cNvPr id="9" name="a005_f_1292"/>
          <p:cNvSpPr/>
          <p:nvPr/>
        </p:nvSpPr>
        <p:spPr>
          <a:xfrm>
            <a:off x="566928" y="31546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0" name="a005_f_1293"/>
          <p:cNvSpPr txBox="1"/>
          <p:nvPr/>
        </p:nvSpPr>
        <p:spPr>
          <a:xfrm>
            <a:off x="8229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Soll/Ist je Kategorie mit Differenz</a:t>
            </a:r>
            <a:endParaRPr lang="en-US" sz="1250" dirty="0"/>
          </a:p>
        </p:txBody>
      </p:sp>
      <p:sp>
        <p:nvSpPr>
          <p:cNvPr id="11" name="a006_f_1294"/>
          <p:cNvSpPr/>
          <p:nvPr/>
        </p:nvSpPr>
        <p:spPr>
          <a:xfrm>
            <a:off x="566928" y="34975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2" name="a006_f_1295"/>
          <p:cNvSpPr txBox="1"/>
          <p:nvPr/>
        </p:nvSpPr>
        <p:spPr>
          <a:xfrm>
            <a:off x="8229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Belege erfassen: Datum, Nummer, Betrag, Position</a:t>
            </a:r>
            <a:endParaRPr lang="en-US" sz="1250" dirty="0"/>
          </a:p>
        </p:txBody>
      </p:sp>
      <p:sp>
        <p:nvSpPr>
          <p:cNvPr id="13" name="a007_f_1296"/>
          <p:cNvSpPr/>
          <p:nvPr/>
        </p:nvSpPr>
        <p:spPr>
          <a:xfrm>
            <a:off x="566928" y="38404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4" name="a007_f_1297"/>
          <p:cNvSpPr txBox="1"/>
          <p:nvPr/>
        </p:nvSpPr>
        <p:spPr>
          <a:xfrm>
            <a:off x="8229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Warnschwelle bei Budgetüberschreitung</a:t>
            </a:r>
            <a:endParaRPr lang="en-US" sz="1250" dirty="0"/>
          </a:p>
        </p:txBody>
      </p:sp>
      <p:sp>
        <p:nvSpPr>
          <p:cNvPr id="15" name="a012_f_1298"/>
          <p:cNvSpPr txBox="1"/>
          <p:nvPr/>
        </p:nvSpPr>
        <p:spPr>
          <a:xfrm>
            <a:off x="5486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6" name="a013_f_1299"/>
          <p:cNvSpPr txBox="1"/>
          <p:nvPr/>
        </p:nvSpPr>
        <p:spPr>
          <a:xfrm>
            <a:off x="548640" y="5760720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950" dirty="0"/>
          </a:p>
        </p:txBody>
      </p:sp>
      <p:sp>
        <p:nvSpPr>
          <p:cNvPr id="17" name="a013_f_1300"/>
          <p:cNvSpPr txBox="1"/>
          <p:nvPr/>
        </p:nvSpPr>
        <p:spPr>
          <a:xfrm>
            <a:off x="1298448" y="576072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71E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8" name="a002_f_1301"/>
          <p:cNvSpPr/>
          <p:nvPr/>
        </p:nvSpPr>
        <p:spPr>
          <a:xfrm>
            <a:off x="5617159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19" name="a002_f_1302" descr="/tmp/claude-0/-home-user-cutsheet/6324ba14-9edd-52e0-984d-db7baab43700/scratchpad/deck/img/light_projects_168_kostenstand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455" y="1511618"/>
            <a:ext cx="5989320" cy="3743325"/>
          </a:xfrm>
          <a:prstGeom prst="rect">
            <a:avLst/>
          </a:prstGeom>
        </p:spPr>
      </p:pic>
      <p:sp>
        <p:nvSpPr>
          <p:cNvPr id="20" name="s_1303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1" name="s_1304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1305"/>
          <p:cNvSpPr txBox="1"/>
          <p:nvPr/>
        </p:nvSpPr>
        <p:spPr>
          <a:xfrm>
            <a:off x="6720840" y="502920"/>
            <a:ext cx="1898294" cy="292608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Planung &amp; Vorbereitung</a:t>
            </a:r>
            <a:endParaRPr lang="en-US" sz="1000" dirty="0"/>
          </a:p>
        </p:txBody>
      </p:sp>
      <p:sp>
        <p:nvSpPr>
          <p:cNvPr id="3" name="a001_f_1306"/>
          <p:cNvSpPr txBox="1"/>
          <p:nvPr/>
        </p:nvSpPr>
        <p:spPr>
          <a:xfrm>
            <a:off x="99669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36 von 69</a:t>
            </a:r>
            <a:endParaRPr lang="en-US" sz="950" dirty="0"/>
          </a:p>
        </p:txBody>
      </p:sp>
      <p:sp>
        <p:nvSpPr>
          <p:cNvPr id="4" name="a001_f_1307"/>
          <p:cNvSpPr txBox="1"/>
          <p:nvPr/>
        </p:nvSpPr>
        <p:spPr>
          <a:xfrm>
            <a:off x="67208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Versicherungen</a:t>
            </a:r>
            <a:endParaRPr lang="en-US" sz="3200" dirty="0"/>
          </a:p>
        </p:txBody>
      </p:sp>
      <p:sp>
        <p:nvSpPr>
          <p:cNvPr id="5" name="a001_f_1308"/>
          <p:cNvSpPr txBox="1"/>
          <p:nvPr/>
        </p:nvSpPr>
        <p:spPr>
          <a:xfrm>
            <a:off x="67208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/projects/:id/versicherungen</a:t>
            </a:r>
            <a:endParaRPr lang="en-US" sz="1050" dirty="0"/>
          </a:p>
        </p:txBody>
      </p:sp>
      <p:sp>
        <p:nvSpPr>
          <p:cNvPr id="6" name="a003_f_1309"/>
          <p:cNvSpPr txBox="1"/>
          <p:nvPr/>
        </p:nvSpPr>
        <p:spPr>
          <a:xfrm>
            <a:off x="67208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Policen der Produktion mit Deckung, Prämie und Laufzeit.</a:t>
            </a:r>
            <a:endParaRPr lang="en-US" sz="1400" dirty="0"/>
          </a:p>
        </p:txBody>
      </p:sp>
      <p:sp>
        <p:nvSpPr>
          <p:cNvPr id="7" name="a004_f_1310"/>
          <p:cNvSpPr/>
          <p:nvPr/>
        </p:nvSpPr>
        <p:spPr>
          <a:xfrm>
            <a:off x="6739128" y="28117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8" name="a004_f_1311"/>
          <p:cNvSpPr txBox="1"/>
          <p:nvPr/>
        </p:nvSpPr>
        <p:spPr>
          <a:xfrm>
            <a:off x="69951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Art, Gesellschaft, Policennummer</a:t>
            </a:r>
            <a:endParaRPr lang="en-US" sz="1250" dirty="0"/>
          </a:p>
        </p:txBody>
      </p:sp>
      <p:sp>
        <p:nvSpPr>
          <p:cNvPr id="9" name="a005_f_1312"/>
          <p:cNvSpPr/>
          <p:nvPr/>
        </p:nvSpPr>
        <p:spPr>
          <a:xfrm>
            <a:off x="6739128" y="31546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0" name="a005_f_1313"/>
          <p:cNvSpPr txBox="1"/>
          <p:nvPr/>
        </p:nvSpPr>
        <p:spPr>
          <a:xfrm>
            <a:off x="69951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Deckungssumme und Prämie</a:t>
            </a:r>
            <a:endParaRPr lang="en-US" sz="1250" dirty="0"/>
          </a:p>
        </p:txBody>
      </p:sp>
      <p:sp>
        <p:nvSpPr>
          <p:cNvPr id="11" name="a006_f_1314"/>
          <p:cNvSpPr/>
          <p:nvPr/>
        </p:nvSpPr>
        <p:spPr>
          <a:xfrm>
            <a:off x="6739128" y="34975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2" name="a006_f_1315"/>
          <p:cNvSpPr txBox="1"/>
          <p:nvPr/>
        </p:nvSpPr>
        <p:spPr>
          <a:xfrm>
            <a:off x="69951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 und Ende</a:t>
            </a:r>
            <a:endParaRPr lang="en-US" sz="1250" dirty="0"/>
          </a:p>
        </p:txBody>
      </p:sp>
      <p:sp>
        <p:nvSpPr>
          <p:cNvPr id="13" name="a007_f_1316"/>
          <p:cNvSpPr/>
          <p:nvPr/>
        </p:nvSpPr>
        <p:spPr>
          <a:xfrm>
            <a:off x="6739128" y="3840480"/>
            <a:ext cx="118872" cy="118872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4" name="a007_f_1317"/>
          <p:cNvSpPr txBox="1"/>
          <p:nvPr/>
        </p:nvSpPr>
        <p:spPr>
          <a:xfrm>
            <a:off x="69951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Konditionen und Ausschlüsse</a:t>
            </a:r>
            <a:endParaRPr lang="en-US" sz="1250" dirty="0"/>
          </a:p>
        </p:txBody>
      </p:sp>
      <p:sp>
        <p:nvSpPr>
          <p:cNvPr id="15" name="a012_f_1318"/>
          <p:cNvSpPr txBox="1"/>
          <p:nvPr/>
        </p:nvSpPr>
        <p:spPr>
          <a:xfrm>
            <a:off x="67208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6" name="a013_f_1319"/>
          <p:cNvSpPr txBox="1"/>
          <p:nvPr/>
        </p:nvSpPr>
        <p:spPr>
          <a:xfrm>
            <a:off x="6720840" y="5760720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950" dirty="0"/>
          </a:p>
        </p:txBody>
      </p:sp>
      <p:sp>
        <p:nvSpPr>
          <p:cNvPr id="17" name="a002_f_1320"/>
          <p:cNvSpPr/>
          <p:nvPr/>
        </p:nvSpPr>
        <p:spPr>
          <a:xfrm>
            <a:off x="420624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18" name="a002_f_1321" descr="/tmp/claude-0/-home-user-cutsheet/6324ba14-9edd-52e0-984d-db7baab43700/scratchpad/deck/img/light_projects_168_versicherungen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11618"/>
            <a:ext cx="5989320" cy="3743325"/>
          </a:xfrm>
          <a:prstGeom prst="rect">
            <a:avLst/>
          </a:prstGeom>
        </p:spPr>
      </p:pic>
      <p:sp>
        <p:nvSpPr>
          <p:cNvPr id="19" name="s_1322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0" name="s_132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z_1324"/>
          <p:cNvSpPr txBox="1"/>
          <p:nvPr/>
        </p:nvSpPr>
        <p:spPr>
          <a:xfrm>
            <a:off x="548640" y="8229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600" dirty="0"/>
          </a:p>
        </p:txBody>
      </p:sp>
      <p:sp>
        <p:nvSpPr>
          <p:cNvPr id="3" name="a002_f_1325"/>
          <p:cNvSpPr txBox="1"/>
          <p:nvPr/>
        </p:nvSpPr>
        <p:spPr>
          <a:xfrm>
            <a:off x="548640" y="23317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Drehtage</a:t>
            </a:r>
            <a:endParaRPr lang="en-US" sz="3600" dirty="0"/>
          </a:p>
        </p:txBody>
      </p:sp>
      <p:sp>
        <p:nvSpPr>
          <p:cNvPr id="4" name="a003_f_1326"/>
          <p:cNvSpPr txBox="1"/>
          <p:nvPr/>
        </p:nvSpPr>
        <p:spPr>
          <a:xfrm>
            <a:off x="548640" y="36576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Tag am Set: Dispo, Anwesenheit, Auflösung, Continuity, Berichte und die Set-App fürs Telefon.</a:t>
            </a:r>
            <a:endParaRPr lang="en-US" sz="1500" dirty="0"/>
          </a:p>
        </p:txBody>
      </p:sp>
      <p:sp>
        <p:nvSpPr>
          <p:cNvPr id="5" name="a003_f_1327"/>
          <p:cNvSpPr txBox="1"/>
          <p:nvPr/>
        </p:nvSpPr>
        <p:spPr>
          <a:xfrm>
            <a:off x="548640" y="5029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Seiten</a:t>
            </a:r>
            <a:endParaRPr lang="en-US" sz="1300" dirty="0"/>
          </a:p>
        </p:txBody>
      </p:sp>
      <p:sp>
        <p:nvSpPr>
          <p:cNvPr id="6" name="a004_f_1328"/>
          <p:cNvSpPr/>
          <p:nvPr/>
        </p:nvSpPr>
        <p:spPr>
          <a:xfrm>
            <a:off x="5897880" y="859536"/>
            <a:ext cx="128016" cy="128016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7" name="a004_f_1329"/>
          <p:cNvSpPr txBox="1"/>
          <p:nvPr/>
        </p:nvSpPr>
        <p:spPr>
          <a:xfrm>
            <a:off x="6172200" y="7772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Tagesdispo</a:t>
            </a:r>
            <a:endParaRPr lang="en-US" sz="1350" dirty="0"/>
          </a:p>
        </p:txBody>
      </p:sp>
      <p:sp>
        <p:nvSpPr>
          <p:cNvPr id="8" name="a004_f_1330"/>
          <p:cNvSpPr txBox="1"/>
          <p:nvPr/>
        </p:nvSpPr>
        <p:spPr>
          <a:xfrm>
            <a:off x="6172200" y="10789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/tagesdispo/:tag</a:t>
            </a:r>
            <a:endParaRPr lang="en-US" sz="900" dirty="0"/>
          </a:p>
        </p:txBody>
      </p:sp>
      <p:sp>
        <p:nvSpPr>
          <p:cNvPr id="9" name="a005_f_1331"/>
          <p:cNvSpPr/>
          <p:nvPr/>
        </p:nvSpPr>
        <p:spPr>
          <a:xfrm>
            <a:off x="5897880" y="1591056"/>
            <a:ext cx="128016" cy="128016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0" name="a005_f_1332"/>
          <p:cNvSpPr txBox="1"/>
          <p:nvPr/>
        </p:nvSpPr>
        <p:spPr>
          <a:xfrm>
            <a:off x="6172200" y="15087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 Board</a:t>
            </a:r>
            <a:endParaRPr lang="en-US" sz="1350" dirty="0"/>
          </a:p>
        </p:txBody>
      </p:sp>
      <p:sp>
        <p:nvSpPr>
          <p:cNvPr id="11" name="a005_f_1333"/>
          <p:cNvSpPr txBox="1"/>
          <p:nvPr/>
        </p:nvSpPr>
        <p:spPr>
          <a:xfrm>
            <a:off x="6172200" y="18105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/checkin</a:t>
            </a:r>
            <a:endParaRPr lang="en-US" sz="900" dirty="0"/>
          </a:p>
        </p:txBody>
      </p:sp>
      <p:sp>
        <p:nvSpPr>
          <p:cNvPr id="12" name="a006_f_1334"/>
          <p:cNvSpPr/>
          <p:nvPr/>
        </p:nvSpPr>
        <p:spPr>
          <a:xfrm>
            <a:off x="5897880" y="2322576"/>
            <a:ext cx="128016" cy="128016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3" name="a006_f_1335"/>
          <p:cNvSpPr txBox="1"/>
          <p:nvPr/>
        </p:nvSpPr>
        <p:spPr>
          <a:xfrm>
            <a:off x="6172200" y="22402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Auflösung &amp; Shotlist</a:t>
            </a:r>
            <a:endParaRPr lang="en-US" sz="1350" dirty="0"/>
          </a:p>
        </p:txBody>
      </p:sp>
      <p:sp>
        <p:nvSpPr>
          <p:cNvPr id="14" name="a006_f_1336"/>
          <p:cNvSpPr txBox="1"/>
          <p:nvPr/>
        </p:nvSpPr>
        <p:spPr>
          <a:xfrm>
            <a:off x="6172200" y="25420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/shotlist</a:t>
            </a:r>
            <a:endParaRPr lang="en-US" sz="900" dirty="0"/>
          </a:p>
        </p:txBody>
      </p:sp>
      <p:sp>
        <p:nvSpPr>
          <p:cNvPr id="15" name="a007_f_1337"/>
          <p:cNvSpPr/>
          <p:nvPr/>
        </p:nvSpPr>
        <p:spPr>
          <a:xfrm>
            <a:off x="5897880" y="3054096"/>
            <a:ext cx="128016" cy="128016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6" name="a007_f_1338"/>
          <p:cNvSpPr txBox="1"/>
          <p:nvPr/>
        </p:nvSpPr>
        <p:spPr>
          <a:xfrm>
            <a:off x="6172200" y="2971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Set-Plan</a:t>
            </a:r>
            <a:endParaRPr lang="en-US" sz="1350" dirty="0"/>
          </a:p>
        </p:txBody>
      </p:sp>
      <p:sp>
        <p:nvSpPr>
          <p:cNvPr id="17" name="a007_f_1339"/>
          <p:cNvSpPr txBox="1"/>
          <p:nvPr/>
        </p:nvSpPr>
        <p:spPr>
          <a:xfrm>
            <a:off x="6172200" y="32735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/setplan</a:t>
            </a:r>
            <a:endParaRPr lang="en-US" sz="900" dirty="0"/>
          </a:p>
        </p:txBody>
      </p:sp>
      <p:sp>
        <p:nvSpPr>
          <p:cNvPr id="18" name="a008_f_1340"/>
          <p:cNvSpPr/>
          <p:nvPr/>
        </p:nvSpPr>
        <p:spPr>
          <a:xfrm>
            <a:off x="5897880" y="3785616"/>
            <a:ext cx="128016" cy="128016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9" name="a008_f_1341"/>
          <p:cNvSpPr txBox="1"/>
          <p:nvPr/>
        </p:nvSpPr>
        <p:spPr>
          <a:xfrm>
            <a:off x="6172200" y="37033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VFX-Tracking</a:t>
            </a:r>
            <a:endParaRPr lang="en-US" sz="1350" dirty="0"/>
          </a:p>
        </p:txBody>
      </p:sp>
      <p:sp>
        <p:nvSpPr>
          <p:cNvPr id="20" name="a008_f_1342"/>
          <p:cNvSpPr txBox="1"/>
          <p:nvPr/>
        </p:nvSpPr>
        <p:spPr>
          <a:xfrm>
            <a:off x="6172200" y="40050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/vfx</a:t>
            </a:r>
            <a:endParaRPr lang="en-US" sz="900" dirty="0"/>
          </a:p>
        </p:txBody>
      </p:sp>
      <p:sp>
        <p:nvSpPr>
          <p:cNvPr id="21" name="a009_f_1343"/>
          <p:cNvSpPr/>
          <p:nvPr/>
        </p:nvSpPr>
        <p:spPr>
          <a:xfrm>
            <a:off x="5897880" y="4517136"/>
            <a:ext cx="128016" cy="128016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22" name="a009_f_1344"/>
          <p:cNvSpPr txBox="1"/>
          <p:nvPr/>
        </p:nvSpPr>
        <p:spPr>
          <a:xfrm>
            <a:off x="6172200" y="4434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Continuity</a:t>
            </a:r>
            <a:endParaRPr lang="en-US" sz="1350" dirty="0"/>
          </a:p>
        </p:txBody>
      </p:sp>
      <p:sp>
        <p:nvSpPr>
          <p:cNvPr id="23" name="a009_f_1345"/>
          <p:cNvSpPr txBox="1"/>
          <p:nvPr/>
        </p:nvSpPr>
        <p:spPr>
          <a:xfrm>
            <a:off x="6172200" y="47365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/continuity</a:t>
            </a:r>
            <a:endParaRPr lang="en-US" sz="900" dirty="0"/>
          </a:p>
        </p:txBody>
      </p:sp>
      <p:sp>
        <p:nvSpPr>
          <p:cNvPr id="24" name="a010_f_1346"/>
          <p:cNvSpPr/>
          <p:nvPr/>
        </p:nvSpPr>
        <p:spPr>
          <a:xfrm>
            <a:off x="8915400" y="859536"/>
            <a:ext cx="128016" cy="128016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25" name="a010_f_1347"/>
          <p:cNvSpPr txBox="1"/>
          <p:nvPr/>
        </p:nvSpPr>
        <p:spPr>
          <a:xfrm>
            <a:off x="9189720" y="7772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Kameraberichte</a:t>
            </a:r>
            <a:endParaRPr lang="en-US" sz="1350" dirty="0"/>
          </a:p>
        </p:txBody>
      </p:sp>
      <p:sp>
        <p:nvSpPr>
          <p:cNvPr id="26" name="a010_f_1348"/>
          <p:cNvSpPr txBox="1"/>
          <p:nvPr/>
        </p:nvSpPr>
        <p:spPr>
          <a:xfrm>
            <a:off x="9189720" y="10789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/kameraberichte</a:t>
            </a:r>
            <a:endParaRPr lang="en-US" sz="900" dirty="0"/>
          </a:p>
        </p:txBody>
      </p:sp>
      <p:sp>
        <p:nvSpPr>
          <p:cNvPr id="27" name="a011_f_1349"/>
          <p:cNvSpPr/>
          <p:nvPr/>
        </p:nvSpPr>
        <p:spPr>
          <a:xfrm>
            <a:off x="8915400" y="1591056"/>
            <a:ext cx="128016" cy="128016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28" name="a011_f_1350"/>
          <p:cNvSpPr txBox="1"/>
          <p:nvPr/>
        </p:nvSpPr>
        <p:spPr>
          <a:xfrm>
            <a:off x="9189720" y="15087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Tagesbericht</a:t>
            </a:r>
            <a:endParaRPr lang="en-US" sz="1350" dirty="0"/>
          </a:p>
        </p:txBody>
      </p:sp>
      <p:sp>
        <p:nvSpPr>
          <p:cNvPr id="29" name="a011_f_1351"/>
          <p:cNvSpPr txBox="1"/>
          <p:nvPr/>
        </p:nvSpPr>
        <p:spPr>
          <a:xfrm>
            <a:off x="9189720" y="18105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/tagesbericht</a:t>
            </a:r>
            <a:endParaRPr lang="en-US" sz="900" dirty="0"/>
          </a:p>
        </p:txBody>
      </p:sp>
      <p:sp>
        <p:nvSpPr>
          <p:cNvPr id="30" name="a012_f_1352"/>
          <p:cNvSpPr/>
          <p:nvPr/>
        </p:nvSpPr>
        <p:spPr>
          <a:xfrm>
            <a:off x="8915400" y="2322576"/>
            <a:ext cx="128016" cy="128016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31" name="a012_f_1353"/>
          <p:cNvSpPr txBox="1"/>
          <p:nvPr/>
        </p:nvSpPr>
        <p:spPr>
          <a:xfrm>
            <a:off x="9189720" y="22402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Zeitanalyse</a:t>
            </a:r>
            <a:endParaRPr lang="en-US" sz="1350" dirty="0"/>
          </a:p>
        </p:txBody>
      </p:sp>
      <p:sp>
        <p:nvSpPr>
          <p:cNvPr id="32" name="a012_f_1354"/>
          <p:cNvSpPr txBox="1"/>
          <p:nvPr/>
        </p:nvSpPr>
        <p:spPr>
          <a:xfrm>
            <a:off x="9189720" y="25420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/zeitanalyse</a:t>
            </a:r>
            <a:endParaRPr lang="en-US" sz="900" dirty="0"/>
          </a:p>
        </p:txBody>
      </p:sp>
      <p:sp>
        <p:nvSpPr>
          <p:cNvPr id="33" name="a013_f_1355"/>
          <p:cNvSpPr/>
          <p:nvPr/>
        </p:nvSpPr>
        <p:spPr>
          <a:xfrm>
            <a:off x="8915400" y="3054096"/>
            <a:ext cx="128016" cy="128016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34" name="a013_f_1356"/>
          <p:cNvSpPr txBox="1"/>
          <p:nvPr/>
        </p:nvSpPr>
        <p:spPr>
          <a:xfrm>
            <a:off x="9189720" y="2971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Timesheets</a:t>
            </a:r>
            <a:endParaRPr lang="en-US" sz="1350" dirty="0"/>
          </a:p>
        </p:txBody>
      </p:sp>
      <p:sp>
        <p:nvSpPr>
          <p:cNvPr id="35" name="a013_f_1357"/>
          <p:cNvSpPr txBox="1"/>
          <p:nvPr/>
        </p:nvSpPr>
        <p:spPr>
          <a:xfrm>
            <a:off x="9189720" y="32735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/timesheets</a:t>
            </a:r>
            <a:endParaRPr lang="en-US" sz="900" dirty="0"/>
          </a:p>
        </p:txBody>
      </p:sp>
      <p:sp>
        <p:nvSpPr>
          <p:cNvPr id="36" name="a014_f_1358"/>
          <p:cNvSpPr/>
          <p:nvPr/>
        </p:nvSpPr>
        <p:spPr>
          <a:xfrm>
            <a:off x="8915400" y="3785616"/>
            <a:ext cx="128016" cy="128016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37" name="a014_f_1359"/>
          <p:cNvSpPr txBox="1"/>
          <p:nvPr/>
        </p:nvSpPr>
        <p:spPr>
          <a:xfrm>
            <a:off x="9189720" y="37033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Set-App</a:t>
            </a:r>
            <a:endParaRPr lang="en-US" sz="1350" dirty="0"/>
          </a:p>
        </p:txBody>
      </p:sp>
      <p:sp>
        <p:nvSpPr>
          <p:cNvPr id="38" name="a014_f_1360"/>
          <p:cNvSpPr txBox="1"/>
          <p:nvPr/>
        </p:nvSpPr>
        <p:spPr>
          <a:xfrm>
            <a:off x="9189720" y="40050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/set</a:t>
            </a:r>
            <a:endParaRPr lang="en-US" sz="900" dirty="0"/>
          </a:p>
        </p:txBody>
      </p:sp>
      <p:sp>
        <p:nvSpPr>
          <p:cNvPr id="39" name="s_1361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40" name="s_1362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36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48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48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48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48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48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48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48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48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48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48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48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48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48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48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4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48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48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48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4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48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  <p:bldP spid="25" grpId="0" animBg="1"/>
      <p:bldP spid="26" grpId="0" animBg="1"/>
      <p:bldP spid="28" grpId="0" animBg="1"/>
      <p:bldP spid="29" grpId="0" animBg="1"/>
      <p:bldP spid="31" grpId="0" animBg="1"/>
      <p:bldP spid="32" grpId="0" animBg="1"/>
      <p:bldP spid="34" grpId="0" animBg="1"/>
      <p:bldP spid="35" grpId="0" animBg="1"/>
      <p:bldP spid="37" grpId="0" animBg="1"/>
      <p:bldP spid="3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1363"/>
          <p:cNvSpPr txBox="1"/>
          <p:nvPr/>
        </p:nvSpPr>
        <p:spPr>
          <a:xfrm>
            <a:off x="548640" y="502920"/>
            <a:ext cx="899770" cy="292608"/>
          </a:xfrm>
          <a:prstGeom prst="roundRect">
            <a:avLst>
              <a:gd name="adj" fmla="val 50000"/>
            </a:avLst>
          </a:prstGeom>
          <a:solidFill>
            <a:srgbClr val="E8F8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Drehtage</a:t>
            </a:r>
            <a:endParaRPr lang="en-US" sz="1000" dirty="0"/>
          </a:p>
        </p:txBody>
      </p:sp>
      <p:sp>
        <p:nvSpPr>
          <p:cNvPr id="3" name="a001_f_1364"/>
          <p:cNvSpPr txBox="1"/>
          <p:nvPr/>
        </p:nvSpPr>
        <p:spPr>
          <a:xfrm>
            <a:off x="37947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37 von 69</a:t>
            </a:r>
            <a:endParaRPr lang="en-US" sz="950" dirty="0"/>
          </a:p>
        </p:txBody>
      </p:sp>
      <p:sp>
        <p:nvSpPr>
          <p:cNvPr id="4" name="a001_f_1365"/>
          <p:cNvSpPr txBox="1"/>
          <p:nvPr/>
        </p:nvSpPr>
        <p:spPr>
          <a:xfrm>
            <a:off x="5486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Tagesdispo</a:t>
            </a:r>
            <a:endParaRPr lang="en-US" sz="3200" dirty="0"/>
          </a:p>
        </p:txBody>
      </p:sp>
      <p:sp>
        <p:nvSpPr>
          <p:cNvPr id="5" name="a001_f_1366"/>
          <p:cNvSpPr txBox="1"/>
          <p:nvPr/>
        </p:nvSpPr>
        <p:spPr>
          <a:xfrm>
            <a:off x="5486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/projects/:id/tagesdispo/:tag</a:t>
            </a:r>
            <a:endParaRPr lang="en-US" sz="1050" dirty="0"/>
          </a:p>
        </p:txBody>
      </p:sp>
      <p:sp>
        <p:nvSpPr>
          <p:cNvPr id="6" name="a003_f_1367"/>
          <p:cNvSpPr txBox="1"/>
          <p:nvPr/>
        </p:nvSpPr>
        <p:spPr>
          <a:xfrm>
            <a:off x="5486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wichtigste Dokument des Drehtags – bauen, prüfen, versenden.</a:t>
            </a:r>
            <a:endParaRPr lang="en-US" sz="1400" dirty="0"/>
          </a:p>
        </p:txBody>
      </p:sp>
      <p:sp>
        <p:nvSpPr>
          <p:cNvPr id="7" name="a004_f_1368"/>
          <p:cNvSpPr/>
          <p:nvPr/>
        </p:nvSpPr>
        <p:spPr>
          <a:xfrm>
            <a:off x="566928" y="28117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8" name="a004_f_1369"/>
          <p:cNvSpPr txBox="1"/>
          <p:nvPr/>
        </p:nvSpPr>
        <p:spPr>
          <a:xfrm>
            <a:off x="8229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 des Tages mit Motiv, INT/EXT, Seiten</a:t>
            </a:r>
            <a:endParaRPr lang="en-US" sz="1250" dirty="0"/>
          </a:p>
        </p:txBody>
      </p:sp>
      <p:sp>
        <p:nvSpPr>
          <p:cNvPr id="9" name="a005_f_1370"/>
          <p:cNvSpPr/>
          <p:nvPr/>
        </p:nvSpPr>
        <p:spPr>
          <a:xfrm>
            <a:off x="566928" y="31546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0" name="a005_f_1371"/>
          <p:cNvSpPr txBox="1"/>
          <p:nvPr/>
        </p:nvSpPr>
        <p:spPr>
          <a:xfrm>
            <a:off x="8229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 und Crew mit Call-Zeiten, alle Zeiten verschiebbar</a:t>
            </a:r>
            <a:endParaRPr lang="en-US" sz="1250" dirty="0"/>
          </a:p>
        </p:txBody>
      </p:sp>
      <p:sp>
        <p:nvSpPr>
          <p:cNvPr id="11" name="a006_f_1372"/>
          <p:cNvSpPr/>
          <p:nvPr/>
        </p:nvSpPr>
        <p:spPr>
          <a:xfrm>
            <a:off x="566928" y="34975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2" name="a006_f_1373"/>
          <p:cNvSpPr txBox="1"/>
          <p:nvPr/>
        </p:nvSpPr>
        <p:spPr>
          <a:xfrm>
            <a:off x="8229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Sonnenauf-/-untergang und Wetter am Motiv</a:t>
            </a:r>
            <a:endParaRPr lang="en-US" sz="1250" dirty="0"/>
          </a:p>
        </p:txBody>
      </p:sp>
      <p:sp>
        <p:nvSpPr>
          <p:cNvPr id="13" name="a007_f_1374"/>
          <p:cNvSpPr/>
          <p:nvPr/>
        </p:nvSpPr>
        <p:spPr>
          <a:xfrm>
            <a:off x="566928" y="38404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4" name="a007_f_1375"/>
          <p:cNvSpPr txBox="1"/>
          <p:nvPr/>
        </p:nvSpPr>
        <p:spPr>
          <a:xfrm>
            <a:off x="8229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Versand per E-Mail, Status: versendet, gesehen, bestätigt</a:t>
            </a:r>
            <a:endParaRPr lang="en-US" sz="1250" dirty="0"/>
          </a:p>
        </p:txBody>
      </p:sp>
      <p:sp>
        <p:nvSpPr>
          <p:cNvPr id="15" name="a008_f_1376"/>
          <p:cNvSpPr/>
          <p:nvPr/>
        </p:nvSpPr>
        <p:spPr>
          <a:xfrm>
            <a:off x="566928" y="41833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6" name="a008_f_1377"/>
          <p:cNvSpPr txBox="1"/>
          <p:nvPr/>
        </p:nvSpPr>
        <p:spPr>
          <a:xfrm>
            <a:off x="822960" y="41148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Persönlicher Dispo-Link je Person</a:t>
            </a:r>
            <a:endParaRPr lang="en-US" sz="1250" dirty="0"/>
          </a:p>
        </p:txBody>
      </p:sp>
      <p:sp>
        <p:nvSpPr>
          <p:cNvPr id="17" name="a009_f_1378"/>
          <p:cNvSpPr/>
          <p:nvPr/>
        </p:nvSpPr>
        <p:spPr>
          <a:xfrm>
            <a:off x="566928" y="45262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8" name="a009_f_1379"/>
          <p:cNvSpPr txBox="1"/>
          <p:nvPr/>
        </p:nvSpPr>
        <p:spPr>
          <a:xfrm>
            <a:off x="822960" y="44577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Tagesdispo als PDF, dazu Script Sides des Tages</a:t>
            </a:r>
            <a:endParaRPr lang="en-US" sz="1250" dirty="0"/>
          </a:p>
        </p:txBody>
      </p:sp>
      <p:sp>
        <p:nvSpPr>
          <p:cNvPr id="19" name="a012_f_1380"/>
          <p:cNvSpPr txBox="1"/>
          <p:nvPr/>
        </p:nvSpPr>
        <p:spPr>
          <a:xfrm>
            <a:off x="548640" y="53400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20" name="a013_f_1381"/>
          <p:cNvSpPr txBox="1"/>
          <p:nvPr/>
        </p:nvSpPr>
        <p:spPr>
          <a:xfrm>
            <a:off x="548640" y="5614416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Drehplan</a:t>
            </a:r>
            <a:endParaRPr lang="en-US" sz="950" dirty="0"/>
          </a:p>
        </p:txBody>
      </p:sp>
      <p:sp>
        <p:nvSpPr>
          <p:cNvPr id="21" name="a013_f_1382"/>
          <p:cNvSpPr txBox="1"/>
          <p:nvPr/>
        </p:nvSpPr>
        <p:spPr>
          <a:xfrm>
            <a:off x="1426464" y="5614416"/>
            <a:ext cx="136245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284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28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Öffentliche Dispo</a:t>
            </a:r>
            <a:endParaRPr lang="en-US" sz="950" dirty="0"/>
          </a:p>
        </p:txBody>
      </p:sp>
      <p:sp>
        <p:nvSpPr>
          <p:cNvPr id="22" name="a013_f_1383"/>
          <p:cNvSpPr txBox="1"/>
          <p:nvPr/>
        </p:nvSpPr>
        <p:spPr>
          <a:xfrm>
            <a:off x="2880360" y="5614416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 Board</a:t>
            </a:r>
            <a:endParaRPr lang="en-US" sz="950" dirty="0"/>
          </a:p>
        </p:txBody>
      </p:sp>
      <p:sp>
        <p:nvSpPr>
          <p:cNvPr id="23" name="a013_f_1384"/>
          <p:cNvSpPr txBox="1"/>
          <p:nvPr/>
        </p:nvSpPr>
        <p:spPr>
          <a:xfrm>
            <a:off x="4142232" y="5614416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Catering</a:t>
            </a:r>
            <a:endParaRPr lang="en-US" sz="950" dirty="0"/>
          </a:p>
        </p:txBody>
      </p:sp>
      <p:sp>
        <p:nvSpPr>
          <p:cNvPr id="24" name="a013_f_1385"/>
          <p:cNvSpPr txBox="1"/>
          <p:nvPr/>
        </p:nvSpPr>
        <p:spPr>
          <a:xfrm>
            <a:off x="548640" y="5961888"/>
            <a:ext cx="72237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Set-App</a:t>
            </a:r>
            <a:endParaRPr lang="en-US" sz="950" dirty="0"/>
          </a:p>
        </p:txBody>
      </p:sp>
      <p:sp>
        <p:nvSpPr>
          <p:cNvPr id="25" name="a013_f_1386"/>
          <p:cNvSpPr txBox="1"/>
          <p:nvPr/>
        </p:nvSpPr>
        <p:spPr>
          <a:xfrm>
            <a:off x="1362456" y="5961888"/>
            <a:ext cx="110642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Konfliktradar</a:t>
            </a:r>
            <a:endParaRPr lang="en-US" sz="950" dirty="0"/>
          </a:p>
        </p:txBody>
      </p:sp>
      <p:sp>
        <p:nvSpPr>
          <p:cNvPr id="26" name="a002_f_1387"/>
          <p:cNvSpPr/>
          <p:nvPr/>
        </p:nvSpPr>
        <p:spPr>
          <a:xfrm>
            <a:off x="5617159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7" name="a002_f_1388" descr="/tmp/claude-0/-home-user-cutsheet/6324ba14-9edd-52e0-984d-db7baab43700/scratchpad/deck/img/f_tagesdispo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455" y="1511618"/>
            <a:ext cx="5989320" cy="3743325"/>
          </a:xfrm>
          <a:prstGeom prst="rect">
            <a:avLst/>
          </a:prstGeom>
        </p:spPr>
      </p:pic>
      <p:sp>
        <p:nvSpPr>
          <p:cNvPr id="28" name="s_1389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9" name="s_1390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48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48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48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48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48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1391"/>
          <p:cNvSpPr txBox="1"/>
          <p:nvPr/>
        </p:nvSpPr>
        <p:spPr>
          <a:xfrm>
            <a:off x="6720840" y="502920"/>
            <a:ext cx="899770" cy="292608"/>
          </a:xfrm>
          <a:prstGeom prst="roundRect">
            <a:avLst>
              <a:gd name="adj" fmla="val 50000"/>
            </a:avLst>
          </a:prstGeom>
          <a:solidFill>
            <a:srgbClr val="E8F8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Drehtage</a:t>
            </a:r>
            <a:endParaRPr lang="en-US" sz="1000" dirty="0"/>
          </a:p>
        </p:txBody>
      </p:sp>
      <p:sp>
        <p:nvSpPr>
          <p:cNvPr id="3" name="a001_f_1392"/>
          <p:cNvSpPr txBox="1"/>
          <p:nvPr/>
        </p:nvSpPr>
        <p:spPr>
          <a:xfrm>
            <a:off x="99669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38 von 69</a:t>
            </a:r>
            <a:endParaRPr lang="en-US" sz="950" dirty="0"/>
          </a:p>
        </p:txBody>
      </p:sp>
      <p:sp>
        <p:nvSpPr>
          <p:cNvPr id="4" name="a001_f_1393"/>
          <p:cNvSpPr txBox="1"/>
          <p:nvPr/>
        </p:nvSpPr>
        <p:spPr>
          <a:xfrm>
            <a:off x="67208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 Board</a:t>
            </a:r>
            <a:endParaRPr lang="en-US" sz="3200" dirty="0"/>
          </a:p>
        </p:txBody>
      </p:sp>
      <p:sp>
        <p:nvSpPr>
          <p:cNvPr id="5" name="a001_f_1394"/>
          <p:cNvSpPr txBox="1"/>
          <p:nvPr/>
        </p:nvSpPr>
        <p:spPr>
          <a:xfrm>
            <a:off x="67208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/projects/:id/checkin</a:t>
            </a:r>
            <a:endParaRPr lang="en-US" sz="1050" dirty="0"/>
          </a:p>
        </p:txBody>
      </p:sp>
      <p:sp>
        <p:nvSpPr>
          <p:cNvPr id="6" name="a003_f_1395"/>
          <p:cNvSpPr txBox="1"/>
          <p:nvPr/>
        </p:nvSpPr>
        <p:spPr>
          <a:xfrm>
            <a:off x="67208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ist am Set? Anwesenheit live verfolgen und bestätigen.</a:t>
            </a:r>
            <a:endParaRPr lang="en-US" sz="1400" dirty="0"/>
          </a:p>
        </p:txBody>
      </p:sp>
      <p:sp>
        <p:nvSpPr>
          <p:cNvPr id="7" name="a004_f_1396"/>
          <p:cNvSpPr/>
          <p:nvPr/>
        </p:nvSpPr>
        <p:spPr>
          <a:xfrm>
            <a:off x="6739128" y="28117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8" name="a004_f_1397"/>
          <p:cNvSpPr txBox="1"/>
          <p:nvPr/>
        </p:nvSpPr>
        <p:spPr>
          <a:xfrm>
            <a:off x="69951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Personen der Tagesdispo nach Call-Zeit</a:t>
            </a:r>
            <a:endParaRPr lang="en-US" sz="1250" dirty="0"/>
          </a:p>
        </p:txBody>
      </p:sp>
      <p:sp>
        <p:nvSpPr>
          <p:cNvPr id="9" name="a005_f_1398"/>
          <p:cNvSpPr/>
          <p:nvPr/>
        </p:nvSpPr>
        <p:spPr>
          <a:xfrm>
            <a:off x="6739128" y="31546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0" name="a005_f_1399"/>
          <p:cNvSpPr txBox="1"/>
          <p:nvPr/>
        </p:nvSpPr>
        <p:spPr>
          <a:xfrm>
            <a:off x="69951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Einchecken mit Uhrzeit</a:t>
            </a:r>
            <a:endParaRPr lang="en-US" sz="1250" dirty="0"/>
          </a:p>
        </p:txBody>
      </p:sp>
      <p:sp>
        <p:nvSpPr>
          <p:cNvPr id="11" name="a006_f_1400"/>
          <p:cNvSpPr/>
          <p:nvPr/>
        </p:nvSpPr>
        <p:spPr>
          <a:xfrm>
            <a:off x="6739128" y="34975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2" name="a006_f_1401"/>
          <p:cNvSpPr txBox="1"/>
          <p:nvPr/>
        </p:nvSpPr>
        <p:spPr>
          <a:xfrm>
            <a:off x="69951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Fortschritt: x von y anwesend</a:t>
            </a:r>
            <a:endParaRPr lang="en-US" sz="1250" dirty="0"/>
          </a:p>
        </p:txBody>
      </p:sp>
      <p:sp>
        <p:nvSpPr>
          <p:cNvPr id="13" name="a007_f_1402"/>
          <p:cNvSpPr/>
          <p:nvPr/>
        </p:nvSpPr>
        <p:spPr>
          <a:xfrm>
            <a:off x="6739128" y="38404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4" name="a007_f_1403"/>
          <p:cNvSpPr txBox="1"/>
          <p:nvPr/>
        </p:nvSpPr>
        <p:spPr>
          <a:xfrm>
            <a:off x="69951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Gastlink zum Selbst-Einchecken</a:t>
            </a:r>
            <a:endParaRPr lang="en-US" sz="1250" dirty="0"/>
          </a:p>
        </p:txBody>
      </p:sp>
      <p:sp>
        <p:nvSpPr>
          <p:cNvPr id="15" name="a012_f_1404"/>
          <p:cNvSpPr txBox="1"/>
          <p:nvPr/>
        </p:nvSpPr>
        <p:spPr>
          <a:xfrm>
            <a:off x="67208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6" name="a013_f_1405"/>
          <p:cNvSpPr txBox="1"/>
          <p:nvPr/>
        </p:nvSpPr>
        <p:spPr>
          <a:xfrm>
            <a:off x="6720840" y="576072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Tagesdispo</a:t>
            </a:r>
            <a:endParaRPr lang="en-US" sz="950" dirty="0"/>
          </a:p>
        </p:txBody>
      </p:sp>
      <p:sp>
        <p:nvSpPr>
          <p:cNvPr id="17" name="a013_f_1406"/>
          <p:cNvSpPr txBox="1"/>
          <p:nvPr/>
        </p:nvSpPr>
        <p:spPr>
          <a:xfrm>
            <a:off x="7726680" y="5760720"/>
            <a:ext cx="72237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Set-App</a:t>
            </a:r>
            <a:endParaRPr lang="en-US" sz="950" dirty="0"/>
          </a:p>
        </p:txBody>
      </p:sp>
      <p:sp>
        <p:nvSpPr>
          <p:cNvPr id="18" name="a013_f_1407"/>
          <p:cNvSpPr txBox="1"/>
          <p:nvPr/>
        </p:nvSpPr>
        <p:spPr>
          <a:xfrm>
            <a:off x="8540496" y="5760720"/>
            <a:ext cx="136245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284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28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Öffentliche Dispo</a:t>
            </a:r>
            <a:endParaRPr lang="en-US" sz="950" dirty="0"/>
          </a:p>
        </p:txBody>
      </p:sp>
      <p:sp>
        <p:nvSpPr>
          <p:cNvPr id="19" name="a002_f_1408"/>
          <p:cNvSpPr/>
          <p:nvPr/>
        </p:nvSpPr>
        <p:spPr>
          <a:xfrm>
            <a:off x="420624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0" name="a002_f_1409" descr="/tmp/claude-0/-home-user-cutsheet/6324ba14-9edd-52e0-984d-db7baab43700/scratchpad/deck/img/f_checkin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11618"/>
            <a:ext cx="5989320" cy="3743325"/>
          </a:xfrm>
          <a:prstGeom prst="rect">
            <a:avLst/>
          </a:prstGeom>
        </p:spPr>
      </p:pic>
      <p:sp>
        <p:nvSpPr>
          <p:cNvPr id="21" name="s_1410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2" name="s_1411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1412"/>
          <p:cNvSpPr txBox="1"/>
          <p:nvPr/>
        </p:nvSpPr>
        <p:spPr>
          <a:xfrm>
            <a:off x="548640" y="502920"/>
            <a:ext cx="899770" cy="292608"/>
          </a:xfrm>
          <a:prstGeom prst="roundRect">
            <a:avLst>
              <a:gd name="adj" fmla="val 50000"/>
            </a:avLst>
          </a:prstGeom>
          <a:solidFill>
            <a:srgbClr val="E8F8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Drehtage</a:t>
            </a:r>
            <a:endParaRPr lang="en-US" sz="1000" dirty="0"/>
          </a:p>
        </p:txBody>
      </p:sp>
      <p:sp>
        <p:nvSpPr>
          <p:cNvPr id="3" name="a001_f_1413"/>
          <p:cNvSpPr txBox="1"/>
          <p:nvPr/>
        </p:nvSpPr>
        <p:spPr>
          <a:xfrm>
            <a:off x="37947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39 von 69</a:t>
            </a:r>
            <a:endParaRPr lang="en-US" sz="950" dirty="0"/>
          </a:p>
        </p:txBody>
      </p:sp>
      <p:sp>
        <p:nvSpPr>
          <p:cNvPr id="4" name="a001_f_1414"/>
          <p:cNvSpPr txBox="1"/>
          <p:nvPr/>
        </p:nvSpPr>
        <p:spPr>
          <a:xfrm>
            <a:off x="5486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Auflösung &amp; Shotlist</a:t>
            </a:r>
            <a:endParaRPr lang="en-US" sz="2800" dirty="0"/>
          </a:p>
        </p:txBody>
      </p:sp>
      <p:sp>
        <p:nvSpPr>
          <p:cNvPr id="5" name="a001_f_1415"/>
          <p:cNvSpPr txBox="1"/>
          <p:nvPr/>
        </p:nvSpPr>
        <p:spPr>
          <a:xfrm>
            <a:off x="5486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/projects/:id/shotlist</a:t>
            </a:r>
            <a:endParaRPr lang="en-US" sz="1050" dirty="0"/>
          </a:p>
        </p:txBody>
      </p:sp>
      <p:sp>
        <p:nvSpPr>
          <p:cNvPr id="6" name="a003_f_1416"/>
          <p:cNvSpPr txBox="1"/>
          <p:nvPr/>
        </p:nvSpPr>
        <p:spPr>
          <a:xfrm>
            <a:off x="5486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Auflösung jeder Szene – Einstellung für Einstellung.</a:t>
            </a:r>
            <a:endParaRPr lang="en-US" sz="1400" dirty="0"/>
          </a:p>
        </p:txBody>
      </p:sp>
      <p:sp>
        <p:nvSpPr>
          <p:cNvPr id="7" name="a004_f_1417"/>
          <p:cNvSpPr/>
          <p:nvPr/>
        </p:nvSpPr>
        <p:spPr>
          <a:xfrm>
            <a:off x="566928" y="28117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8" name="a004_f_1418"/>
          <p:cNvSpPr txBox="1"/>
          <p:nvPr/>
        </p:nvSpPr>
        <p:spPr>
          <a:xfrm>
            <a:off x="8229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Größe, Bewegung, Objektiv, Dauer</a:t>
            </a:r>
            <a:endParaRPr lang="en-US" sz="1250" dirty="0"/>
          </a:p>
        </p:txBody>
      </p:sp>
      <p:sp>
        <p:nvSpPr>
          <p:cNvPr id="9" name="a005_f_1419"/>
          <p:cNvSpPr/>
          <p:nvPr/>
        </p:nvSpPr>
        <p:spPr>
          <a:xfrm>
            <a:off x="566928" y="31546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0" name="a005_f_1420"/>
          <p:cNvSpPr txBox="1"/>
          <p:nvPr/>
        </p:nvSpPr>
        <p:spPr>
          <a:xfrm>
            <a:off x="8229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Bester Take (Circle Take), erledigt abhaken</a:t>
            </a:r>
            <a:endParaRPr lang="en-US" sz="1250" dirty="0"/>
          </a:p>
        </p:txBody>
      </p:sp>
      <p:sp>
        <p:nvSpPr>
          <p:cNvPr id="11" name="a006_f_1421"/>
          <p:cNvSpPr/>
          <p:nvPr/>
        </p:nvSpPr>
        <p:spPr>
          <a:xfrm>
            <a:off x="566928" y="34975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2" name="a006_f_1422"/>
          <p:cNvSpPr txBox="1"/>
          <p:nvPr/>
        </p:nvSpPr>
        <p:spPr>
          <a:xfrm>
            <a:off x="8229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Duplizieren, Notizen für VFX/Requisite/Sicherheit</a:t>
            </a:r>
            <a:endParaRPr lang="en-US" sz="1250" dirty="0"/>
          </a:p>
        </p:txBody>
      </p:sp>
      <p:sp>
        <p:nvSpPr>
          <p:cNvPr id="13" name="a007_f_1423"/>
          <p:cNvSpPr/>
          <p:nvPr/>
        </p:nvSpPr>
        <p:spPr>
          <a:xfrm>
            <a:off x="566928" y="38404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4" name="a007_f_1424"/>
          <p:cNvSpPr txBox="1"/>
          <p:nvPr/>
        </p:nvSpPr>
        <p:spPr>
          <a:xfrm>
            <a:off x="8229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Suche, Alle auf-/zuklappen bei vielen Szenen</a:t>
            </a:r>
            <a:endParaRPr lang="en-US" sz="1250" dirty="0"/>
          </a:p>
        </p:txBody>
      </p:sp>
      <p:sp>
        <p:nvSpPr>
          <p:cNvPr id="15" name="a008_f_1425"/>
          <p:cNvSpPr/>
          <p:nvPr/>
        </p:nvSpPr>
        <p:spPr>
          <a:xfrm>
            <a:off x="566928" y="41833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6" name="a008_f_1426"/>
          <p:cNvSpPr txBox="1"/>
          <p:nvPr/>
        </p:nvSpPr>
        <p:spPr>
          <a:xfrm>
            <a:off x="822960" y="41148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nach Szenen oder nach Drehtagen</a:t>
            </a:r>
            <a:endParaRPr lang="en-US" sz="1250" dirty="0"/>
          </a:p>
        </p:txBody>
      </p:sp>
      <p:sp>
        <p:nvSpPr>
          <p:cNvPr id="17" name="a012_f_1427"/>
          <p:cNvSpPr txBox="1"/>
          <p:nvPr/>
        </p:nvSpPr>
        <p:spPr>
          <a:xfrm>
            <a:off x="5486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8" name="a013_f_1428"/>
          <p:cNvSpPr txBox="1"/>
          <p:nvPr/>
        </p:nvSpPr>
        <p:spPr>
          <a:xfrm>
            <a:off x="548640" y="5760720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F52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</a:t>
            </a:r>
            <a:endParaRPr lang="en-US" sz="950" dirty="0"/>
          </a:p>
        </p:txBody>
      </p:sp>
      <p:sp>
        <p:nvSpPr>
          <p:cNvPr id="19" name="a013_f_1429"/>
          <p:cNvSpPr txBox="1"/>
          <p:nvPr/>
        </p:nvSpPr>
        <p:spPr>
          <a:xfrm>
            <a:off x="1298448" y="5760720"/>
            <a:ext cx="72237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Set-App</a:t>
            </a:r>
            <a:endParaRPr lang="en-US" sz="950" dirty="0"/>
          </a:p>
        </p:txBody>
      </p:sp>
      <p:sp>
        <p:nvSpPr>
          <p:cNvPr id="20" name="a013_f_1430"/>
          <p:cNvSpPr txBox="1"/>
          <p:nvPr/>
        </p:nvSpPr>
        <p:spPr>
          <a:xfrm>
            <a:off x="2112264" y="5760720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Kameraberichte</a:t>
            </a:r>
            <a:endParaRPr lang="en-US" sz="950" dirty="0"/>
          </a:p>
        </p:txBody>
      </p:sp>
      <p:sp>
        <p:nvSpPr>
          <p:cNvPr id="21" name="a013_f_1431"/>
          <p:cNvSpPr txBox="1"/>
          <p:nvPr/>
        </p:nvSpPr>
        <p:spPr>
          <a:xfrm>
            <a:off x="3374136" y="576072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Drehplan</a:t>
            </a:r>
            <a:endParaRPr lang="en-US" sz="950" dirty="0"/>
          </a:p>
        </p:txBody>
      </p:sp>
      <p:sp>
        <p:nvSpPr>
          <p:cNvPr id="22" name="a002_f_1432"/>
          <p:cNvSpPr/>
          <p:nvPr/>
        </p:nvSpPr>
        <p:spPr>
          <a:xfrm>
            <a:off x="5617159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3" name="a002_f_1433" descr="/tmp/claude-0/-home-user-cutsheet/6324ba14-9edd-52e0-984d-db7baab43700/scratchpad/deck/img/light_projects_168_shotlist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455" y="1511618"/>
            <a:ext cx="5989320" cy="3743325"/>
          </a:xfrm>
          <a:prstGeom prst="rect">
            <a:avLst/>
          </a:prstGeom>
        </p:spPr>
      </p:pic>
      <p:sp>
        <p:nvSpPr>
          <p:cNvPr id="24" name="s_1434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5" name="s_1435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48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1436"/>
          <p:cNvSpPr txBox="1"/>
          <p:nvPr/>
        </p:nvSpPr>
        <p:spPr>
          <a:xfrm>
            <a:off x="6720840" y="502920"/>
            <a:ext cx="899770" cy="292608"/>
          </a:xfrm>
          <a:prstGeom prst="roundRect">
            <a:avLst>
              <a:gd name="adj" fmla="val 50000"/>
            </a:avLst>
          </a:prstGeom>
          <a:solidFill>
            <a:srgbClr val="E8F8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Drehtage</a:t>
            </a:r>
            <a:endParaRPr lang="en-US" sz="1000" dirty="0"/>
          </a:p>
        </p:txBody>
      </p:sp>
      <p:sp>
        <p:nvSpPr>
          <p:cNvPr id="3" name="a001_f_1437"/>
          <p:cNvSpPr txBox="1"/>
          <p:nvPr/>
        </p:nvSpPr>
        <p:spPr>
          <a:xfrm>
            <a:off x="99669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40 von 69</a:t>
            </a:r>
            <a:endParaRPr lang="en-US" sz="950" dirty="0"/>
          </a:p>
        </p:txBody>
      </p:sp>
      <p:sp>
        <p:nvSpPr>
          <p:cNvPr id="4" name="a001_f_1438"/>
          <p:cNvSpPr txBox="1"/>
          <p:nvPr/>
        </p:nvSpPr>
        <p:spPr>
          <a:xfrm>
            <a:off x="67208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Set-Plan</a:t>
            </a:r>
            <a:endParaRPr lang="en-US" sz="3200" dirty="0"/>
          </a:p>
        </p:txBody>
      </p:sp>
      <p:sp>
        <p:nvSpPr>
          <p:cNvPr id="5" name="a001_f_1439"/>
          <p:cNvSpPr txBox="1"/>
          <p:nvPr/>
        </p:nvSpPr>
        <p:spPr>
          <a:xfrm>
            <a:off x="67208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/projects/:id/setplan</a:t>
            </a:r>
            <a:endParaRPr lang="en-US" sz="1050" dirty="0"/>
          </a:p>
        </p:txBody>
      </p:sp>
      <p:sp>
        <p:nvSpPr>
          <p:cNvPr id="6" name="a003_f_1440"/>
          <p:cNvSpPr txBox="1"/>
          <p:nvPr/>
        </p:nvSpPr>
        <p:spPr>
          <a:xfrm>
            <a:off x="67208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Grundriss hochladen, dann Kamera, Licht und Ton daraufziehen.</a:t>
            </a:r>
            <a:endParaRPr lang="en-US" sz="1400" dirty="0"/>
          </a:p>
        </p:txBody>
      </p:sp>
      <p:sp>
        <p:nvSpPr>
          <p:cNvPr id="7" name="a004_f_1441"/>
          <p:cNvSpPr/>
          <p:nvPr/>
        </p:nvSpPr>
        <p:spPr>
          <a:xfrm>
            <a:off x="6739128" y="28117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8" name="a004_f_1442"/>
          <p:cNvSpPr txBox="1"/>
          <p:nvPr/>
        </p:nvSpPr>
        <p:spPr>
          <a:xfrm>
            <a:off x="69951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Grundriss je Szene oder Motiv</a:t>
            </a:r>
            <a:endParaRPr lang="en-US" sz="1250" dirty="0"/>
          </a:p>
        </p:txBody>
      </p:sp>
      <p:sp>
        <p:nvSpPr>
          <p:cNvPr id="9" name="a005_f_1443"/>
          <p:cNvSpPr/>
          <p:nvPr/>
        </p:nvSpPr>
        <p:spPr>
          <a:xfrm>
            <a:off x="6739128" y="31546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0" name="a005_f_1444"/>
          <p:cNvSpPr txBox="1"/>
          <p:nvPr/>
        </p:nvSpPr>
        <p:spPr>
          <a:xfrm>
            <a:off x="69951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Symbole: Kamera, Licht, Mikrofon, Darsteller, Requisite …</a:t>
            </a:r>
            <a:endParaRPr lang="en-US" sz="1250" dirty="0"/>
          </a:p>
        </p:txBody>
      </p:sp>
      <p:sp>
        <p:nvSpPr>
          <p:cNvPr id="11" name="a006_f_1445"/>
          <p:cNvSpPr/>
          <p:nvPr/>
        </p:nvSpPr>
        <p:spPr>
          <a:xfrm>
            <a:off x="6739128" y="34975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2" name="a006_f_1446"/>
          <p:cNvSpPr txBox="1"/>
          <p:nvPr/>
        </p:nvSpPr>
        <p:spPr>
          <a:xfrm>
            <a:off x="69951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Richtung, Größe und Beschriftung je Element</a:t>
            </a:r>
            <a:endParaRPr lang="en-US" sz="1250" dirty="0"/>
          </a:p>
        </p:txBody>
      </p:sp>
      <p:sp>
        <p:nvSpPr>
          <p:cNvPr id="13" name="a007_f_1447"/>
          <p:cNvSpPr/>
          <p:nvPr/>
        </p:nvSpPr>
        <p:spPr>
          <a:xfrm>
            <a:off x="6739128" y="38404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4" name="a007_f_1448"/>
          <p:cNvSpPr txBox="1"/>
          <p:nvPr/>
        </p:nvSpPr>
        <p:spPr>
          <a:xfrm>
            <a:off x="69951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Notizen zum Set</a:t>
            </a:r>
            <a:endParaRPr lang="en-US" sz="1250" dirty="0"/>
          </a:p>
        </p:txBody>
      </p:sp>
      <p:sp>
        <p:nvSpPr>
          <p:cNvPr id="15" name="a008_f_1449"/>
          <p:cNvSpPr/>
          <p:nvPr/>
        </p:nvSpPr>
        <p:spPr>
          <a:xfrm>
            <a:off x="6739128" y="41833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6" name="a008_f_1450"/>
          <p:cNvSpPr txBox="1"/>
          <p:nvPr/>
        </p:nvSpPr>
        <p:spPr>
          <a:xfrm>
            <a:off x="6995160" y="41148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Set-Plan als PDF</a:t>
            </a:r>
            <a:endParaRPr lang="en-US" sz="1250" dirty="0"/>
          </a:p>
        </p:txBody>
      </p:sp>
      <p:sp>
        <p:nvSpPr>
          <p:cNvPr id="17" name="a012_f_1451"/>
          <p:cNvSpPr txBox="1"/>
          <p:nvPr/>
        </p:nvSpPr>
        <p:spPr>
          <a:xfrm>
            <a:off x="67208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8" name="a013_f_1452"/>
          <p:cNvSpPr txBox="1"/>
          <p:nvPr/>
        </p:nvSpPr>
        <p:spPr>
          <a:xfrm>
            <a:off x="6720840" y="5760720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F52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</a:t>
            </a:r>
            <a:endParaRPr lang="en-US" sz="950" dirty="0"/>
          </a:p>
        </p:txBody>
      </p:sp>
      <p:sp>
        <p:nvSpPr>
          <p:cNvPr id="19" name="a013_f_1453"/>
          <p:cNvSpPr txBox="1"/>
          <p:nvPr/>
        </p:nvSpPr>
        <p:spPr>
          <a:xfrm>
            <a:off x="7470648" y="5760720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Motive</a:t>
            </a:r>
            <a:endParaRPr lang="en-US" sz="950" dirty="0"/>
          </a:p>
        </p:txBody>
      </p:sp>
      <p:sp>
        <p:nvSpPr>
          <p:cNvPr id="20" name="a002_f_1454"/>
          <p:cNvSpPr/>
          <p:nvPr/>
        </p:nvSpPr>
        <p:spPr>
          <a:xfrm>
            <a:off x="420624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1" name="a002_f_1455" descr="/tmp/claude-0/-home-user-cutsheet/6324ba14-9edd-52e0-984d-db7baab43700/scratchpad/deck/img/f_setplan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11618"/>
            <a:ext cx="5989320" cy="3743325"/>
          </a:xfrm>
          <a:prstGeom prst="rect">
            <a:avLst/>
          </a:prstGeom>
        </p:spPr>
      </p:pic>
      <p:sp>
        <p:nvSpPr>
          <p:cNvPr id="22" name="s_1456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3" name="s_1457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1458"/>
          <p:cNvSpPr txBox="1"/>
          <p:nvPr/>
        </p:nvSpPr>
        <p:spPr>
          <a:xfrm>
            <a:off x="548640" y="502920"/>
            <a:ext cx="899770" cy="292608"/>
          </a:xfrm>
          <a:prstGeom prst="roundRect">
            <a:avLst>
              <a:gd name="adj" fmla="val 50000"/>
            </a:avLst>
          </a:prstGeom>
          <a:solidFill>
            <a:srgbClr val="E8F8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Drehtage</a:t>
            </a:r>
            <a:endParaRPr lang="en-US" sz="1000" dirty="0"/>
          </a:p>
        </p:txBody>
      </p:sp>
      <p:sp>
        <p:nvSpPr>
          <p:cNvPr id="3" name="a001_f_1459"/>
          <p:cNvSpPr txBox="1"/>
          <p:nvPr/>
        </p:nvSpPr>
        <p:spPr>
          <a:xfrm>
            <a:off x="37947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41 von 69</a:t>
            </a:r>
            <a:endParaRPr lang="en-US" sz="950" dirty="0"/>
          </a:p>
        </p:txBody>
      </p:sp>
      <p:sp>
        <p:nvSpPr>
          <p:cNvPr id="4" name="a001_f_1460"/>
          <p:cNvSpPr txBox="1"/>
          <p:nvPr/>
        </p:nvSpPr>
        <p:spPr>
          <a:xfrm>
            <a:off x="5486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VFX-Tracking</a:t>
            </a:r>
            <a:endParaRPr lang="en-US" sz="3200" dirty="0"/>
          </a:p>
        </p:txBody>
      </p:sp>
      <p:sp>
        <p:nvSpPr>
          <p:cNvPr id="5" name="a001_f_1461"/>
          <p:cNvSpPr txBox="1"/>
          <p:nvPr/>
        </p:nvSpPr>
        <p:spPr>
          <a:xfrm>
            <a:off x="5486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/projects/:id/vfx</a:t>
            </a:r>
            <a:endParaRPr lang="en-US" sz="1050" dirty="0"/>
          </a:p>
        </p:txBody>
      </p:sp>
      <p:sp>
        <p:nvSpPr>
          <p:cNvPr id="6" name="a003_f_1462"/>
          <p:cNvSpPr txBox="1"/>
          <p:nvPr/>
        </p:nvSpPr>
        <p:spPr>
          <a:xfrm>
            <a:off x="5486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VFX-Shot vom Dreh bis zur Abnahme.</a:t>
            </a:r>
            <a:endParaRPr lang="en-US" sz="1400" dirty="0"/>
          </a:p>
        </p:txBody>
      </p:sp>
      <p:sp>
        <p:nvSpPr>
          <p:cNvPr id="7" name="a004_f_1463"/>
          <p:cNvSpPr/>
          <p:nvPr/>
        </p:nvSpPr>
        <p:spPr>
          <a:xfrm>
            <a:off x="566928" y="28117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8" name="a004_f_1464"/>
          <p:cNvSpPr txBox="1"/>
          <p:nvPr/>
        </p:nvSpPr>
        <p:spPr>
          <a:xfrm>
            <a:off x="8229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Shotnummer, Szene, Beschreibung, Typ</a:t>
            </a:r>
            <a:endParaRPr lang="en-US" sz="1250" dirty="0"/>
          </a:p>
        </p:txBody>
      </p:sp>
      <p:sp>
        <p:nvSpPr>
          <p:cNvPr id="9" name="a005_f_1465"/>
          <p:cNvSpPr/>
          <p:nvPr/>
        </p:nvSpPr>
        <p:spPr>
          <a:xfrm>
            <a:off x="566928" y="31546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0" name="a005_f_1466"/>
          <p:cNvSpPr txBox="1"/>
          <p:nvPr/>
        </p:nvSpPr>
        <p:spPr>
          <a:xfrm>
            <a:off x="8229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Artist, Deadline, Komplexität</a:t>
            </a:r>
            <a:endParaRPr lang="en-US" sz="1250" dirty="0"/>
          </a:p>
        </p:txBody>
      </p:sp>
      <p:sp>
        <p:nvSpPr>
          <p:cNvPr id="11" name="a006_f_1467"/>
          <p:cNvSpPr/>
          <p:nvPr/>
        </p:nvSpPr>
        <p:spPr>
          <a:xfrm>
            <a:off x="566928" y="34975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2" name="a006_f_1468"/>
          <p:cNvSpPr txBox="1"/>
          <p:nvPr/>
        </p:nvSpPr>
        <p:spPr>
          <a:xfrm>
            <a:off x="8229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offen, in Arbeit, Review, final</a:t>
            </a:r>
            <a:endParaRPr lang="en-US" sz="1250" dirty="0"/>
          </a:p>
        </p:txBody>
      </p:sp>
      <p:sp>
        <p:nvSpPr>
          <p:cNvPr id="13" name="a007_f_1469"/>
          <p:cNvSpPr/>
          <p:nvPr/>
        </p:nvSpPr>
        <p:spPr>
          <a:xfrm>
            <a:off x="566928" y="38404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4" name="a007_f_1470"/>
          <p:cNvSpPr txBox="1"/>
          <p:nvPr/>
        </p:nvSpPr>
        <p:spPr>
          <a:xfrm>
            <a:off x="8229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Zähler je Status</a:t>
            </a:r>
            <a:endParaRPr lang="en-US" sz="1250" dirty="0"/>
          </a:p>
        </p:txBody>
      </p:sp>
      <p:sp>
        <p:nvSpPr>
          <p:cNvPr id="15" name="a012_f_1471"/>
          <p:cNvSpPr txBox="1"/>
          <p:nvPr/>
        </p:nvSpPr>
        <p:spPr>
          <a:xfrm>
            <a:off x="5486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6" name="a013_f_1472"/>
          <p:cNvSpPr txBox="1"/>
          <p:nvPr/>
        </p:nvSpPr>
        <p:spPr>
          <a:xfrm>
            <a:off x="548640" y="5760720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F52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</a:t>
            </a:r>
            <a:endParaRPr lang="en-US" sz="950" dirty="0"/>
          </a:p>
        </p:txBody>
      </p:sp>
      <p:sp>
        <p:nvSpPr>
          <p:cNvPr id="17" name="a013_f_1473"/>
          <p:cNvSpPr txBox="1"/>
          <p:nvPr/>
        </p:nvSpPr>
        <p:spPr>
          <a:xfrm>
            <a:off x="1298448" y="5760720"/>
            <a:ext cx="149047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856D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8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Postproduktionsplan</a:t>
            </a:r>
            <a:endParaRPr lang="en-US" sz="950" dirty="0"/>
          </a:p>
        </p:txBody>
      </p:sp>
      <p:sp>
        <p:nvSpPr>
          <p:cNvPr id="18" name="a002_f_1474"/>
          <p:cNvSpPr/>
          <p:nvPr/>
        </p:nvSpPr>
        <p:spPr>
          <a:xfrm>
            <a:off x="5617159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19" name="a002_f_1475" descr="/tmp/claude-0/-home-user-cutsheet/6324ba14-9edd-52e0-984d-db7baab43700/scratchpad/deck/img/light_projects_168_vfx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455" y="1511618"/>
            <a:ext cx="5989320" cy="3743325"/>
          </a:xfrm>
          <a:prstGeom prst="rect">
            <a:avLst/>
          </a:prstGeom>
        </p:spPr>
      </p:pic>
      <p:sp>
        <p:nvSpPr>
          <p:cNvPr id="20" name="s_1476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1" name="s_1477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1478"/>
          <p:cNvSpPr txBox="1"/>
          <p:nvPr/>
        </p:nvSpPr>
        <p:spPr>
          <a:xfrm>
            <a:off x="6720840" y="502920"/>
            <a:ext cx="899770" cy="292608"/>
          </a:xfrm>
          <a:prstGeom prst="roundRect">
            <a:avLst>
              <a:gd name="adj" fmla="val 50000"/>
            </a:avLst>
          </a:prstGeom>
          <a:solidFill>
            <a:srgbClr val="E8F8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Drehtage</a:t>
            </a:r>
            <a:endParaRPr lang="en-US" sz="1000" dirty="0"/>
          </a:p>
        </p:txBody>
      </p:sp>
      <p:sp>
        <p:nvSpPr>
          <p:cNvPr id="3" name="a001_f_1479"/>
          <p:cNvSpPr txBox="1"/>
          <p:nvPr/>
        </p:nvSpPr>
        <p:spPr>
          <a:xfrm>
            <a:off x="99669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42 von 69</a:t>
            </a:r>
            <a:endParaRPr lang="en-US" sz="950" dirty="0"/>
          </a:p>
        </p:txBody>
      </p:sp>
      <p:sp>
        <p:nvSpPr>
          <p:cNvPr id="4" name="a001_f_1480"/>
          <p:cNvSpPr txBox="1"/>
          <p:nvPr/>
        </p:nvSpPr>
        <p:spPr>
          <a:xfrm>
            <a:off x="67208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Continuity</a:t>
            </a:r>
            <a:endParaRPr lang="en-US" sz="3200" dirty="0"/>
          </a:p>
        </p:txBody>
      </p:sp>
      <p:sp>
        <p:nvSpPr>
          <p:cNvPr id="5" name="a001_f_1481"/>
          <p:cNvSpPr txBox="1"/>
          <p:nvPr/>
        </p:nvSpPr>
        <p:spPr>
          <a:xfrm>
            <a:off x="67208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/projects/:id/continuity</a:t>
            </a:r>
            <a:endParaRPr lang="en-US" sz="1050" dirty="0"/>
          </a:p>
        </p:txBody>
      </p:sp>
      <p:sp>
        <p:nvSpPr>
          <p:cNvPr id="6" name="a003_f_1482"/>
          <p:cNvSpPr txBox="1"/>
          <p:nvPr/>
        </p:nvSpPr>
        <p:spPr>
          <a:xfrm>
            <a:off x="67208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Anschlüsse sichern: Kostüm, Maske, Haare, Props – pro Szene und Darsteller.</a:t>
            </a:r>
            <a:endParaRPr lang="en-US" sz="1400" dirty="0"/>
          </a:p>
        </p:txBody>
      </p:sp>
      <p:sp>
        <p:nvSpPr>
          <p:cNvPr id="7" name="a004_f_1483"/>
          <p:cNvSpPr/>
          <p:nvPr/>
        </p:nvSpPr>
        <p:spPr>
          <a:xfrm>
            <a:off x="6739128" y="28117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8" name="a004_f_1484"/>
          <p:cNvSpPr txBox="1"/>
          <p:nvPr/>
        </p:nvSpPr>
        <p:spPr>
          <a:xfrm>
            <a:off x="69951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Einträge mit Szene, Darsteller, Kategorie</a:t>
            </a:r>
            <a:endParaRPr lang="en-US" sz="1250" dirty="0"/>
          </a:p>
        </p:txBody>
      </p:sp>
      <p:sp>
        <p:nvSpPr>
          <p:cNvPr id="9" name="a005_f_1485"/>
          <p:cNvSpPr/>
          <p:nvPr/>
        </p:nvSpPr>
        <p:spPr>
          <a:xfrm>
            <a:off x="6739128" y="31546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0" name="a005_f_1486"/>
          <p:cNvSpPr txBox="1"/>
          <p:nvPr/>
        </p:nvSpPr>
        <p:spPr>
          <a:xfrm>
            <a:off x="69951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direkt am Eintrag</a:t>
            </a:r>
            <a:endParaRPr lang="en-US" sz="1250" dirty="0"/>
          </a:p>
        </p:txBody>
      </p:sp>
      <p:sp>
        <p:nvSpPr>
          <p:cNvPr id="11" name="a006_f_1487"/>
          <p:cNvSpPr/>
          <p:nvPr/>
        </p:nvSpPr>
        <p:spPr>
          <a:xfrm>
            <a:off x="6739128" y="34975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2" name="a006_f_1488"/>
          <p:cNvSpPr txBox="1"/>
          <p:nvPr/>
        </p:nvSpPr>
        <p:spPr>
          <a:xfrm>
            <a:off x="69951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nach Szene, Darsteller, Kategorie</a:t>
            </a:r>
            <a:endParaRPr lang="en-US" sz="1250" dirty="0"/>
          </a:p>
        </p:txBody>
      </p:sp>
      <p:sp>
        <p:nvSpPr>
          <p:cNvPr id="13" name="a007_f_1489"/>
          <p:cNvSpPr/>
          <p:nvPr/>
        </p:nvSpPr>
        <p:spPr>
          <a:xfrm>
            <a:off x="6739128" y="38404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4" name="a007_f_1490"/>
          <p:cNvSpPr txBox="1"/>
          <p:nvPr/>
        </p:nvSpPr>
        <p:spPr>
          <a:xfrm>
            <a:off x="69951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der Set-App am Telefon abrufbar</a:t>
            </a:r>
            <a:endParaRPr lang="en-US" sz="1250" dirty="0"/>
          </a:p>
        </p:txBody>
      </p:sp>
      <p:sp>
        <p:nvSpPr>
          <p:cNvPr id="15" name="a012_f_1491"/>
          <p:cNvSpPr txBox="1"/>
          <p:nvPr/>
        </p:nvSpPr>
        <p:spPr>
          <a:xfrm>
            <a:off x="67208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6" name="a013_f_1492"/>
          <p:cNvSpPr txBox="1"/>
          <p:nvPr/>
        </p:nvSpPr>
        <p:spPr>
          <a:xfrm>
            <a:off x="6720840" y="5760720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F52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</a:t>
            </a:r>
            <a:endParaRPr lang="en-US" sz="950" dirty="0"/>
          </a:p>
        </p:txBody>
      </p:sp>
      <p:sp>
        <p:nvSpPr>
          <p:cNvPr id="17" name="a013_f_1493"/>
          <p:cNvSpPr txBox="1"/>
          <p:nvPr/>
        </p:nvSpPr>
        <p:spPr>
          <a:xfrm>
            <a:off x="7470648" y="576072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2D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Besetzung</a:t>
            </a:r>
            <a:endParaRPr lang="en-US" sz="950" dirty="0"/>
          </a:p>
        </p:txBody>
      </p:sp>
      <p:sp>
        <p:nvSpPr>
          <p:cNvPr id="18" name="a013_f_1494"/>
          <p:cNvSpPr txBox="1"/>
          <p:nvPr/>
        </p:nvSpPr>
        <p:spPr>
          <a:xfrm>
            <a:off x="8412480" y="5760720"/>
            <a:ext cx="72237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Set-App</a:t>
            </a:r>
            <a:endParaRPr lang="en-US" sz="950" dirty="0"/>
          </a:p>
        </p:txBody>
      </p:sp>
      <p:sp>
        <p:nvSpPr>
          <p:cNvPr id="19" name="a002_f_1495"/>
          <p:cNvSpPr/>
          <p:nvPr/>
        </p:nvSpPr>
        <p:spPr>
          <a:xfrm>
            <a:off x="420624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0" name="a002_f_1496" descr="/tmp/claude-0/-home-user-cutsheet/6324ba14-9edd-52e0-984d-db7baab43700/scratchpad/deck/img/f_continuity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11618"/>
            <a:ext cx="5989320" cy="3743325"/>
          </a:xfrm>
          <a:prstGeom prst="rect">
            <a:avLst/>
          </a:prstGeom>
        </p:spPr>
      </p:pic>
      <p:sp>
        <p:nvSpPr>
          <p:cNvPr id="21" name="s_1497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2" name="s_1498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1499"/>
          <p:cNvSpPr txBox="1"/>
          <p:nvPr/>
        </p:nvSpPr>
        <p:spPr>
          <a:xfrm>
            <a:off x="548640" y="502920"/>
            <a:ext cx="899770" cy="292608"/>
          </a:xfrm>
          <a:prstGeom prst="roundRect">
            <a:avLst>
              <a:gd name="adj" fmla="val 50000"/>
            </a:avLst>
          </a:prstGeom>
          <a:solidFill>
            <a:srgbClr val="E8F8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Drehtage</a:t>
            </a:r>
            <a:endParaRPr lang="en-US" sz="1000" dirty="0"/>
          </a:p>
        </p:txBody>
      </p:sp>
      <p:sp>
        <p:nvSpPr>
          <p:cNvPr id="3" name="a001_f_1500"/>
          <p:cNvSpPr txBox="1"/>
          <p:nvPr/>
        </p:nvSpPr>
        <p:spPr>
          <a:xfrm>
            <a:off x="37947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43 von 69</a:t>
            </a:r>
            <a:endParaRPr lang="en-US" sz="950" dirty="0"/>
          </a:p>
        </p:txBody>
      </p:sp>
      <p:sp>
        <p:nvSpPr>
          <p:cNvPr id="4" name="a001_f_1501"/>
          <p:cNvSpPr txBox="1"/>
          <p:nvPr/>
        </p:nvSpPr>
        <p:spPr>
          <a:xfrm>
            <a:off x="5486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Kameraberichte</a:t>
            </a:r>
            <a:endParaRPr lang="en-US" sz="3200" dirty="0"/>
          </a:p>
        </p:txBody>
      </p:sp>
      <p:sp>
        <p:nvSpPr>
          <p:cNvPr id="5" name="a001_f_1502"/>
          <p:cNvSpPr txBox="1"/>
          <p:nvPr/>
        </p:nvSpPr>
        <p:spPr>
          <a:xfrm>
            <a:off x="5486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/projects/:id/kameraberichte</a:t>
            </a:r>
            <a:endParaRPr lang="en-US" sz="1050" dirty="0"/>
          </a:p>
        </p:txBody>
      </p:sp>
      <p:sp>
        <p:nvSpPr>
          <p:cNvPr id="6" name="a003_f_1503"/>
          <p:cNvSpPr txBox="1"/>
          <p:nvPr/>
        </p:nvSpPr>
        <p:spPr>
          <a:xfrm>
            <a:off x="5486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und Magazine je Kamera und Drehtag.</a:t>
            </a:r>
            <a:endParaRPr lang="en-US" sz="1400" dirty="0"/>
          </a:p>
        </p:txBody>
      </p:sp>
      <p:sp>
        <p:nvSpPr>
          <p:cNvPr id="7" name="a004_f_1504"/>
          <p:cNvSpPr/>
          <p:nvPr/>
        </p:nvSpPr>
        <p:spPr>
          <a:xfrm>
            <a:off x="566928" y="28117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8" name="a004_f_1505"/>
          <p:cNvSpPr txBox="1"/>
          <p:nvPr/>
        </p:nvSpPr>
        <p:spPr>
          <a:xfrm>
            <a:off x="8229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Berichte je Kamera A–D mit Magazin und Format</a:t>
            </a:r>
            <a:endParaRPr lang="en-US" sz="1250" dirty="0"/>
          </a:p>
        </p:txBody>
      </p:sp>
      <p:sp>
        <p:nvSpPr>
          <p:cNvPr id="9" name="a005_f_1506"/>
          <p:cNvSpPr/>
          <p:nvPr/>
        </p:nvSpPr>
        <p:spPr>
          <a:xfrm>
            <a:off x="566928" y="31546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0" name="a005_f_1507"/>
          <p:cNvSpPr txBox="1"/>
          <p:nvPr/>
        </p:nvSpPr>
        <p:spPr>
          <a:xfrm>
            <a:off x="8229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Takes: Szene, Take, Timecode, Meter</a:t>
            </a:r>
            <a:endParaRPr lang="en-US" sz="1250" dirty="0"/>
          </a:p>
        </p:txBody>
      </p:sp>
      <p:sp>
        <p:nvSpPr>
          <p:cNvPr id="11" name="a006_f_1508"/>
          <p:cNvSpPr/>
          <p:nvPr/>
        </p:nvSpPr>
        <p:spPr>
          <a:xfrm>
            <a:off x="566928" y="34975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2" name="a006_f_1509"/>
          <p:cNvSpPr txBox="1"/>
          <p:nvPr/>
        </p:nvSpPr>
        <p:spPr>
          <a:xfrm>
            <a:off x="8229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Circle, Fehlstart, stumm markieren</a:t>
            </a:r>
            <a:endParaRPr lang="en-US" sz="1250" dirty="0"/>
          </a:p>
        </p:txBody>
      </p:sp>
      <p:sp>
        <p:nvSpPr>
          <p:cNvPr id="13" name="a007_f_1510"/>
          <p:cNvSpPr/>
          <p:nvPr/>
        </p:nvSpPr>
        <p:spPr>
          <a:xfrm>
            <a:off x="566928" y="38404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4" name="a007_f_1511"/>
          <p:cNvSpPr txBox="1"/>
          <p:nvPr/>
        </p:nvSpPr>
        <p:spPr>
          <a:xfrm>
            <a:off x="8229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und Circle Takes gesamt</a:t>
            </a:r>
            <a:endParaRPr lang="en-US" sz="1250" dirty="0"/>
          </a:p>
        </p:txBody>
      </p:sp>
      <p:sp>
        <p:nvSpPr>
          <p:cNvPr id="15" name="a008_f_1512"/>
          <p:cNvSpPr/>
          <p:nvPr/>
        </p:nvSpPr>
        <p:spPr>
          <a:xfrm>
            <a:off x="566928" y="41833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6" name="a008_f_1513"/>
          <p:cNvSpPr txBox="1"/>
          <p:nvPr/>
        </p:nvSpPr>
        <p:spPr>
          <a:xfrm>
            <a:off x="822960" y="41148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Kamerabericht als PDF</a:t>
            </a:r>
            <a:endParaRPr lang="en-US" sz="1250" dirty="0"/>
          </a:p>
        </p:txBody>
      </p:sp>
      <p:sp>
        <p:nvSpPr>
          <p:cNvPr id="17" name="a012_f_1514"/>
          <p:cNvSpPr txBox="1"/>
          <p:nvPr/>
        </p:nvSpPr>
        <p:spPr>
          <a:xfrm>
            <a:off x="5486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8" name="a013_f_1515"/>
          <p:cNvSpPr txBox="1"/>
          <p:nvPr/>
        </p:nvSpPr>
        <p:spPr>
          <a:xfrm>
            <a:off x="548640" y="576072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Shotlist</a:t>
            </a:r>
            <a:endParaRPr lang="en-US" sz="950" dirty="0"/>
          </a:p>
        </p:txBody>
      </p:sp>
      <p:sp>
        <p:nvSpPr>
          <p:cNvPr id="19" name="a013_f_1516"/>
          <p:cNvSpPr txBox="1"/>
          <p:nvPr/>
        </p:nvSpPr>
        <p:spPr>
          <a:xfrm>
            <a:off x="1426464" y="5760720"/>
            <a:ext cx="104241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Tagesbericht</a:t>
            </a:r>
            <a:endParaRPr lang="en-US" sz="950" dirty="0"/>
          </a:p>
        </p:txBody>
      </p:sp>
      <p:sp>
        <p:nvSpPr>
          <p:cNvPr id="20" name="a002_f_1517"/>
          <p:cNvSpPr/>
          <p:nvPr/>
        </p:nvSpPr>
        <p:spPr>
          <a:xfrm>
            <a:off x="5617159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1" name="a002_f_1518" descr="/tmp/claude-0/-home-user-cutsheet/6324ba14-9edd-52e0-984d-db7baab43700/scratchpad/deck/img/f_kameraberichte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455" y="1511618"/>
            <a:ext cx="5989320" cy="3743325"/>
          </a:xfrm>
          <a:prstGeom prst="rect">
            <a:avLst/>
          </a:prstGeom>
        </p:spPr>
      </p:pic>
      <p:sp>
        <p:nvSpPr>
          <p:cNvPr id="22" name="s_1519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3" name="s_1520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1521"/>
          <p:cNvSpPr txBox="1"/>
          <p:nvPr/>
        </p:nvSpPr>
        <p:spPr>
          <a:xfrm>
            <a:off x="6720840" y="502920"/>
            <a:ext cx="899770" cy="292608"/>
          </a:xfrm>
          <a:prstGeom prst="roundRect">
            <a:avLst>
              <a:gd name="adj" fmla="val 50000"/>
            </a:avLst>
          </a:prstGeom>
          <a:solidFill>
            <a:srgbClr val="E8F8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Drehtage</a:t>
            </a:r>
            <a:endParaRPr lang="en-US" sz="1000" dirty="0"/>
          </a:p>
        </p:txBody>
      </p:sp>
      <p:sp>
        <p:nvSpPr>
          <p:cNvPr id="3" name="a001_f_1522"/>
          <p:cNvSpPr txBox="1"/>
          <p:nvPr/>
        </p:nvSpPr>
        <p:spPr>
          <a:xfrm>
            <a:off x="99669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44 von 69</a:t>
            </a:r>
            <a:endParaRPr lang="en-US" sz="950" dirty="0"/>
          </a:p>
        </p:txBody>
      </p:sp>
      <p:sp>
        <p:nvSpPr>
          <p:cNvPr id="4" name="a001_f_1523"/>
          <p:cNvSpPr txBox="1"/>
          <p:nvPr/>
        </p:nvSpPr>
        <p:spPr>
          <a:xfrm>
            <a:off x="67208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Tagesbericht</a:t>
            </a:r>
            <a:endParaRPr lang="en-US" sz="3200" dirty="0"/>
          </a:p>
        </p:txBody>
      </p:sp>
      <p:sp>
        <p:nvSpPr>
          <p:cNvPr id="5" name="a001_f_1524"/>
          <p:cNvSpPr txBox="1"/>
          <p:nvPr/>
        </p:nvSpPr>
        <p:spPr>
          <a:xfrm>
            <a:off x="67208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/projects/:id/tagesbericht</a:t>
            </a:r>
            <a:endParaRPr lang="en-US" sz="1050" dirty="0"/>
          </a:p>
        </p:txBody>
      </p:sp>
      <p:sp>
        <p:nvSpPr>
          <p:cNvPr id="6" name="a003_f_1525"/>
          <p:cNvSpPr txBox="1"/>
          <p:nvPr/>
        </p:nvSpPr>
        <p:spPr>
          <a:xfrm>
            <a:off x="67208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heute wirklich passiert ist – Zeiten, Szenen, Rollen, Notizen.</a:t>
            </a:r>
            <a:endParaRPr lang="en-US" sz="1400" dirty="0"/>
          </a:p>
        </p:txBody>
      </p:sp>
      <p:sp>
        <p:nvSpPr>
          <p:cNvPr id="7" name="a004_f_1526"/>
          <p:cNvSpPr/>
          <p:nvPr/>
        </p:nvSpPr>
        <p:spPr>
          <a:xfrm>
            <a:off x="6739128" y="28117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8" name="a004_f_1527"/>
          <p:cNvSpPr txBox="1"/>
          <p:nvPr/>
        </p:nvSpPr>
        <p:spPr>
          <a:xfrm>
            <a:off x="69951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Call, First Shot, Mittag, Drehschluss; Netto-Drehzeit</a:t>
            </a:r>
            <a:endParaRPr lang="en-US" sz="1250" dirty="0"/>
          </a:p>
        </p:txBody>
      </p:sp>
      <p:sp>
        <p:nvSpPr>
          <p:cNvPr id="9" name="a005_f_1528"/>
          <p:cNvSpPr/>
          <p:nvPr/>
        </p:nvSpPr>
        <p:spPr>
          <a:xfrm>
            <a:off x="6739128" y="31546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0" name="a005_f_1529"/>
          <p:cNvSpPr txBox="1"/>
          <p:nvPr/>
        </p:nvSpPr>
        <p:spPr>
          <a:xfrm>
            <a:off x="69951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Seiten, Setups, Kamera- und Tonrollen</a:t>
            </a:r>
            <a:endParaRPr lang="en-US" sz="1250" dirty="0"/>
          </a:p>
        </p:txBody>
      </p:sp>
      <p:sp>
        <p:nvSpPr>
          <p:cNvPr id="11" name="a006_f_1530"/>
          <p:cNvSpPr/>
          <p:nvPr/>
        </p:nvSpPr>
        <p:spPr>
          <a:xfrm>
            <a:off x="6739128" y="34975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2" name="a006_f_1531"/>
          <p:cNvSpPr txBox="1"/>
          <p:nvPr/>
        </p:nvSpPr>
        <p:spPr>
          <a:xfrm>
            <a:off x="69951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 abgedreht / angedreht, gemessene Minuten</a:t>
            </a:r>
            <a:endParaRPr lang="en-US" sz="1250" dirty="0"/>
          </a:p>
        </p:txBody>
      </p:sp>
      <p:sp>
        <p:nvSpPr>
          <p:cNvPr id="13" name="a007_f_1532"/>
          <p:cNvSpPr/>
          <p:nvPr/>
        </p:nvSpPr>
        <p:spPr>
          <a:xfrm>
            <a:off x="6739128" y="38404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4" name="a007_f_1533"/>
          <p:cNvSpPr txBox="1"/>
          <p:nvPr/>
        </p:nvSpPr>
        <p:spPr>
          <a:xfrm>
            <a:off x="69951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Warnung bei Abweichung vom Plan</a:t>
            </a:r>
            <a:endParaRPr lang="en-US" sz="1250" dirty="0"/>
          </a:p>
        </p:txBody>
      </p:sp>
      <p:sp>
        <p:nvSpPr>
          <p:cNvPr id="15" name="a008_f_1534"/>
          <p:cNvSpPr/>
          <p:nvPr/>
        </p:nvSpPr>
        <p:spPr>
          <a:xfrm>
            <a:off x="6739128" y="41833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6" name="a008_f_1535"/>
          <p:cNvSpPr txBox="1"/>
          <p:nvPr/>
        </p:nvSpPr>
        <p:spPr>
          <a:xfrm>
            <a:off x="6995160" y="41148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Drehbericht und interne Notizen, PDF</a:t>
            </a:r>
            <a:endParaRPr lang="en-US" sz="1250" dirty="0"/>
          </a:p>
        </p:txBody>
      </p:sp>
      <p:sp>
        <p:nvSpPr>
          <p:cNvPr id="17" name="a012_f_1536"/>
          <p:cNvSpPr txBox="1"/>
          <p:nvPr/>
        </p:nvSpPr>
        <p:spPr>
          <a:xfrm>
            <a:off x="67208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8" name="a013_f_1537"/>
          <p:cNvSpPr txBox="1"/>
          <p:nvPr/>
        </p:nvSpPr>
        <p:spPr>
          <a:xfrm>
            <a:off x="6720840" y="5760720"/>
            <a:ext cx="97840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Zeitanalyse</a:t>
            </a:r>
            <a:endParaRPr lang="en-US" sz="950" dirty="0"/>
          </a:p>
        </p:txBody>
      </p:sp>
      <p:sp>
        <p:nvSpPr>
          <p:cNvPr id="19" name="a013_f_1538"/>
          <p:cNvSpPr txBox="1"/>
          <p:nvPr/>
        </p:nvSpPr>
        <p:spPr>
          <a:xfrm>
            <a:off x="7790688" y="576072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Drehplan</a:t>
            </a:r>
            <a:endParaRPr lang="en-US" sz="950" dirty="0"/>
          </a:p>
        </p:txBody>
      </p:sp>
      <p:sp>
        <p:nvSpPr>
          <p:cNvPr id="20" name="a013_f_1539"/>
          <p:cNvSpPr txBox="1"/>
          <p:nvPr/>
        </p:nvSpPr>
        <p:spPr>
          <a:xfrm>
            <a:off x="8668512" y="576072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71E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50" dirty="0"/>
          </a:p>
        </p:txBody>
      </p:sp>
      <p:sp>
        <p:nvSpPr>
          <p:cNvPr id="21" name="a013_f_1540"/>
          <p:cNvSpPr txBox="1"/>
          <p:nvPr/>
        </p:nvSpPr>
        <p:spPr>
          <a:xfrm>
            <a:off x="9610344" y="5760720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Kameraberichte</a:t>
            </a:r>
            <a:endParaRPr lang="en-US" sz="950" dirty="0"/>
          </a:p>
        </p:txBody>
      </p:sp>
      <p:sp>
        <p:nvSpPr>
          <p:cNvPr id="22" name="a002_f_1541"/>
          <p:cNvSpPr/>
          <p:nvPr/>
        </p:nvSpPr>
        <p:spPr>
          <a:xfrm>
            <a:off x="420624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3" name="a002_f_1542" descr="/tmp/claude-0/-home-user-cutsheet/6324ba14-9edd-52e0-984d-db7baab43700/scratchpad/deck/img/light_projects_168_tagesbericht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11618"/>
            <a:ext cx="5989320" cy="3743325"/>
          </a:xfrm>
          <a:prstGeom prst="rect">
            <a:avLst/>
          </a:prstGeom>
        </p:spPr>
      </p:pic>
      <p:sp>
        <p:nvSpPr>
          <p:cNvPr id="24" name="s_1543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5" name="s_1544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48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1545"/>
          <p:cNvSpPr txBox="1"/>
          <p:nvPr/>
        </p:nvSpPr>
        <p:spPr>
          <a:xfrm>
            <a:off x="548640" y="502920"/>
            <a:ext cx="899770" cy="292608"/>
          </a:xfrm>
          <a:prstGeom prst="roundRect">
            <a:avLst>
              <a:gd name="adj" fmla="val 50000"/>
            </a:avLst>
          </a:prstGeom>
          <a:solidFill>
            <a:srgbClr val="E8F8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Drehtage</a:t>
            </a:r>
            <a:endParaRPr lang="en-US" sz="1000" dirty="0"/>
          </a:p>
        </p:txBody>
      </p:sp>
      <p:sp>
        <p:nvSpPr>
          <p:cNvPr id="3" name="a001_f_1546"/>
          <p:cNvSpPr txBox="1"/>
          <p:nvPr/>
        </p:nvSpPr>
        <p:spPr>
          <a:xfrm>
            <a:off x="37947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45 von 69</a:t>
            </a:r>
            <a:endParaRPr lang="en-US" sz="950" dirty="0"/>
          </a:p>
        </p:txBody>
      </p:sp>
      <p:sp>
        <p:nvSpPr>
          <p:cNvPr id="4" name="a001_f_1547"/>
          <p:cNvSpPr txBox="1"/>
          <p:nvPr/>
        </p:nvSpPr>
        <p:spPr>
          <a:xfrm>
            <a:off x="5486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Zeitanalyse</a:t>
            </a:r>
            <a:endParaRPr lang="en-US" sz="3200" dirty="0"/>
          </a:p>
        </p:txBody>
      </p:sp>
      <p:sp>
        <p:nvSpPr>
          <p:cNvPr id="5" name="a001_f_1548"/>
          <p:cNvSpPr txBox="1"/>
          <p:nvPr/>
        </p:nvSpPr>
        <p:spPr>
          <a:xfrm>
            <a:off x="5486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/projects/:id/zeitanalyse</a:t>
            </a:r>
            <a:endParaRPr lang="en-US" sz="1050" dirty="0"/>
          </a:p>
        </p:txBody>
      </p:sp>
      <p:sp>
        <p:nvSpPr>
          <p:cNvPr id="6" name="a003_f_1549"/>
          <p:cNvSpPr txBox="1"/>
          <p:nvPr/>
        </p:nvSpPr>
        <p:spPr>
          <a:xfrm>
            <a:off x="5486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gegen Wirklichkeit – für jede Szene.</a:t>
            </a:r>
            <a:endParaRPr lang="en-US" sz="1400" dirty="0"/>
          </a:p>
        </p:txBody>
      </p:sp>
      <p:sp>
        <p:nvSpPr>
          <p:cNvPr id="7" name="a004_f_1550"/>
          <p:cNvSpPr/>
          <p:nvPr/>
        </p:nvSpPr>
        <p:spPr>
          <a:xfrm>
            <a:off x="566928" y="28117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8" name="a004_f_1551"/>
          <p:cNvSpPr txBox="1"/>
          <p:nvPr/>
        </p:nvSpPr>
        <p:spPr>
          <a:xfrm>
            <a:off x="8229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Geplant, Ist, Differenz über alle Szenen</a:t>
            </a:r>
            <a:endParaRPr lang="en-US" sz="1250" dirty="0"/>
          </a:p>
        </p:txBody>
      </p:sp>
      <p:sp>
        <p:nvSpPr>
          <p:cNvPr id="9" name="a005_f_1552"/>
          <p:cNvSpPr/>
          <p:nvPr/>
        </p:nvSpPr>
        <p:spPr>
          <a:xfrm>
            <a:off x="566928" y="31546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0" name="a005_f_1553"/>
          <p:cNvSpPr txBox="1"/>
          <p:nvPr/>
        </p:nvSpPr>
        <p:spPr>
          <a:xfrm>
            <a:off x="8229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Balken Plan/Ist je Szene</a:t>
            </a:r>
            <a:endParaRPr lang="en-US" sz="1250" dirty="0"/>
          </a:p>
        </p:txBody>
      </p:sp>
      <p:sp>
        <p:nvSpPr>
          <p:cNvPr id="11" name="a006_f_1554"/>
          <p:cNvSpPr/>
          <p:nvPr/>
        </p:nvSpPr>
        <p:spPr>
          <a:xfrm>
            <a:off x="566928" y="34975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2" name="a006_f_1555"/>
          <p:cNvSpPr txBox="1"/>
          <p:nvPr/>
        </p:nvSpPr>
        <p:spPr>
          <a:xfrm>
            <a:off x="8229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Überzogen, im Plan, gespart</a:t>
            </a:r>
            <a:endParaRPr lang="en-US" sz="1250" dirty="0"/>
          </a:p>
        </p:txBody>
      </p:sp>
      <p:sp>
        <p:nvSpPr>
          <p:cNvPr id="13" name="a007_f_1556"/>
          <p:cNvSpPr/>
          <p:nvPr/>
        </p:nvSpPr>
        <p:spPr>
          <a:xfrm>
            <a:off x="566928" y="38404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4" name="a007_f_1557"/>
          <p:cNvSpPr txBox="1"/>
          <p:nvPr/>
        </p:nvSpPr>
        <p:spPr>
          <a:xfrm>
            <a:off x="8229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Gemessene Zeiten vor Schätzung, Schätzungen markiert</a:t>
            </a:r>
            <a:endParaRPr lang="en-US" sz="1250" dirty="0"/>
          </a:p>
        </p:txBody>
      </p:sp>
      <p:sp>
        <p:nvSpPr>
          <p:cNvPr id="15" name="a012_f_1558"/>
          <p:cNvSpPr txBox="1"/>
          <p:nvPr/>
        </p:nvSpPr>
        <p:spPr>
          <a:xfrm>
            <a:off x="5486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6" name="a013_f_1559"/>
          <p:cNvSpPr txBox="1"/>
          <p:nvPr/>
        </p:nvSpPr>
        <p:spPr>
          <a:xfrm>
            <a:off x="548640" y="5760720"/>
            <a:ext cx="104241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Tagesbericht</a:t>
            </a:r>
            <a:endParaRPr lang="en-US" sz="950" dirty="0"/>
          </a:p>
        </p:txBody>
      </p:sp>
      <p:sp>
        <p:nvSpPr>
          <p:cNvPr id="17" name="a013_f_1560"/>
          <p:cNvSpPr txBox="1"/>
          <p:nvPr/>
        </p:nvSpPr>
        <p:spPr>
          <a:xfrm>
            <a:off x="1682496" y="5760720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F52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</a:t>
            </a:r>
            <a:endParaRPr lang="en-US" sz="950" dirty="0"/>
          </a:p>
        </p:txBody>
      </p:sp>
      <p:sp>
        <p:nvSpPr>
          <p:cNvPr id="18" name="a013_f_1561"/>
          <p:cNvSpPr txBox="1"/>
          <p:nvPr/>
        </p:nvSpPr>
        <p:spPr>
          <a:xfrm>
            <a:off x="2432304" y="576072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Drehplan</a:t>
            </a:r>
            <a:endParaRPr lang="en-US" sz="950" dirty="0"/>
          </a:p>
        </p:txBody>
      </p:sp>
      <p:sp>
        <p:nvSpPr>
          <p:cNvPr id="19" name="a002_f_1562"/>
          <p:cNvSpPr/>
          <p:nvPr/>
        </p:nvSpPr>
        <p:spPr>
          <a:xfrm>
            <a:off x="5617159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0" name="a002_f_1563" descr="/tmp/claude-0/-home-user-cutsheet/6324ba14-9edd-52e0-984d-db7baab43700/scratchpad/deck/img/light_projects_168_zeitanalyse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455" y="1511618"/>
            <a:ext cx="5989320" cy="3743325"/>
          </a:xfrm>
          <a:prstGeom prst="rect">
            <a:avLst/>
          </a:prstGeom>
        </p:spPr>
      </p:pic>
      <p:sp>
        <p:nvSpPr>
          <p:cNvPr id="21" name="s_1564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2" name="s_1565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1566"/>
          <p:cNvSpPr txBox="1"/>
          <p:nvPr/>
        </p:nvSpPr>
        <p:spPr>
          <a:xfrm>
            <a:off x="6720840" y="502920"/>
            <a:ext cx="899770" cy="292608"/>
          </a:xfrm>
          <a:prstGeom prst="roundRect">
            <a:avLst>
              <a:gd name="adj" fmla="val 50000"/>
            </a:avLst>
          </a:prstGeom>
          <a:solidFill>
            <a:srgbClr val="E8F8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Drehtage</a:t>
            </a:r>
            <a:endParaRPr lang="en-US" sz="1000" dirty="0"/>
          </a:p>
        </p:txBody>
      </p:sp>
      <p:sp>
        <p:nvSpPr>
          <p:cNvPr id="3" name="a001_f_1567"/>
          <p:cNvSpPr txBox="1"/>
          <p:nvPr/>
        </p:nvSpPr>
        <p:spPr>
          <a:xfrm>
            <a:off x="99669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46 von 69</a:t>
            </a:r>
            <a:endParaRPr lang="en-US" sz="950" dirty="0"/>
          </a:p>
        </p:txBody>
      </p:sp>
      <p:sp>
        <p:nvSpPr>
          <p:cNvPr id="4" name="a001_f_1568"/>
          <p:cNvSpPr txBox="1"/>
          <p:nvPr/>
        </p:nvSpPr>
        <p:spPr>
          <a:xfrm>
            <a:off x="67208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Timesheets</a:t>
            </a:r>
            <a:endParaRPr lang="en-US" sz="3200" dirty="0"/>
          </a:p>
        </p:txBody>
      </p:sp>
      <p:sp>
        <p:nvSpPr>
          <p:cNvPr id="5" name="a001_f_1569"/>
          <p:cNvSpPr txBox="1"/>
          <p:nvPr/>
        </p:nvSpPr>
        <p:spPr>
          <a:xfrm>
            <a:off x="67208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/projects/:id/timesheets</a:t>
            </a:r>
            <a:endParaRPr lang="en-US" sz="1050" dirty="0"/>
          </a:p>
        </p:txBody>
      </p:sp>
      <p:sp>
        <p:nvSpPr>
          <p:cNvPr id="6" name="a003_f_1570"/>
          <p:cNvSpPr txBox="1"/>
          <p:nvPr/>
        </p:nvSpPr>
        <p:spPr>
          <a:xfrm>
            <a:off x="67208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Call- und Wrap-Zeiten je Person – mit Überstunden und Mahlzeit-Penalties.</a:t>
            </a:r>
            <a:endParaRPr lang="en-US" sz="1400" dirty="0"/>
          </a:p>
        </p:txBody>
      </p:sp>
      <p:sp>
        <p:nvSpPr>
          <p:cNvPr id="7" name="a004_f_1571"/>
          <p:cNvSpPr/>
          <p:nvPr/>
        </p:nvSpPr>
        <p:spPr>
          <a:xfrm>
            <a:off x="6739128" y="28117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8" name="a004_f_1572"/>
          <p:cNvSpPr txBox="1"/>
          <p:nvPr/>
        </p:nvSpPr>
        <p:spPr>
          <a:xfrm>
            <a:off x="69951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Einträge je Drehtag für Cast und Crew</a:t>
            </a:r>
            <a:endParaRPr lang="en-US" sz="1250" dirty="0"/>
          </a:p>
        </p:txBody>
      </p:sp>
      <p:sp>
        <p:nvSpPr>
          <p:cNvPr id="9" name="a005_f_1573"/>
          <p:cNvSpPr/>
          <p:nvPr/>
        </p:nvSpPr>
        <p:spPr>
          <a:xfrm>
            <a:off x="6739128" y="31546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0" name="a005_f_1574"/>
          <p:cNvSpPr txBox="1"/>
          <p:nvPr/>
        </p:nvSpPr>
        <p:spPr>
          <a:xfrm>
            <a:off x="69951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Überstunden automatisch berechnet</a:t>
            </a:r>
            <a:endParaRPr lang="en-US" sz="1250" dirty="0"/>
          </a:p>
        </p:txBody>
      </p:sp>
      <p:sp>
        <p:nvSpPr>
          <p:cNvPr id="11" name="a006_f_1575"/>
          <p:cNvSpPr/>
          <p:nvPr/>
        </p:nvSpPr>
        <p:spPr>
          <a:xfrm>
            <a:off x="6739128" y="34975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2" name="a006_f_1576"/>
          <p:cNvSpPr txBox="1"/>
          <p:nvPr/>
        </p:nvSpPr>
        <p:spPr>
          <a:xfrm>
            <a:off x="69951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Mahlzeit-Penalty abhaken</a:t>
            </a:r>
            <a:endParaRPr lang="en-US" sz="1250" dirty="0"/>
          </a:p>
        </p:txBody>
      </p:sp>
      <p:sp>
        <p:nvSpPr>
          <p:cNvPr id="13" name="a007_f_1577"/>
          <p:cNvSpPr/>
          <p:nvPr/>
        </p:nvSpPr>
        <p:spPr>
          <a:xfrm>
            <a:off x="6739128" y="38404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4" name="a007_f_1578"/>
          <p:cNvSpPr txBox="1"/>
          <p:nvPr/>
        </p:nvSpPr>
        <p:spPr>
          <a:xfrm>
            <a:off x="69951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Turnaround-Warnung bei spätem Wrap</a:t>
            </a:r>
            <a:endParaRPr lang="en-US" sz="1250" dirty="0"/>
          </a:p>
        </p:txBody>
      </p:sp>
      <p:sp>
        <p:nvSpPr>
          <p:cNvPr id="15" name="a008_f_1579"/>
          <p:cNvSpPr/>
          <p:nvPr/>
        </p:nvSpPr>
        <p:spPr>
          <a:xfrm>
            <a:off x="6739128" y="41833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6" name="a008_f_1580"/>
          <p:cNvSpPr txBox="1"/>
          <p:nvPr/>
        </p:nvSpPr>
        <p:spPr>
          <a:xfrm>
            <a:off x="6995160" y="41148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CSV-Export und Lohnexport (Drehtage × Gage + Überstunden)</a:t>
            </a:r>
            <a:endParaRPr lang="en-US" sz="1250" dirty="0"/>
          </a:p>
        </p:txBody>
      </p:sp>
      <p:sp>
        <p:nvSpPr>
          <p:cNvPr id="17" name="a012_f_1581"/>
          <p:cNvSpPr txBox="1"/>
          <p:nvPr/>
        </p:nvSpPr>
        <p:spPr>
          <a:xfrm>
            <a:off x="67208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8" name="a013_f_1582"/>
          <p:cNvSpPr txBox="1"/>
          <p:nvPr/>
        </p:nvSpPr>
        <p:spPr>
          <a:xfrm>
            <a:off x="6720840" y="576072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2D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Stabliste</a:t>
            </a:r>
            <a:endParaRPr lang="en-US" sz="950" dirty="0"/>
          </a:p>
        </p:txBody>
      </p:sp>
      <p:sp>
        <p:nvSpPr>
          <p:cNvPr id="19" name="a013_f_1583"/>
          <p:cNvSpPr txBox="1"/>
          <p:nvPr/>
        </p:nvSpPr>
        <p:spPr>
          <a:xfrm>
            <a:off x="7662672" y="576072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2D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Besetzung</a:t>
            </a:r>
            <a:endParaRPr lang="en-US" sz="950" dirty="0"/>
          </a:p>
        </p:txBody>
      </p:sp>
      <p:sp>
        <p:nvSpPr>
          <p:cNvPr id="20" name="a013_f_1584"/>
          <p:cNvSpPr txBox="1"/>
          <p:nvPr/>
        </p:nvSpPr>
        <p:spPr>
          <a:xfrm>
            <a:off x="8604504" y="576072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Tagesdispo</a:t>
            </a:r>
            <a:endParaRPr lang="en-US" sz="950" dirty="0"/>
          </a:p>
        </p:txBody>
      </p:sp>
      <p:sp>
        <p:nvSpPr>
          <p:cNvPr id="21" name="a013_f_1585"/>
          <p:cNvSpPr txBox="1"/>
          <p:nvPr/>
        </p:nvSpPr>
        <p:spPr>
          <a:xfrm>
            <a:off x="9610344" y="5760720"/>
            <a:ext cx="110642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Konfliktradar</a:t>
            </a:r>
            <a:endParaRPr lang="en-US" sz="950" dirty="0"/>
          </a:p>
        </p:txBody>
      </p:sp>
      <p:sp>
        <p:nvSpPr>
          <p:cNvPr id="22" name="a002_f_1586"/>
          <p:cNvSpPr/>
          <p:nvPr/>
        </p:nvSpPr>
        <p:spPr>
          <a:xfrm>
            <a:off x="420624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3" name="a002_f_1587" descr="/tmp/claude-0/-home-user-cutsheet/6324ba14-9edd-52e0-984d-db7baab43700/scratchpad/deck/img/f_timesheets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11618"/>
            <a:ext cx="5989320" cy="3743325"/>
          </a:xfrm>
          <a:prstGeom prst="rect">
            <a:avLst/>
          </a:prstGeom>
        </p:spPr>
      </p:pic>
      <p:sp>
        <p:nvSpPr>
          <p:cNvPr id="24" name="s_1588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5" name="s_1589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48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1590"/>
          <p:cNvSpPr txBox="1"/>
          <p:nvPr/>
        </p:nvSpPr>
        <p:spPr>
          <a:xfrm>
            <a:off x="548640" y="502920"/>
            <a:ext cx="899770" cy="292608"/>
          </a:xfrm>
          <a:prstGeom prst="roundRect">
            <a:avLst>
              <a:gd name="adj" fmla="val 50000"/>
            </a:avLst>
          </a:prstGeom>
          <a:solidFill>
            <a:srgbClr val="E8F8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Drehtage</a:t>
            </a:r>
            <a:endParaRPr lang="en-US" sz="1000" dirty="0"/>
          </a:p>
        </p:txBody>
      </p:sp>
      <p:sp>
        <p:nvSpPr>
          <p:cNvPr id="3" name="a001_f_1591"/>
          <p:cNvSpPr txBox="1"/>
          <p:nvPr/>
        </p:nvSpPr>
        <p:spPr>
          <a:xfrm>
            <a:off x="26517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47 von 69</a:t>
            </a:r>
            <a:endParaRPr lang="en-US" sz="950" dirty="0"/>
          </a:p>
        </p:txBody>
      </p:sp>
      <p:sp>
        <p:nvSpPr>
          <p:cNvPr id="4" name="a001_f_1592"/>
          <p:cNvSpPr txBox="1"/>
          <p:nvPr/>
        </p:nvSpPr>
        <p:spPr>
          <a:xfrm>
            <a:off x="548640" y="9144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Set-App</a:t>
            </a:r>
            <a:endParaRPr lang="en-US" sz="3200" dirty="0"/>
          </a:p>
        </p:txBody>
      </p:sp>
      <p:sp>
        <p:nvSpPr>
          <p:cNvPr id="5" name="a001_f_1593"/>
          <p:cNvSpPr txBox="1"/>
          <p:nvPr/>
        </p:nvSpPr>
        <p:spPr>
          <a:xfrm>
            <a:off x="548640" y="15910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/set</a:t>
            </a:r>
            <a:endParaRPr lang="en-US" sz="1050" dirty="0"/>
          </a:p>
        </p:txBody>
      </p:sp>
      <p:sp>
        <p:nvSpPr>
          <p:cNvPr id="6" name="a003_f_1594"/>
          <p:cNvSpPr txBox="1"/>
          <p:nvPr/>
        </p:nvSpPr>
        <p:spPr>
          <a:xfrm>
            <a:off x="548640" y="193852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 fürs Telefon am Set – groß, schnell, mit einer Hand.</a:t>
            </a:r>
            <a:endParaRPr lang="en-US" sz="1400" dirty="0"/>
          </a:p>
        </p:txBody>
      </p:sp>
      <p:sp>
        <p:nvSpPr>
          <p:cNvPr id="7" name="a004_f_1595"/>
          <p:cNvSpPr/>
          <p:nvPr/>
        </p:nvSpPr>
        <p:spPr>
          <a:xfrm>
            <a:off x="566928" y="2811780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8" name="a004_f_1596"/>
          <p:cNvSpPr txBox="1"/>
          <p:nvPr/>
        </p:nvSpPr>
        <p:spPr>
          <a:xfrm>
            <a:off x="822960" y="274320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 und Drehtag wählen – bleibt gemerkt</a:t>
            </a:r>
            <a:endParaRPr lang="en-US" sz="1250" dirty="0"/>
          </a:p>
        </p:txBody>
      </p:sp>
      <p:sp>
        <p:nvSpPr>
          <p:cNvPr id="9" name="a005_f_1597"/>
          <p:cNvSpPr/>
          <p:nvPr/>
        </p:nvSpPr>
        <p:spPr>
          <a:xfrm>
            <a:off x="566928" y="3369564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0" name="a005_f_1598"/>
          <p:cNvSpPr txBox="1"/>
          <p:nvPr/>
        </p:nvSpPr>
        <p:spPr>
          <a:xfrm>
            <a:off x="822960" y="3300984"/>
            <a:ext cx="3474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Dispo: Call-Zeiten groß</a:t>
            </a:r>
            <a:endParaRPr lang="en-US" sz="1250" dirty="0"/>
          </a:p>
        </p:txBody>
      </p:sp>
      <p:sp>
        <p:nvSpPr>
          <p:cNvPr id="11" name="a006_f_1599"/>
          <p:cNvSpPr/>
          <p:nvPr/>
        </p:nvSpPr>
        <p:spPr>
          <a:xfrm>
            <a:off x="566928" y="3712464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2" name="a006_f_1600"/>
          <p:cNvSpPr txBox="1"/>
          <p:nvPr/>
        </p:nvSpPr>
        <p:spPr>
          <a:xfrm>
            <a:off x="822960" y="3643884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Shots des Tages abhaken, Check-in der Personen</a:t>
            </a:r>
            <a:endParaRPr lang="en-US" sz="1250" dirty="0"/>
          </a:p>
        </p:txBody>
      </p:sp>
      <p:sp>
        <p:nvSpPr>
          <p:cNvPr id="13" name="a007_f_1601"/>
          <p:cNvSpPr/>
          <p:nvPr/>
        </p:nvSpPr>
        <p:spPr>
          <a:xfrm>
            <a:off x="566928" y="4270248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4" name="a007_f_1602"/>
          <p:cNvSpPr txBox="1"/>
          <p:nvPr/>
        </p:nvSpPr>
        <p:spPr>
          <a:xfrm>
            <a:off x="822960" y="4201668"/>
            <a:ext cx="3474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Continuity je Szene nachschlagen</a:t>
            </a:r>
            <a:endParaRPr lang="en-US" sz="1250" dirty="0"/>
          </a:p>
        </p:txBody>
      </p:sp>
      <p:sp>
        <p:nvSpPr>
          <p:cNvPr id="15" name="a008_f_1603"/>
          <p:cNvSpPr/>
          <p:nvPr/>
        </p:nvSpPr>
        <p:spPr>
          <a:xfrm>
            <a:off x="566928" y="4613148"/>
            <a:ext cx="118872" cy="118872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6" name="a008_f_1604"/>
          <p:cNvSpPr txBox="1"/>
          <p:nvPr/>
        </p:nvSpPr>
        <p:spPr>
          <a:xfrm>
            <a:off x="822960" y="4544568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drei Tage verfügbar, installierbar aufs Homescreen</a:t>
            </a:r>
            <a:endParaRPr lang="en-US" sz="1250" dirty="0"/>
          </a:p>
        </p:txBody>
      </p:sp>
      <p:sp>
        <p:nvSpPr>
          <p:cNvPr id="17" name="a012_f_1605"/>
          <p:cNvSpPr txBox="1"/>
          <p:nvPr/>
        </p:nvSpPr>
        <p:spPr>
          <a:xfrm>
            <a:off x="548640" y="53400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8" name="a013_f_1606"/>
          <p:cNvSpPr txBox="1"/>
          <p:nvPr/>
        </p:nvSpPr>
        <p:spPr>
          <a:xfrm>
            <a:off x="548640" y="5614416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Tagesdispo</a:t>
            </a:r>
            <a:endParaRPr lang="en-US" sz="950" dirty="0"/>
          </a:p>
        </p:txBody>
      </p:sp>
      <p:sp>
        <p:nvSpPr>
          <p:cNvPr id="19" name="a013_f_1607"/>
          <p:cNvSpPr txBox="1"/>
          <p:nvPr/>
        </p:nvSpPr>
        <p:spPr>
          <a:xfrm>
            <a:off x="1554480" y="5614416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Shotlist</a:t>
            </a:r>
            <a:endParaRPr lang="en-US" sz="950" dirty="0"/>
          </a:p>
        </p:txBody>
      </p:sp>
      <p:sp>
        <p:nvSpPr>
          <p:cNvPr id="20" name="a013_f_1608"/>
          <p:cNvSpPr txBox="1"/>
          <p:nvPr/>
        </p:nvSpPr>
        <p:spPr>
          <a:xfrm>
            <a:off x="2432304" y="5614416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 Board</a:t>
            </a:r>
            <a:endParaRPr lang="en-US" sz="950" dirty="0"/>
          </a:p>
        </p:txBody>
      </p:sp>
      <p:sp>
        <p:nvSpPr>
          <p:cNvPr id="21" name="a013_f_1609"/>
          <p:cNvSpPr txBox="1"/>
          <p:nvPr/>
        </p:nvSpPr>
        <p:spPr>
          <a:xfrm>
            <a:off x="548640" y="596188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Continuity</a:t>
            </a:r>
            <a:endParaRPr lang="en-US" sz="950" dirty="0"/>
          </a:p>
        </p:txBody>
      </p:sp>
      <p:sp>
        <p:nvSpPr>
          <p:cNvPr id="22" name="a002_f_1610"/>
          <p:cNvSpPr/>
          <p:nvPr/>
        </p:nvSpPr>
        <p:spPr>
          <a:xfrm>
            <a:off x="4526280" y="594360"/>
            <a:ext cx="2423160" cy="4871838"/>
          </a:xfrm>
          <a:prstGeom prst="roundRect">
            <a:avLst>
              <a:gd name="adj" fmla="val 11321"/>
            </a:avLst>
          </a:prstGeom>
          <a:solidFill>
            <a:srgbClr val="1D1D1F"/>
          </a:solidFill>
          <a:ln/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3" name="a002_f_1611" descr="/tmp/claude-0/-home-user-cutsheet/6324ba14-9edd-52e0-984d-db7baab43700/scratchpad/deck/img/_set-86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685800"/>
            <a:ext cx="2240280" cy="4688958"/>
          </a:xfrm>
          <a:prstGeom prst="rect">
            <a:avLst/>
          </a:prstGeom>
        </p:spPr>
      </p:pic>
      <p:sp>
        <p:nvSpPr>
          <p:cNvPr id="24" name="a002_f_1612"/>
          <p:cNvSpPr txBox="1"/>
          <p:nvPr/>
        </p:nvSpPr>
        <p:spPr>
          <a:xfrm>
            <a:off x="4617720" y="553935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</a:t>
            </a:r>
            <a:endParaRPr lang="en-US" sz="1100" dirty="0"/>
          </a:p>
        </p:txBody>
      </p:sp>
      <p:sp>
        <p:nvSpPr>
          <p:cNvPr id="25" name="a002_f_1613"/>
          <p:cNvSpPr/>
          <p:nvPr/>
        </p:nvSpPr>
        <p:spPr>
          <a:xfrm>
            <a:off x="7013448" y="594360"/>
            <a:ext cx="2423160" cy="4871838"/>
          </a:xfrm>
          <a:prstGeom prst="roundRect">
            <a:avLst>
              <a:gd name="adj" fmla="val 11321"/>
            </a:avLst>
          </a:prstGeom>
          <a:solidFill>
            <a:srgbClr val="1D1D1F"/>
          </a:solidFill>
          <a:ln/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6" name="a002_f_1614" descr="/tmp/claude-0/-home-user-cutsheet/6324ba14-9edd-52e0-984d-db7baab43700/scratchpad/deck/img/_set_Shots-86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4888" y="685800"/>
            <a:ext cx="2240280" cy="4688958"/>
          </a:xfrm>
          <a:prstGeom prst="rect">
            <a:avLst/>
          </a:prstGeom>
        </p:spPr>
      </p:pic>
      <p:sp>
        <p:nvSpPr>
          <p:cNvPr id="27" name="a002_f_1615"/>
          <p:cNvSpPr txBox="1"/>
          <p:nvPr/>
        </p:nvSpPr>
        <p:spPr>
          <a:xfrm>
            <a:off x="7104888" y="553935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Shots</a:t>
            </a:r>
            <a:endParaRPr lang="en-US" sz="1100" dirty="0"/>
          </a:p>
        </p:txBody>
      </p:sp>
      <p:sp>
        <p:nvSpPr>
          <p:cNvPr id="28" name="a002_f_1616"/>
          <p:cNvSpPr/>
          <p:nvPr/>
        </p:nvSpPr>
        <p:spPr>
          <a:xfrm>
            <a:off x="9500616" y="594360"/>
            <a:ext cx="2423160" cy="4871838"/>
          </a:xfrm>
          <a:prstGeom prst="roundRect">
            <a:avLst>
              <a:gd name="adj" fmla="val 11321"/>
            </a:avLst>
          </a:prstGeom>
          <a:solidFill>
            <a:srgbClr val="1D1D1F"/>
          </a:solidFill>
          <a:ln/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9" name="a002_f_1617" descr="/tmp/claude-0/-home-user-cutsheet/6324ba14-9edd-52e0-984d-db7baab43700/scratchpad/deck/img/_set_Checkin-860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2056" y="685800"/>
            <a:ext cx="2240280" cy="4688958"/>
          </a:xfrm>
          <a:prstGeom prst="rect">
            <a:avLst/>
          </a:prstGeom>
        </p:spPr>
      </p:pic>
      <p:sp>
        <p:nvSpPr>
          <p:cNvPr id="30" name="a002_f_1618"/>
          <p:cNvSpPr txBox="1"/>
          <p:nvPr/>
        </p:nvSpPr>
        <p:spPr>
          <a:xfrm>
            <a:off x="9592056" y="553935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</a:t>
            </a:r>
            <a:endParaRPr lang="en-US" sz="1100" dirty="0"/>
          </a:p>
        </p:txBody>
      </p:sp>
      <p:sp>
        <p:nvSpPr>
          <p:cNvPr id="31" name="s_1619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32" name="s_1620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48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24" grpId="0" animBg="1"/>
      <p:bldP spid="27" grpId="0" animBg="1"/>
      <p:bldP spid="30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z_1621"/>
          <p:cNvSpPr txBox="1"/>
          <p:nvPr/>
        </p:nvSpPr>
        <p:spPr>
          <a:xfrm>
            <a:off x="548640" y="8229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58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600" dirty="0"/>
          </a:p>
        </p:txBody>
      </p:sp>
      <p:sp>
        <p:nvSpPr>
          <p:cNvPr id="3" name="a002_f_1622"/>
          <p:cNvSpPr txBox="1"/>
          <p:nvPr/>
        </p:nvSpPr>
        <p:spPr>
          <a:xfrm>
            <a:off x="548640" y="23317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Postproduktion</a:t>
            </a:r>
            <a:endParaRPr lang="en-US" sz="3600" dirty="0"/>
          </a:p>
        </p:txBody>
      </p:sp>
      <p:sp>
        <p:nvSpPr>
          <p:cNvPr id="4" name="a003_f_1623"/>
          <p:cNvSpPr txBox="1"/>
          <p:nvPr/>
        </p:nvSpPr>
        <p:spPr>
          <a:xfrm>
            <a:off x="548640" y="36576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 der letzten Klappe: Einsatztage abrechnen, Postproduktion planen, Musik lizenzieren.</a:t>
            </a:r>
            <a:endParaRPr lang="en-US" sz="1500" dirty="0"/>
          </a:p>
        </p:txBody>
      </p:sp>
      <p:sp>
        <p:nvSpPr>
          <p:cNvPr id="5" name="a003_f_1624"/>
          <p:cNvSpPr txBox="1"/>
          <p:nvPr/>
        </p:nvSpPr>
        <p:spPr>
          <a:xfrm>
            <a:off x="548640" y="5029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8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Seiten</a:t>
            </a:r>
            <a:endParaRPr lang="en-US" sz="1300" dirty="0"/>
          </a:p>
        </p:txBody>
      </p:sp>
      <p:sp>
        <p:nvSpPr>
          <p:cNvPr id="6" name="a004_f_1625"/>
          <p:cNvSpPr/>
          <p:nvPr/>
        </p:nvSpPr>
        <p:spPr>
          <a:xfrm>
            <a:off x="5897880" y="960120"/>
            <a:ext cx="146304" cy="146304"/>
          </a:xfrm>
          <a:prstGeom prst="ellipse">
            <a:avLst/>
          </a:prstGeom>
          <a:solidFill>
            <a:srgbClr val="5856D6"/>
          </a:solidFill>
          <a:ln/>
        </p:spPr>
      </p:sp>
      <p:sp>
        <p:nvSpPr>
          <p:cNvPr id="7" name="a004_f_1626"/>
          <p:cNvSpPr txBox="1"/>
          <p:nvPr/>
        </p:nvSpPr>
        <p:spPr>
          <a:xfrm>
            <a:off x="621792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Out of Days</a:t>
            </a:r>
            <a:endParaRPr lang="en-US" sz="1600" dirty="0"/>
          </a:p>
        </p:txBody>
      </p:sp>
      <p:sp>
        <p:nvSpPr>
          <p:cNvPr id="8" name="a004_f_1627"/>
          <p:cNvSpPr txBox="1"/>
          <p:nvPr/>
        </p:nvSpPr>
        <p:spPr>
          <a:xfrm>
            <a:off x="6217920" y="119786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Einsatztage jedes Darstellers – die Grundlage für Verträge und Gagen.</a:t>
            </a:r>
            <a:endParaRPr lang="en-US" sz="1100" dirty="0"/>
          </a:p>
        </p:txBody>
      </p:sp>
      <p:sp>
        <p:nvSpPr>
          <p:cNvPr id="9" name="a005_f_1628"/>
          <p:cNvSpPr/>
          <p:nvPr/>
        </p:nvSpPr>
        <p:spPr>
          <a:xfrm>
            <a:off x="5897880" y="1728216"/>
            <a:ext cx="146304" cy="146304"/>
          </a:xfrm>
          <a:prstGeom prst="ellipse">
            <a:avLst/>
          </a:prstGeom>
          <a:solidFill>
            <a:srgbClr val="5856D6"/>
          </a:solidFill>
          <a:ln/>
        </p:spPr>
      </p:sp>
      <p:sp>
        <p:nvSpPr>
          <p:cNvPr id="10" name="a005_f_1629"/>
          <p:cNvSpPr txBox="1"/>
          <p:nvPr/>
        </p:nvSpPr>
        <p:spPr>
          <a:xfrm>
            <a:off x="6217920" y="163677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Postproduktionsplan</a:t>
            </a:r>
            <a:endParaRPr lang="en-US" sz="1600" dirty="0"/>
          </a:p>
        </p:txBody>
      </p:sp>
      <p:sp>
        <p:nvSpPr>
          <p:cNvPr id="11" name="a005_f_1630"/>
          <p:cNvSpPr txBox="1"/>
          <p:nvPr/>
        </p:nvSpPr>
        <p:spPr>
          <a:xfrm>
            <a:off x="621792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Phasen nach dem Dreh auf einer Zeitleiste.</a:t>
            </a:r>
            <a:endParaRPr lang="en-US" sz="1100" dirty="0"/>
          </a:p>
        </p:txBody>
      </p:sp>
      <p:sp>
        <p:nvSpPr>
          <p:cNvPr id="12" name="a006_f_1631"/>
          <p:cNvSpPr/>
          <p:nvPr/>
        </p:nvSpPr>
        <p:spPr>
          <a:xfrm>
            <a:off x="5897880" y="2496312"/>
            <a:ext cx="146304" cy="146304"/>
          </a:xfrm>
          <a:prstGeom prst="ellipse">
            <a:avLst/>
          </a:prstGeom>
          <a:solidFill>
            <a:srgbClr val="5856D6"/>
          </a:solidFill>
          <a:ln/>
        </p:spPr>
      </p:sp>
      <p:sp>
        <p:nvSpPr>
          <p:cNvPr id="13" name="a006_f_1632"/>
          <p:cNvSpPr txBox="1"/>
          <p:nvPr/>
        </p:nvSpPr>
        <p:spPr>
          <a:xfrm>
            <a:off x="6217920" y="24048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Musikliste / GEMA-Cuesheet</a:t>
            </a:r>
            <a:endParaRPr lang="en-US" sz="1600" dirty="0"/>
          </a:p>
        </p:txBody>
      </p:sp>
      <p:sp>
        <p:nvSpPr>
          <p:cNvPr id="14" name="a006_f_1633"/>
          <p:cNvSpPr txBox="1"/>
          <p:nvPr/>
        </p:nvSpPr>
        <p:spPr>
          <a:xfrm>
            <a:off x="6217920" y="273405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Musik-Cue mit Rechten – exportfertig für die GEMA.</a:t>
            </a:r>
            <a:endParaRPr lang="en-US" sz="1100" dirty="0"/>
          </a:p>
        </p:txBody>
      </p:sp>
      <p:sp>
        <p:nvSpPr>
          <p:cNvPr id="15" name="s_1634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16" name="s_1635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36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1636"/>
          <p:cNvSpPr txBox="1"/>
          <p:nvPr/>
        </p:nvSpPr>
        <p:spPr>
          <a:xfrm>
            <a:off x="6720840" y="502920"/>
            <a:ext cx="1327709" cy="292608"/>
          </a:xfrm>
          <a:prstGeom prst="roundRect">
            <a:avLst>
              <a:gd name="adj" fmla="val 50000"/>
            </a:avLst>
          </a:prstGeom>
          <a:solidFill>
            <a:srgbClr val="EEEE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Postproduktion</a:t>
            </a:r>
            <a:endParaRPr lang="en-US" sz="1000" dirty="0"/>
          </a:p>
        </p:txBody>
      </p:sp>
      <p:sp>
        <p:nvSpPr>
          <p:cNvPr id="3" name="a001_f_1637"/>
          <p:cNvSpPr txBox="1"/>
          <p:nvPr/>
        </p:nvSpPr>
        <p:spPr>
          <a:xfrm>
            <a:off x="99669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48 von 69</a:t>
            </a:r>
            <a:endParaRPr lang="en-US" sz="950" dirty="0"/>
          </a:p>
        </p:txBody>
      </p:sp>
      <p:sp>
        <p:nvSpPr>
          <p:cNvPr id="4" name="a001_f_1638"/>
          <p:cNvSpPr txBox="1"/>
          <p:nvPr/>
        </p:nvSpPr>
        <p:spPr>
          <a:xfrm>
            <a:off x="67208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Out of Days</a:t>
            </a:r>
            <a:endParaRPr lang="en-US" sz="3200" dirty="0"/>
          </a:p>
        </p:txBody>
      </p:sp>
      <p:sp>
        <p:nvSpPr>
          <p:cNvPr id="5" name="a001_f_1639"/>
          <p:cNvSpPr txBox="1"/>
          <p:nvPr/>
        </p:nvSpPr>
        <p:spPr>
          <a:xfrm>
            <a:off x="67208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/projects/:id/dood</a:t>
            </a:r>
            <a:endParaRPr lang="en-US" sz="1050" dirty="0"/>
          </a:p>
        </p:txBody>
      </p:sp>
      <p:sp>
        <p:nvSpPr>
          <p:cNvPr id="6" name="a003_f_1640"/>
          <p:cNvSpPr txBox="1"/>
          <p:nvPr/>
        </p:nvSpPr>
        <p:spPr>
          <a:xfrm>
            <a:off x="67208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Einsatztage jedes Darstellers – die Grundlage für Verträge und Gagen.</a:t>
            </a:r>
            <a:endParaRPr lang="en-US" sz="1400" dirty="0"/>
          </a:p>
        </p:txBody>
      </p:sp>
      <p:sp>
        <p:nvSpPr>
          <p:cNvPr id="7" name="a004_f_1641"/>
          <p:cNvSpPr/>
          <p:nvPr/>
        </p:nvSpPr>
        <p:spPr>
          <a:xfrm>
            <a:off x="6739128" y="2811780"/>
            <a:ext cx="118872" cy="118872"/>
          </a:xfrm>
          <a:prstGeom prst="ellipse">
            <a:avLst/>
          </a:prstGeom>
          <a:solidFill>
            <a:srgbClr val="5856D6"/>
          </a:solidFill>
          <a:ln/>
        </p:spPr>
      </p:sp>
      <p:sp>
        <p:nvSpPr>
          <p:cNvPr id="8" name="a004_f_1642"/>
          <p:cNvSpPr txBox="1"/>
          <p:nvPr/>
        </p:nvSpPr>
        <p:spPr>
          <a:xfrm>
            <a:off x="69951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Darsteller × Drehtag</a:t>
            </a:r>
            <a:endParaRPr lang="en-US" sz="1250" dirty="0"/>
          </a:p>
        </p:txBody>
      </p:sp>
      <p:sp>
        <p:nvSpPr>
          <p:cNvPr id="9" name="a005_f_1643"/>
          <p:cNvSpPr/>
          <p:nvPr/>
        </p:nvSpPr>
        <p:spPr>
          <a:xfrm>
            <a:off x="6739128" y="3154680"/>
            <a:ext cx="118872" cy="118872"/>
          </a:xfrm>
          <a:prstGeom prst="ellipse">
            <a:avLst/>
          </a:prstGeom>
          <a:solidFill>
            <a:srgbClr val="5856D6"/>
          </a:solidFill>
          <a:ln/>
        </p:spPr>
      </p:sp>
      <p:sp>
        <p:nvSpPr>
          <p:cNvPr id="10" name="a005_f_1644"/>
          <p:cNvSpPr txBox="1"/>
          <p:nvPr/>
        </p:nvSpPr>
        <p:spPr>
          <a:xfrm>
            <a:off x="69951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Start, Arbeit, Halten, Ende, einziger Tag</a:t>
            </a:r>
            <a:endParaRPr lang="en-US" sz="1250" dirty="0"/>
          </a:p>
        </p:txBody>
      </p:sp>
      <p:sp>
        <p:nvSpPr>
          <p:cNvPr id="11" name="a006_f_1645"/>
          <p:cNvSpPr/>
          <p:nvPr/>
        </p:nvSpPr>
        <p:spPr>
          <a:xfrm>
            <a:off x="6739128" y="3497580"/>
            <a:ext cx="118872" cy="118872"/>
          </a:xfrm>
          <a:prstGeom prst="ellipse">
            <a:avLst/>
          </a:prstGeom>
          <a:solidFill>
            <a:srgbClr val="5856D6"/>
          </a:solidFill>
          <a:ln/>
        </p:spPr>
      </p:sp>
      <p:sp>
        <p:nvSpPr>
          <p:cNvPr id="12" name="a006_f_1646"/>
          <p:cNvSpPr txBox="1"/>
          <p:nvPr/>
        </p:nvSpPr>
        <p:spPr>
          <a:xfrm>
            <a:off x="69951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Arbeits- und Haltetage je Person</a:t>
            </a:r>
            <a:endParaRPr lang="en-US" sz="1250" dirty="0"/>
          </a:p>
        </p:txBody>
      </p:sp>
      <p:sp>
        <p:nvSpPr>
          <p:cNvPr id="13" name="a007_f_1647"/>
          <p:cNvSpPr/>
          <p:nvPr/>
        </p:nvSpPr>
        <p:spPr>
          <a:xfrm>
            <a:off x="6739128" y="3840480"/>
            <a:ext cx="118872" cy="118872"/>
          </a:xfrm>
          <a:prstGeom prst="ellipse">
            <a:avLst/>
          </a:prstGeom>
          <a:solidFill>
            <a:srgbClr val="5856D6"/>
          </a:solidFill>
          <a:ln/>
        </p:spPr>
      </p:sp>
      <p:sp>
        <p:nvSpPr>
          <p:cNvPr id="14" name="a007_f_1648"/>
          <p:cNvSpPr txBox="1"/>
          <p:nvPr/>
        </p:nvSpPr>
        <p:spPr>
          <a:xfrm>
            <a:off x="69951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Geschätzte Kosten aus der Tagesgage</a:t>
            </a:r>
            <a:endParaRPr lang="en-US" sz="1250" dirty="0"/>
          </a:p>
        </p:txBody>
      </p:sp>
      <p:sp>
        <p:nvSpPr>
          <p:cNvPr id="15" name="a008_f_1649"/>
          <p:cNvSpPr/>
          <p:nvPr/>
        </p:nvSpPr>
        <p:spPr>
          <a:xfrm>
            <a:off x="6739128" y="4183380"/>
            <a:ext cx="118872" cy="118872"/>
          </a:xfrm>
          <a:prstGeom prst="ellipse">
            <a:avLst/>
          </a:prstGeom>
          <a:solidFill>
            <a:srgbClr val="5856D6"/>
          </a:solidFill>
          <a:ln/>
        </p:spPr>
      </p:sp>
      <p:sp>
        <p:nvSpPr>
          <p:cNvPr id="16" name="a008_f_1650"/>
          <p:cNvSpPr txBox="1"/>
          <p:nvPr/>
        </p:nvSpPr>
        <p:spPr>
          <a:xfrm>
            <a:off x="6995160" y="41148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CSV-Export</a:t>
            </a:r>
            <a:endParaRPr lang="en-US" sz="1250" dirty="0"/>
          </a:p>
        </p:txBody>
      </p:sp>
      <p:sp>
        <p:nvSpPr>
          <p:cNvPr id="17" name="a012_f_1651"/>
          <p:cNvSpPr txBox="1"/>
          <p:nvPr/>
        </p:nvSpPr>
        <p:spPr>
          <a:xfrm>
            <a:off x="67208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8" name="a013_f_1652"/>
          <p:cNvSpPr txBox="1"/>
          <p:nvPr/>
        </p:nvSpPr>
        <p:spPr>
          <a:xfrm>
            <a:off x="6720840" y="576072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2D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Besetzung</a:t>
            </a:r>
            <a:endParaRPr lang="en-US" sz="950" dirty="0"/>
          </a:p>
        </p:txBody>
      </p:sp>
      <p:sp>
        <p:nvSpPr>
          <p:cNvPr id="19" name="a013_f_1653"/>
          <p:cNvSpPr txBox="1"/>
          <p:nvPr/>
        </p:nvSpPr>
        <p:spPr>
          <a:xfrm>
            <a:off x="7662672" y="576072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Drehplan</a:t>
            </a:r>
            <a:endParaRPr lang="en-US" sz="950" dirty="0"/>
          </a:p>
        </p:txBody>
      </p:sp>
      <p:sp>
        <p:nvSpPr>
          <p:cNvPr id="20" name="a013_f_1654"/>
          <p:cNvSpPr txBox="1"/>
          <p:nvPr/>
        </p:nvSpPr>
        <p:spPr>
          <a:xfrm>
            <a:off x="8540496" y="5760720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F52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</a:t>
            </a:r>
            <a:endParaRPr lang="en-US" sz="950" dirty="0"/>
          </a:p>
        </p:txBody>
      </p:sp>
      <p:sp>
        <p:nvSpPr>
          <p:cNvPr id="21" name="a013_f_1655"/>
          <p:cNvSpPr txBox="1"/>
          <p:nvPr/>
        </p:nvSpPr>
        <p:spPr>
          <a:xfrm>
            <a:off x="9290304" y="5760720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950" dirty="0"/>
          </a:p>
        </p:txBody>
      </p:sp>
      <p:sp>
        <p:nvSpPr>
          <p:cNvPr id="22" name="a002_f_1656"/>
          <p:cNvSpPr/>
          <p:nvPr/>
        </p:nvSpPr>
        <p:spPr>
          <a:xfrm>
            <a:off x="420624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3" name="a002_f_1657" descr="/tmp/claude-0/-home-user-cutsheet/6324ba14-9edd-52e0-984d-db7baab43700/scratchpad/deck/img/light_projects_168_dood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11618"/>
            <a:ext cx="5989320" cy="3743325"/>
          </a:xfrm>
          <a:prstGeom prst="rect">
            <a:avLst/>
          </a:prstGeom>
        </p:spPr>
      </p:pic>
      <p:sp>
        <p:nvSpPr>
          <p:cNvPr id="24" name="s_1658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5" name="s_1659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48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1660"/>
          <p:cNvSpPr txBox="1"/>
          <p:nvPr/>
        </p:nvSpPr>
        <p:spPr>
          <a:xfrm>
            <a:off x="548640" y="502920"/>
            <a:ext cx="1327709" cy="292608"/>
          </a:xfrm>
          <a:prstGeom prst="roundRect">
            <a:avLst>
              <a:gd name="adj" fmla="val 50000"/>
            </a:avLst>
          </a:prstGeom>
          <a:solidFill>
            <a:srgbClr val="EEEE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Postproduktion</a:t>
            </a:r>
            <a:endParaRPr lang="en-US" sz="1000" dirty="0"/>
          </a:p>
        </p:txBody>
      </p:sp>
      <p:sp>
        <p:nvSpPr>
          <p:cNvPr id="3" name="a001_f_1661"/>
          <p:cNvSpPr txBox="1"/>
          <p:nvPr/>
        </p:nvSpPr>
        <p:spPr>
          <a:xfrm>
            <a:off x="37947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49 von 69</a:t>
            </a:r>
            <a:endParaRPr lang="en-US" sz="950" dirty="0"/>
          </a:p>
        </p:txBody>
      </p:sp>
      <p:sp>
        <p:nvSpPr>
          <p:cNvPr id="4" name="a001_f_1662"/>
          <p:cNvSpPr txBox="1"/>
          <p:nvPr/>
        </p:nvSpPr>
        <p:spPr>
          <a:xfrm>
            <a:off x="5486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Postproduktionsplan</a:t>
            </a:r>
            <a:endParaRPr lang="en-US" sz="2800" dirty="0"/>
          </a:p>
        </p:txBody>
      </p:sp>
      <p:sp>
        <p:nvSpPr>
          <p:cNvPr id="5" name="a001_f_1663"/>
          <p:cNvSpPr txBox="1"/>
          <p:nvPr/>
        </p:nvSpPr>
        <p:spPr>
          <a:xfrm>
            <a:off x="5486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/projects/:id/postplan</a:t>
            </a:r>
            <a:endParaRPr lang="en-US" sz="1050" dirty="0"/>
          </a:p>
        </p:txBody>
      </p:sp>
      <p:sp>
        <p:nvSpPr>
          <p:cNvPr id="6" name="a003_f_1664"/>
          <p:cNvSpPr txBox="1"/>
          <p:nvPr/>
        </p:nvSpPr>
        <p:spPr>
          <a:xfrm>
            <a:off x="5486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Phasen nach dem Dreh auf einer Zeitleiste.</a:t>
            </a:r>
            <a:endParaRPr lang="en-US" sz="1400" dirty="0"/>
          </a:p>
        </p:txBody>
      </p:sp>
      <p:sp>
        <p:nvSpPr>
          <p:cNvPr id="7" name="a004_f_1665"/>
          <p:cNvSpPr/>
          <p:nvPr/>
        </p:nvSpPr>
        <p:spPr>
          <a:xfrm>
            <a:off x="566928" y="2811780"/>
            <a:ext cx="118872" cy="118872"/>
          </a:xfrm>
          <a:prstGeom prst="ellipse">
            <a:avLst/>
          </a:prstGeom>
          <a:solidFill>
            <a:srgbClr val="5856D6"/>
          </a:solidFill>
          <a:ln/>
        </p:spPr>
      </p:sp>
      <p:sp>
        <p:nvSpPr>
          <p:cNvPr id="8" name="a004_f_1666"/>
          <p:cNvSpPr txBox="1"/>
          <p:nvPr/>
        </p:nvSpPr>
        <p:spPr>
          <a:xfrm>
            <a:off x="8229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Phasen mit Zeitraum, Verantwortlichen, Notizen</a:t>
            </a:r>
            <a:endParaRPr lang="en-US" sz="1250" dirty="0"/>
          </a:p>
        </p:txBody>
      </p:sp>
      <p:sp>
        <p:nvSpPr>
          <p:cNvPr id="9" name="a005_f_1667"/>
          <p:cNvSpPr/>
          <p:nvPr/>
        </p:nvSpPr>
        <p:spPr>
          <a:xfrm>
            <a:off x="566928" y="3154680"/>
            <a:ext cx="118872" cy="118872"/>
          </a:xfrm>
          <a:prstGeom prst="ellipse">
            <a:avLst/>
          </a:prstGeom>
          <a:solidFill>
            <a:srgbClr val="5856D6"/>
          </a:solidFill>
          <a:ln/>
        </p:spPr>
      </p:sp>
      <p:sp>
        <p:nvSpPr>
          <p:cNvPr id="10" name="a005_f_1668"/>
          <p:cNvSpPr txBox="1"/>
          <p:nvPr/>
        </p:nvSpPr>
        <p:spPr>
          <a:xfrm>
            <a:off x="8229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Schnellauswahl: Schnitt, Farbe, Ton, VFX, Musik …</a:t>
            </a:r>
            <a:endParaRPr lang="en-US" sz="1250" dirty="0"/>
          </a:p>
        </p:txBody>
      </p:sp>
      <p:sp>
        <p:nvSpPr>
          <p:cNvPr id="11" name="a006_f_1669"/>
          <p:cNvSpPr/>
          <p:nvPr/>
        </p:nvSpPr>
        <p:spPr>
          <a:xfrm>
            <a:off x="566928" y="3497580"/>
            <a:ext cx="118872" cy="118872"/>
          </a:xfrm>
          <a:prstGeom prst="ellipse">
            <a:avLst/>
          </a:prstGeom>
          <a:solidFill>
            <a:srgbClr val="5856D6"/>
          </a:solidFill>
          <a:ln/>
        </p:spPr>
      </p:sp>
      <p:sp>
        <p:nvSpPr>
          <p:cNvPr id="12" name="a006_f_1670"/>
          <p:cNvSpPr txBox="1"/>
          <p:nvPr/>
        </p:nvSpPr>
        <p:spPr>
          <a:xfrm>
            <a:off x="8229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Zeitleiste der Phasen</a:t>
            </a:r>
            <a:endParaRPr lang="en-US" sz="1250" dirty="0"/>
          </a:p>
        </p:txBody>
      </p:sp>
      <p:sp>
        <p:nvSpPr>
          <p:cNvPr id="13" name="a007_f_1671"/>
          <p:cNvSpPr/>
          <p:nvPr/>
        </p:nvSpPr>
        <p:spPr>
          <a:xfrm>
            <a:off x="566928" y="3840480"/>
            <a:ext cx="118872" cy="118872"/>
          </a:xfrm>
          <a:prstGeom prst="ellipse">
            <a:avLst/>
          </a:prstGeom>
          <a:solidFill>
            <a:srgbClr val="5856D6"/>
          </a:solidFill>
          <a:ln/>
        </p:spPr>
      </p:sp>
      <p:sp>
        <p:nvSpPr>
          <p:cNvPr id="14" name="a007_f_1672"/>
          <p:cNvSpPr txBox="1"/>
          <p:nvPr/>
        </p:nvSpPr>
        <p:spPr>
          <a:xfrm>
            <a:off x="8229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Bearbeiten und löschen</a:t>
            </a:r>
            <a:endParaRPr lang="en-US" sz="1250" dirty="0"/>
          </a:p>
        </p:txBody>
      </p:sp>
      <p:sp>
        <p:nvSpPr>
          <p:cNvPr id="15" name="a012_f_1673"/>
          <p:cNvSpPr txBox="1"/>
          <p:nvPr/>
        </p:nvSpPr>
        <p:spPr>
          <a:xfrm>
            <a:off x="5486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6" name="a013_f_1674"/>
          <p:cNvSpPr txBox="1"/>
          <p:nvPr/>
        </p:nvSpPr>
        <p:spPr>
          <a:xfrm>
            <a:off x="548640" y="5760720"/>
            <a:ext cx="104241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VFX-Tracking</a:t>
            </a:r>
            <a:endParaRPr lang="en-US" sz="950" dirty="0"/>
          </a:p>
        </p:txBody>
      </p:sp>
      <p:sp>
        <p:nvSpPr>
          <p:cNvPr id="17" name="a013_f_1675"/>
          <p:cNvSpPr txBox="1"/>
          <p:nvPr/>
        </p:nvSpPr>
        <p:spPr>
          <a:xfrm>
            <a:off x="1682496" y="576072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856D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8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Musikliste</a:t>
            </a:r>
            <a:endParaRPr lang="en-US" sz="950" dirty="0"/>
          </a:p>
        </p:txBody>
      </p:sp>
      <p:sp>
        <p:nvSpPr>
          <p:cNvPr id="18" name="a002_f_1676"/>
          <p:cNvSpPr/>
          <p:nvPr/>
        </p:nvSpPr>
        <p:spPr>
          <a:xfrm>
            <a:off x="5617159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19" name="a002_f_1677" descr="/tmp/claude-0/-home-user-cutsheet/6324ba14-9edd-52e0-984d-db7baab43700/scratchpad/deck/img/light_projects_168_postplan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455" y="1511618"/>
            <a:ext cx="5989320" cy="3743325"/>
          </a:xfrm>
          <a:prstGeom prst="rect">
            <a:avLst/>
          </a:prstGeom>
        </p:spPr>
      </p:pic>
      <p:sp>
        <p:nvSpPr>
          <p:cNvPr id="20" name="s_1678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1" name="s_1679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1680"/>
          <p:cNvSpPr txBox="1"/>
          <p:nvPr/>
        </p:nvSpPr>
        <p:spPr>
          <a:xfrm>
            <a:off x="6720840" y="502920"/>
            <a:ext cx="1327709" cy="292608"/>
          </a:xfrm>
          <a:prstGeom prst="roundRect">
            <a:avLst>
              <a:gd name="adj" fmla="val 50000"/>
            </a:avLst>
          </a:prstGeom>
          <a:solidFill>
            <a:srgbClr val="EEEE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Postproduktion</a:t>
            </a:r>
            <a:endParaRPr lang="en-US" sz="1000" dirty="0"/>
          </a:p>
        </p:txBody>
      </p:sp>
      <p:sp>
        <p:nvSpPr>
          <p:cNvPr id="3" name="a001_f_1681"/>
          <p:cNvSpPr txBox="1"/>
          <p:nvPr/>
        </p:nvSpPr>
        <p:spPr>
          <a:xfrm>
            <a:off x="99669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50 von 69</a:t>
            </a:r>
            <a:endParaRPr lang="en-US" sz="950" dirty="0"/>
          </a:p>
        </p:txBody>
      </p:sp>
      <p:sp>
        <p:nvSpPr>
          <p:cNvPr id="4" name="a001_f_1682"/>
          <p:cNvSpPr txBox="1"/>
          <p:nvPr/>
        </p:nvSpPr>
        <p:spPr>
          <a:xfrm>
            <a:off x="67208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Musikliste / GEMA-Cuesheet</a:t>
            </a:r>
            <a:endParaRPr lang="en-US" sz="2400" dirty="0"/>
          </a:p>
        </p:txBody>
      </p:sp>
      <p:sp>
        <p:nvSpPr>
          <p:cNvPr id="5" name="a001_f_1683"/>
          <p:cNvSpPr txBox="1"/>
          <p:nvPr/>
        </p:nvSpPr>
        <p:spPr>
          <a:xfrm>
            <a:off x="67208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/projects/:id/musikliste</a:t>
            </a:r>
            <a:endParaRPr lang="en-US" sz="1050" dirty="0"/>
          </a:p>
        </p:txBody>
      </p:sp>
      <p:sp>
        <p:nvSpPr>
          <p:cNvPr id="6" name="a003_f_1684"/>
          <p:cNvSpPr txBox="1"/>
          <p:nvPr/>
        </p:nvSpPr>
        <p:spPr>
          <a:xfrm>
            <a:off x="67208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Musik-Cue mit Rechten – exportfertig für die GEMA.</a:t>
            </a:r>
            <a:endParaRPr lang="en-US" sz="1400" dirty="0"/>
          </a:p>
        </p:txBody>
      </p:sp>
      <p:sp>
        <p:nvSpPr>
          <p:cNvPr id="7" name="a004_f_1685"/>
          <p:cNvSpPr/>
          <p:nvPr/>
        </p:nvSpPr>
        <p:spPr>
          <a:xfrm>
            <a:off x="6739128" y="2811780"/>
            <a:ext cx="118872" cy="118872"/>
          </a:xfrm>
          <a:prstGeom prst="ellipse">
            <a:avLst/>
          </a:prstGeom>
          <a:solidFill>
            <a:srgbClr val="5856D6"/>
          </a:solidFill>
          <a:ln/>
        </p:spPr>
      </p:sp>
      <p:sp>
        <p:nvSpPr>
          <p:cNvPr id="8" name="a004_f_1686"/>
          <p:cNvSpPr txBox="1"/>
          <p:nvPr/>
        </p:nvSpPr>
        <p:spPr>
          <a:xfrm>
            <a:off x="69951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Titel, Komponist, Verlag, Textdichter</a:t>
            </a:r>
            <a:endParaRPr lang="en-US" sz="1250" dirty="0"/>
          </a:p>
        </p:txBody>
      </p:sp>
      <p:sp>
        <p:nvSpPr>
          <p:cNvPr id="9" name="a005_f_1687"/>
          <p:cNvSpPr/>
          <p:nvPr/>
        </p:nvSpPr>
        <p:spPr>
          <a:xfrm>
            <a:off x="6739128" y="3154680"/>
            <a:ext cx="118872" cy="118872"/>
          </a:xfrm>
          <a:prstGeom prst="ellipse">
            <a:avLst/>
          </a:prstGeom>
          <a:solidFill>
            <a:srgbClr val="5856D6"/>
          </a:solidFill>
          <a:ln/>
        </p:spPr>
      </p:sp>
      <p:sp>
        <p:nvSpPr>
          <p:cNvPr id="10" name="a005_f_1688"/>
          <p:cNvSpPr txBox="1"/>
          <p:nvPr/>
        </p:nvSpPr>
        <p:spPr>
          <a:xfrm>
            <a:off x="69951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Dauer, Szene, Cue- und Nutzungsart</a:t>
            </a:r>
            <a:endParaRPr lang="en-US" sz="1250" dirty="0"/>
          </a:p>
        </p:txBody>
      </p:sp>
      <p:sp>
        <p:nvSpPr>
          <p:cNvPr id="11" name="a006_f_1689"/>
          <p:cNvSpPr/>
          <p:nvPr/>
        </p:nvSpPr>
        <p:spPr>
          <a:xfrm>
            <a:off x="6739128" y="3497580"/>
            <a:ext cx="118872" cy="118872"/>
          </a:xfrm>
          <a:prstGeom prst="ellipse">
            <a:avLst/>
          </a:prstGeom>
          <a:solidFill>
            <a:srgbClr val="5856D6"/>
          </a:solidFill>
          <a:ln/>
        </p:spPr>
      </p:sp>
      <p:sp>
        <p:nvSpPr>
          <p:cNvPr id="12" name="a006_f_1690"/>
          <p:cNvSpPr txBox="1"/>
          <p:nvPr/>
        </p:nvSpPr>
        <p:spPr>
          <a:xfrm>
            <a:off x="69951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Notizen je Cue</a:t>
            </a:r>
            <a:endParaRPr lang="en-US" sz="1250" dirty="0"/>
          </a:p>
        </p:txBody>
      </p:sp>
      <p:sp>
        <p:nvSpPr>
          <p:cNvPr id="13" name="a007_f_1691"/>
          <p:cNvSpPr/>
          <p:nvPr/>
        </p:nvSpPr>
        <p:spPr>
          <a:xfrm>
            <a:off x="6739128" y="3840480"/>
            <a:ext cx="118872" cy="118872"/>
          </a:xfrm>
          <a:prstGeom prst="ellipse">
            <a:avLst/>
          </a:prstGeom>
          <a:solidFill>
            <a:srgbClr val="5856D6"/>
          </a:solidFill>
          <a:ln/>
        </p:spPr>
      </p:sp>
      <p:sp>
        <p:nvSpPr>
          <p:cNvPr id="14" name="a007_f_1692"/>
          <p:cNvSpPr txBox="1"/>
          <p:nvPr/>
        </p:nvSpPr>
        <p:spPr>
          <a:xfrm>
            <a:off x="69951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CSV-Export im GEMA-Format</a:t>
            </a:r>
            <a:endParaRPr lang="en-US" sz="1250" dirty="0"/>
          </a:p>
        </p:txBody>
      </p:sp>
      <p:sp>
        <p:nvSpPr>
          <p:cNvPr id="15" name="a012_f_1693"/>
          <p:cNvSpPr txBox="1"/>
          <p:nvPr/>
        </p:nvSpPr>
        <p:spPr>
          <a:xfrm>
            <a:off x="67208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6" name="a013_f_1694"/>
          <p:cNvSpPr txBox="1"/>
          <p:nvPr/>
        </p:nvSpPr>
        <p:spPr>
          <a:xfrm>
            <a:off x="6720840" y="5760720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F52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</a:t>
            </a:r>
            <a:endParaRPr lang="en-US" sz="950" dirty="0"/>
          </a:p>
        </p:txBody>
      </p:sp>
      <p:sp>
        <p:nvSpPr>
          <p:cNvPr id="17" name="a013_f_1695"/>
          <p:cNvSpPr txBox="1"/>
          <p:nvPr/>
        </p:nvSpPr>
        <p:spPr>
          <a:xfrm>
            <a:off x="7470648" y="5760720"/>
            <a:ext cx="149047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856D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8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Postproduktionsplan</a:t>
            </a:r>
            <a:endParaRPr lang="en-US" sz="950" dirty="0"/>
          </a:p>
        </p:txBody>
      </p:sp>
      <p:sp>
        <p:nvSpPr>
          <p:cNvPr id="18" name="a002_f_1696"/>
          <p:cNvSpPr/>
          <p:nvPr/>
        </p:nvSpPr>
        <p:spPr>
          <a:xfrm>
            <a:off x="420624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19" name="a002_f_1697" descr="/tmp/claude-0/-home-user-cutsheet/6324ba14-9edd-52e0-984d-db7baab43700/scratchpad/deck/img/light_projects_168_musikliste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11618"/>
            <a:ext cx="5989320" cy="3743325"/>
          </a:xfrm>
          <a:prstGeom prst="rect">
            <a:avLst/>
          </a:prstGeom>
        </p:spPr>
      </p:pic>
      <p:sp>
        <p:nvSpPr>
          <p:cNvPr id="20" name="s_1698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1" name="s_1699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z_1700"/>
          <p:cNvSpPr txBox="1"/>
          <p:nvPr/>
        </p:nvSpPr>
        <p:spPr>
          <a:xfrm>
            <a:off x="548640" y="8229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30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600" dirty="0"/>
          </a:p>
        </p:txBody>
      </p:sp>
      <p:sp>
        <p:nvSpPr>
          <p:cNvPr id="3" name="a002_f_1701"/>
          <p:cNvSpPr txBox="1"/>
          <p:nvPr/>
        </p:nvSpPr>
        <p:spPr>
          <a:xfrm>
            <a:off x="548640" y="23317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Werkzeuge &amp; Kommunikation</a:t>
            </a:r>
            <a:endParaRPr lang="en-US" sz="3600" dirty="0"/>
          </a:p>
        </p:txBody>
      </p:sp>
      <p:sp>
        <p:nvSpPr>
          <p:cNvPr id="4" name="a003_f_1702"/>
          <p:cNvSpPr txBox="1"/>
          <p:nvPr/>
        </p:nvSpPr>
        <p:spPr>
          <a:xfrm>
            <a:off x="548640" y="36576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 durch alle Phasen: E-Mails, Notizen, Verlauf, Volltextsuche und das Änderungsprotokoll.</a:t>
            </a:r>
            <a:endParaRPr lang="en-US" sz="1500" dirty="0"/>
          </a:p>
        </p:txBody>
      </p:sp>
      <p:sp>
        <p:nvSpPr>
          <p:cNvPr id="5" name="a003_f_1703"/>
          <p:cNvSpPr txBox="1"/>
          <p:nvPr/>
        </p:nvSpPr>
        <p:spPr>
          <a:xfrm>
            <a:off x="548640" y="5029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0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Seiten</a:t>
            </a:r>
            <a:endParaRPr lang="en-US" sz="1300" dirty="0"/>
          </a:p>
        </p:txBody>
      </p:sp>
      <p:sp>
        <p:nvSpPr>
          <p:cNvPr id="6" name="a004_f_1704"/>
          <p:cNvSpPr/>
          <p:nvPr/>
        </p:nvSpPr>
        <p:spPr>
          <a:xfrm>
            <a:off x="5897880" y="960120"/>
            <a:ext cx="146304" cy="146304"/>
          </a:xfrm>
          <a:prstGeom prst="ellipse">
            <a:avLst/>
          </a:prstGeom>
          <a:solidFill>
            <a:srgbClr val="30B0C7"/>
          </a:solidFill>
          <a:ln/>
        </p:spPr>
      </p:sp>
      <p:sp>
        <p:nvSpPr>
          <p:cNvPr id="7" name="a004_f_1705"/>
          <p:cNvSpPr txBox="1"/>
          <p:nvPr/>
        </p:nvSpPr>
        <p:spPr>
          <a:xfrm>
            <a:off x="621792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 Center</a:t>
            </a:r>
            <a:endParaRPr lang="en-US" sz="1600" dirty="0"/>
          </a:p>
        </p:txBody>
      </p:sp>
      <p:sp>
        <p:nvSpPr>
          <p:cNvPr id="8" name="a004_f_1706"/>
          <p:cNvSpPr txBox="1"/>
          <p:nvPr/>
        </p:nvSpPr>
        <p:spPr>
          <a:xfrm>
            <a:off x="6217920" y="119786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Nachrichten an Stab und Darsteller – mit Vorlagen.</a:t>
            </a:r>
            <a:endParaRPr lang="en-US" sz="1100" dirty="0"/>
          </a:p>
        </p:txBody>
      </p:sp>
      <p:sp>
        <p:nvSpPr>
          <p:cNvPr id="9" name="a005_f_1707"/>
          <p:cNvSpPr/>
          <p:nvPr/>
        </p:nvSpPr>
        <p:spPr>
          <a:xfrm>
            <a:off x="5897880" y="1728216"/>
            <a:ext cx="146304" cy="146304"/>
          </a:xfrm>
          <a:prstGeom prst="ellipse">
            <a:avLst/>
          </a:prstGeom>
          <a:solidFill>
            <a:srgbClr val="30B0C7"/>
          </a:solidFill>
          <a:ln/>
        </p:spPr>
      </p:sp>
      <p:sp>
        <p:nvSpPr>
          <p:cNvPr id="10" name="a005_f_1708"/>
          <p:cNvSpPr txBox="1"/>
          <p:nvPr/>
        </p:nvSpPr>
        <p:spPr>
          <a:xfrm>
            <a:off x="6217920" y="163677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Pinboard</a:t>
            </a:r>
            <a:endParaRPr lang="en-US" sz="1600" dirty="0"/>
          </a:p>
        </p:txBody>
      </p:sp>
      <p:sp>
        <p:nvSpPr>
          <p:cNvPr id="11" name="a005_f_1709"/>
          <p:cNvSpPr txBox="1"/>
          <p:nvPr/>
        </p:nvSpPr>
        <p:spPr>
          <a:xfrm>
            <a:off x="621792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Haftnotizen fürs ganze Team – das Schwarze Brett der Produktion.</a:t>
            </a:r>
            <a:endParaRPr lang="en-US" sz="1100" dirty="0"/>
          </a:p>
        </p:txBody>
      </p:sp>
      <p:sp>
        <p:nvSpPr>
          <p:cNvPr id="12" name="a006_f_1710"/>
          <p:cNvSpPr/>
          <p:nvPr/>
        </p:nvSpPr>
        <p:spPr>
          <a:xfrm>
            <a:off x="5897880" y="2496312"/>
            <a:ext cx="146304" cy="146304"/>
          </a:xfrm>
          <a:prstGeom prst="ellipse">
            <a:avLst/>
          </a:prstGeom>
          <a:solidFill>
            <a:srgbClr val="30B0C7"/>
          </a:solidFill>
          <a:ln/>
        </p:spPr>
      </p:sp>
      <p:sp>
        <p:nvSpPr>
          <p:cNvPr id="13" name="a006_f_1711"/>
          <p:cNvSpPr txBox="1"/>
          <p:nvPr/>
        </p:nvSpPr>
        <p:spPr>
          <a:xfrm>
            <a:off x="6217920" y="24048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Aktivitäten</a:t>
            </a:r>
            <a:endParaRPr lang="en-US" sz="1600" dirty="0"/>
          </a:p>
        </p:txBody>
      </p:sp>
      <p:sp>
        <p:nvSpPr>
          <p:cNvPr id="14" name="a006_f_1712"/>
          <p:cNvSpPr txBox="1"/>
          <p:nvPr/>
        </p:nvSpPr>
        <p:spPr>
          <a:xfrm>
            <a:off x="6217920" y="273405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Verlauf des Projekts – alle 30 Sekunden aktualisiert.</a:t>
            </a:r>
            <a:endParaRPr lang="en-US" sz="1100" dirty="0"/>
          </a:p>
        </p:txBody>
      </p:sp>
      <p:sp>
        <p:nvSpPr>
          <p:cNvPr id="15" name="a007_f_1713"/>
          <p:cNvSpPr/>
          <p:nvPr/>
        </p:nvSpPr>
        <p:spPr>
          <a:xfrm>
            <a:off x="5897880" y="3264408"/>
            <a:ext cx="146304" cy="146304"/>
          </a:xfrm>
          <a:prstGeom prst="ellipse">
            <a:avLst/>
          </a:prstGeom>
          <a:solidFill>
            <a:srgbClr val="30B0C7"/>
          </a:solidFill>
          <a:ln/>
        </p:spPr>
      </p:sp>
      <p:sp>
        <p:nvSpPr>
          <p:cNvPr id="16" name="a007_f_1714"/>
          <p:cNvSpPr txBox="1"/>
          <p:nvPr/>
        </p:nvSpPr>
        <p:spPr>
          <a:xfrm>
            <a:off x="6217920" y="31729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Suche</a:t>
            </a:r>
            <a:endParaRPr lang="en-US" sz="1600" dirty="0"/>
          </a:p>
        </p:txBody>
      </p:sp>
      <p:sp>
        <p:nvSpPr>
          <p:cNvPr id="17" name="a007_f_1715"/>
          <p:cNvSpPr txBox="1"/>
          <p:nvPr/>
        </p:nvSpPr>
        <p:spPr>
          <a:xfrm>
            <a:off x="6217920" y="35021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Volltextsuche über das ganze Projekt.</a:t>
            </a:r>
            <a:endParaRPr lang="en-US" sz="1100" dirty="0"/>
          </a:p>
        </p:txBody>
      </p:sp>
      <p:sp>
        <p:nvSpPr>
          <p:cNvPr id="18" name="a008_f_1716"/>
          <p:cNvSpPr/>
          <p:nvPr/>
        </p:nvSpPr>
        <p:spPr>
          <a:xfrm>
            <a:off x="5897880" y="4032504"/>
            <a:ext cx="146304" cy="146304"/>
          </a:xfrm>
          <a:prstGeom prst="ellipse">
            <a:avLst/>
          </a:prstGeom>
          <a:solidFill>
            <a:srgbClr val="30B0C7"/>
          </a:solidFill>
          <a:ln/>
        </p:spPr>
      </p:sp>
      <p:sp>
        <p:nvSpPr>
          <p:cNvPr id="19" name="a008_f_1717"/>
          <p:cNvSpPr txBox="1"/>
          <p:nvPr/>
        </p:nvSpPr>
        <p:spPr>
          <a:xfrm>
            <a:off x="6217920" y="394106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Audit-Log</a:t>
            </a:r>
            <a:endParaRPr lang="en-US" sz="1600" dirty="0"/>
          </a:p>
        </p:txBody>
      </p:sp>
      <p:sp>
        <p:nvSpPr>
          <p:cNvPr id="20" name="a008_f_1718"/>
          <p:cNvSpPr txBox="1"/>
          <p:nvPr/>
        </p:nvSpPr>
        <p:spPr>
          <a:xfrm>
            <a:off x="6217920" y="42702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Änderungsprotokoll: jede Änderung mit Person, Zeitpunkt und Eintrag.</a:t>
            </a:r>
            <a:endParaRPr lang="en-US" sz="1100" dirty="0"/>
          </a:p>
        </p:txBody>
      </p:sp>
      <p:sp>
        <p:nvSpPr>
          <p:cNvPr id="21" name="s_1719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2" name="s_1720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36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9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1721"/>
          <p:cNvSpPr txBox="1"/>
          <p:nvPr/>
        </p:nvSpPr>
        <p:spPr>
          <a:xfrm>
            <a:off x="548640" y="502920"/>
            <a:ext cx="2112264" cy="292608"/>
          </a:xfrm>
          <a:prstGeom prst="roundRect">
            <a:avLst>
              <a:gd name="adj" fmla="val 50000"/>
            </a:avLst>
          </a:prstGeom>
          <a:solidFill>
            <a:srgbClr val="E5F6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0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Werkzeuge &amp; Kommunikation</a:t>
            </a:r>
            <a:endParaRPr lang="en-US" sz="1000" dirty="0"/>
          </a:p>
        </p:txBody>
      </p:sp>
      <p:sp>
        <p:nvSpPr>
          <p:cNvPr id="3" name="a001_f_1722"/>
          <p:cNvSpPr txBox="1"/>
          <p:nvPr/>
        </p:nvSpPr>
        <p:spPr>
          <a:xfrm>
            <a:off x="37947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51 von 69</a:t>
            </a:r>
            <a:endParaRPr lang="en-US" sz="950" dirty="0"/>
          </a:p>
        </p:txBody>
      </p:sp>
      <p:sp>
        <p:nvSpPr>
          <p:cNvPr id="4" name="a001_f_1723"/>
          <p:cNvSpPr txBox="1"/>
          <p:nvPr/>
        </p:nvSpPr>
        <p:spPr>
          <a:xfrm>
            <a:off x="5486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 Center</a:t>
            </a:r>
            <a:endParaRPr lang="en-US" sz="3200" dirty="0"/>
          </a:p>
        </p:txBody>
      </p:sp>
      <p:sp>
        <p:nvSpPr>
          <p:cNvPr id="5" name="a001_f_1724"/>
          <p:cNvSpPr txBox="1"/>
          <p:nvPr/>
        </p:nvSpPr>
        <p:spPr>
          <a:xfrm>
            <a:off x="5486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/projects/:id/email</a:t>
            </a:r>
            <a:endParaRPr lang="en-US" sz="1050" dirty="0"/>
          </a:p>
        </p:txBody>
      </p:sp>
      <p:sp>
        <p:nvSpPr>
          <p:cNvPr id="6" name="a003_f_1725"/>
          <p:cNvSpPr txBox="1"/>
          <p:nvPr/>
        </p:nvSpPr>
        <p:spPr>
          <a:xfrm>
            <a:off x="5486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Nachrichten an Stab und Darsteller – mit Vorlagen.</a:t>
            </a:r>
            <a:endParaRPr lang="en-US" sz="1400" dirty="0"/>
          </a:p>
        </p:txBody>
      </p:sp>
      <p:sp>
        <p:nvSpPr>
          <p:cNvPr id="7" name="a004_f_1726"/>
          <p:cNvSpPr/>
          <p:nvPr/>
        </p:nvSpPr>
        <p:spPr>
          <a:xfrm>
            <a:off x="566928" y="2811780"/>
            <a:ext cx="118872" cy="118872"/>
          </a:xfrm>
          <a:prstGeom prst="ellipse">
            <a:avLst/>
          </a:prstGeom>
          <a:solidFill>
            <a:srgbClr val="30B0C7"/>
          </a:solidFill>
          <a:ln/>
        </p:spPr>
      </p:sp>
      <p:sp>
        <p:nvSpPr>
          <p:cNvPr id="8" name="a004_f_1727"/>
          <p:cNvSpPr txBox="1"/>
          <p:nvPr/>
        </p:nvSpPr>
        <p:spPr>
          <a:xfrm>
            <a:off x="8229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Empfänger aus Stab und Besetzung wählen</a:t>
            </a:r>
            <a:endParaRPr lang="en-US" sz="1250" dirty="0"/>
          </a:p>
        </p:txBody>
      </p:sp>
      <p:sp>
        <p:nvSpPr>
          <p:cNvPr id="9" name="a005_f_1728"/>
          <p:cNvSpPr/>
          <p:nvPr/>
        </p:nvSpPr>
        <p:spPr>
          <a:xfrm>
            <a:off x="566928" y="3154680"/>
            <a:ext cx="118872" cy="118872"/>
          </a:xfrm>
          <a:prstGeom prst="ellipse">
            <a:avLst/>
          </a:prstGeom>
          <a:solidFill>
            <a:srgbClr val="30B0C7"/>
          </a:solidFill>
          <a:ln/>
        </p:spPr>
      </p:sp>
      <p:sp>
        <p:nvSpPr>
          <p:cNvPr id="10" name="a005_f_1729"/>
          <p:cNvSpPr txBox="1"/>
          <p:nvPr/>
        </p:nvSpPr>
        <p:spPr>
          <a:xfrm>
            <a:off x="8229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Vorlagen für typische Nachrichten</a:t>
            </a:r>
            <a:endParaRPr lang="en-US" sz="1250" dirty="0"/>
          </a:p>
        </p:txBody>
      </p:sp>
      <p:sp>
        <p:nvSpPr>
          <p:cNvPr id="11" name="a006_f_1730"/>
          <p:cNvSpPr/>
          <p:nvPr/>
        </p:nvSpPr>
        <p:spPr>
          <a:xfrm>
            <a:off x="566928" y="3497580"/>
            <a:ext cx="118872" cy="118872"/>
          </a:xfrm>
          <a:prstGeom prst="ellipse">
            <a:avLst/>
          </a:prstGeom>
          <a:solidFill>
            <a:srgbClr val="30B0C7"/>
          </a:solidFill>
          <a:ln/>
        </p:spPr>
      </p:sp>
      <p:sp>
        <p:nvSpPr>
          <p:cNvPr id="12" name="a006_f_1731"/>
          <p:cNvSpPr txBox="1"/>
          <p:nvPr/>
        </p:nvSpPr>
        <p:spPr>
          <a:xfrm>
            <a:off x="8229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Betreff und Text verfassen</a:t>
            </a:r>
            <a:endParaRPr lang="en-US" sz="1250" dirty="0"/>
          </a:p>
        </p:txBody>
      </p:sp>
      <p:sp>
        <p:nvSpPr>
          <p:cNvPr id="13" name="a007_f_1732"/>
          <p:cNvSpPr/>
          <p:nvPr/>
        </p:nvSpPr>
        <p:spPr>
          <a:xfrm>
            <a:off x="566928" y="3840480"/>
            <a:ext cx="118872" cy="118872"/>
          </a:xfrm>
          <a:prstGeom prst="ellipse">
            <a:avLst/>
          </a:prstGeom>
          <a:solidFill>
            <a:srgbClr val="30B0C7"/>
          </a:solidFill>
          <a:ln/>
        </p:spPr>
      </p:sp>
      <p:sp>
        <p:nvSpPr>
          <p:cNvPr id="14" name="a007_f_1733"/>
          <p:cNvSpPr txBox="1"/>
          <p:nvPr/>
        </p:nvSpPr>
        <p:spPr>
          <a:xfrm>
            <a:off x="8229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eigenen E-Mail-Programm öffnen</a:t>
            </a:r>
            <a:endParaRPr lang="en-US" sz="1250" dirty="0"/>
          </a:p>
        </p:txBody>
      </p:sp>
      <p:sp>
        <p:nvSpPr>
          <p:cNvPr id="15" name="a012_f_1734"/>
          <p:cNvSpPr txBox="1"/>
          <p:nvPr/>
        </p:nvSpPr>
        <p:spPr>
          <a:xfrm>
            <a:off x="5486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6" name="a013_f_1735"/>
          <p:cNvSpPr txBox="1"/>
          <p:nvPr/>
        </p:nvSpPr>
        <p:spPr>
          <a:xfrm>
            <a:off x="548640" y="576072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2D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Stabliste</a:t>
            </a:r>
            <a:endParaRPr lang="en-US" sz="950" dirty="0"/>
          </a:p>
        </p:txBody>
      </p:sp>
      <p:sp>
        <p:nvSpPr>
          <p:cNvPr id="17" name="a013_f_1736"/>
          <p:cNvSpPr txBox="1"/>
          <p:nvPr/>
        </p:nvSpPr>
        <p:spPr>
          <a:xfrm>
            <a:off x="1490472" y="576072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2D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Besetzung</a:t>
            </a:r>
            <a:endParaRPr lang="en-US" sz="950" dirty="0"/>
          </a:p>
        </p:txBody>
      </p:sp>
      <p:sp>
        <p:nvSpPr>
          <p:cNvPr id="18" name="a013_f_1737"/>
          <p:cNvSpPr txBox="1"/>
          <p:nvPr/>
        </p:nvSpPr>
        <p:spPr>
          <a:xfrm>
            <a:off x="2432304" y="5760720"/>
            <a:ext cx="104241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2D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Kontaktliste</a:t>
            </a:r>
            <a:endParaRPr lang="en-US" sz="950" dirty="0"/>
          </a:p>
        </p:txBody>
      </p:sp>
      <p:sp>
        <p:nvSpPr>
          <p:cNvPr id="19" name="a002_f_1738"/>
          <p:cNvSpPr/>
          <p:nvPr/>
        </p:nvSpPr>
        <p:spPr>
          <a:xfrm>
            <a:off x="5617159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0" name="a002_f_1739" descr="/tmp/claude-0/-home-user-cutsheet/6324ba14-9edd-52e0-984d-db7baab43700/scratchpad/deck/img/light_projects_168_email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455" y="1511618"/>
            <a:ext cx="5989320" cy="3743325"/>
          </a:xfrm>
          <a:prstGeom prst="rect">
            <a:avLst/>
          </a:prstGeom>
        </p:spPr>
      </p:pic>
      <p:sp>
        <p:nvSpPr>
          <p:cNvPr id="21" name="s_1740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2" name="s_1741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1742"/>
          <p:cNvSpPr txBox="1"/>
          <p:nvPr/>
        </p:nvSpPr>
        <p:spPr>
          <a:xfrm>
            <a:off x="6720840" y="502920"/>
            <a:ext cx="2112264" cy="292608"/>
          </a:xfrm>
          <a:prstGeom prst="roundRect">
            <a:avLst>
              <a:gd name="adj" fmla="val 50000"/>
            </a:avLst>
          </a:prstGeom>
          <a:solidFill>
            <a:srgbClr val="E5F6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0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Werkzeuge &amp; Kommunikation</a:t>
            </a:r>
            <a:endParaRPr lang="en-US" sz="1000" dirty="0"/>
          </a:p>
        </p:txBody>
      </p:sp>
      <p:sp>
        <p:nvSpPr>
          <p:cNvPr id="3" name="a001_f_1743"/>
          <p:cNvSpPr txBox="1"/>
          <p:nvPr/>
        </p:nvSpPr>
        <p:spPr>
          <a:xfrm>
            <a:off x="99669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52 von 69</a:t>
            </a:r>
            <a:endParaRPr lang="en-US" sz="950" dirty="0"/>
          </a:p>
        </p:txBody>
      </p:sp>
      <p:sp>
        <p:nvSpPr>
          <p:cNvPr id="4" name="a001_f_1744"/>
          <p:cNvSpPr txBox="1"/>
          <p:nvPr/>
        </p:nvSpPr>
        <p:spPr>
          <a:xfrm>
            <a:off x="67208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Pinboard</a:t>
            </a:r>
            <a:endParaRPr lang="en-US" sz="3200" dirty="0"/>
          </a:p>
        </p:txBody>
      </p:sp>
      <p:sp>
        <p:nvSpPr>
          <p:cNvPr id="5" name="a001_f_1745"/>
          <p:cNvSpPr txBox="1"/>
          <p:nvPr/>
        </p:nvSpPr>
        <p:spPr>
          <a:xfrm>
            <a:off x="67208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/projects/:id/pinboard</a:t>
            </a:r>
            <a:endParaRPr lang="en-US" sz="1050" dirty="0"/>
          </a:p>
        </p:txBody>
      </p:sp>
      <p:sp>
        <p:nvSpPr>
          <p:cNvPr id="6" name="a003_f_1746"/>
          <p:cNvSpPr txBox="1"/>
          <p:nvPr/>
        </p:nvSpPr>
        <p:spPr>
          <a:xfrm>
            <a:off x="67208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Haftnotizen fürs ganze Team – das Schwarze Brett der Produktion.</a:t>
            </a:r>
            <a:endParaRPr lang="en-US" sz="1400" dirty="0"/>
          </a:p>
        </p:txBody>
      </p:sp>
      <p:sp>
        <p:nvSpPr>
          <p:cNvPr id="7" name="a004_f_1747"/>
          <p:cNvSpPr/>
          <p:nvPr/>
        </p:nvSpPr>
        <p:spPr>
          <a:xfrm>
            <a:off x="6739128" y="2811780"/>
            <a:ext cx="118872" cy="118872"/>
          </a:xfrm>
          <a:prstGeom prst="ellipse">
            <a:avLst/>
          </a:prstGeom>
          <a:solidFill>
            <a:srgbClr val="30B0C7"/>
          </a:solidFill>
          <a:ln/>
        </p:spPr>
      </p:sp>
      <p:sp>
        <p:nvSpPr>
          <p:cNvPr id="8" name="a004_f_1748"/>
          <p:cNvSpPr txBox="1"/>
          <p:nvPr/>
        </p:nvSpPr>
        <p:spPr>
          <a:xfrm>
            <a:off x="69951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Notizen in vier Farben</a:t>
            </a:r>
            <a:endParaRPr lang="en-US" sz="1250" dirty="0"/>
          </a:p>
        </p:txBody>
      </p:sp>
      <p:sp>
        <p:nvSpPr>
          <p:cNvPr id="9" name="a005_f_1749"/>
          <p:cNvSpPr/>
          <p:nvPr/>
        </p:nvSpPr>
        <p:spPr>
          <a:xfrm>
            <a:off x="6739128" y="3154680"/>
            <a:ext cx="118872" cy="118872"/>
          </a:xfrm>
          <a:prstGeom prst="ellipse">
            <a:avLst/>
          </a:prstGeom>
          <a:solidFill>
            <a:srgbClr val="30B0C7"/>
          </a:solidFill>
          <a:ln/>
        </p:spPr>
      </p:sp>
      <p:sp>
        <p:nvSpPr>
          <p:cNvPr id="10" name="a005_f_1750"/>
          <p:cNvSpPr txBox="1"/>
          <p:nvPr/>
        </p:nvSpPr>
        <p:spPr>
          <a:xfrm>
            <a:off x="69951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Direkt auf der Karte schreiben</a:t>
            </a:r>
            <a:endParaRPr lang="en-US" sz="1250" dirty="0"/>
          </a:p>
        </p:txBody>
      </p:sp>
      <p:sp>
        <p:nvSpPr>
          <p:cNvPr id="11" name="a006_f_1751"/>
          <p:cNvSpPr/>
          <p:nvPr/>
        </p:nvSpPr>
        <p:spPr>
          <a:xfrm>
            <a:off x="6739128" y="3497580"/>
            <a:ext cx="118872" cy="118872"/>
          </a:xfrm>
          <a:prstGeom prst="ellipse">
            <a:avLst/>
          </a:prstGeom>
          <a:solidFill>
            <a:srgbClr val="30B0C7"/>
          </a:solidFill>
          <a:ln/>
        </p:spPr>
      </p:sp>
      <p:sp>
        <p:nvSpPr>
          <p:cNvPr id="12" name="a006_f_1752"/>
          <p:cNvSpPr txBox="1"/>
          <p:nvPr/>
        </p:nvSpPr>
        <p:spPr>
          <a:xfrm>
            <a:off x="69951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Löschen, wenn erledigt</a:t>
            </a:r>
            <a:endParaRPr lang="en-US" sz="1250" dirty="0"/>
          </a:p>
        </p:txBody>
      </p:sp>
      <p:sp>
        <p:nvSpPr>
          <p:cNvPr id="13" name="a007_f_1753"/>
          <p:cNvSpPr/>
          <p:nvPr/>
        </p:nvSpPr>
        <p:spPr>
          <a:xfrm>
            <a:off x="6739128" y="3840480"/>
            <a:ext cx="118872" cy="118872"/>
          </a:xfrm>
          <a:prstGeom prst="ellipse">
            <a:avLst/>
          </a:prstGeom>
          <a:solidFill>
            <a:srgbClr val="30B0C7"/>
          </a:solidFill>
          <a:ln/>
        </p:spPr>
      </p:sp>
      <p:sp>
        <p:nvSpPr>
          <p:cNvPr id="14" name="a007_f_1754"/>
          <p:cNvSpPr txBox="1"/>
          <p:nvPr/>
        </p:nvSpPr>
        <p:spPr>
          <a:xfrm>
            <a:off x="69951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Änderungen im Audit-Log</a:t>
            </a:r>
            <a:endParaRPr lang="en-US" sz="1250" dirty="0"/>
          </a:p>
        </p:txBody>
      </p:sp>
      <p:sp>
        <p:nvSpPr>
          <p:cNvPr id="15" name="a012_f_1755"/>
          <p:cNvSpPr txBox="1"/>
          <p:nvPr/>
        </p:nvSpPr>
        <p:spPr>
          <a:xfrm>
            <a:off x="67208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6" name="a013_f_1756"/>
          <p:cNvSpPr txBox="1"/>
          <p:nvPr/>
        </p:nvSpPr>
        <p:spPr>
          <a:xfrm>
            <a:off x="6720840" y="5760720"/>
            <a:ext cx="97840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0B0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0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Aktivitäten</a:t>
            </a:r>
            <a:endParaRPr lang="en-US" sz="950" dirty="0"/>
          </a:p>
        </p:txBody>
      </p:sp>
      <p:sp>
        <p:nvSpPr>
          <p:cNvPr id="17" name="a013_f_1757"/>
          <p:cNvSpPr txBox="1"/>
          <p:nvPr/>
        </p:nvSpPr>
        <p:spPr>
          <a:xfrm>
            <a:off x="7790688" y="576072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0B0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0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Audit-Log</a:t>
            </a:r>
            <a:endParaRPr lang="en-US" sz="950" dirty="0"/>
          </a:p>
        </p:txBody>
      </p:sp>
      <p:sp>
        <p:nvSpPr>
          <p:cNvPr id="18" name="a002_f_1758"/>
          <p:cNvSpPr/>
          <p:nvPr/>
        </p:nvSpPr>
        <p:spPr>
          <a:xfrm>
            <a:off x="420624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19" name="a002_f_1759" descr="/tmp/claude-0/-home-user-cutsheet/6324ba14-9edd-52e0-984d-db7baab43700/scratchpad/deck/img/light_projects_168_pinboard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11618"/>
            <a:ext cx="5989320" cy="3743325"/>
          </a:xfrm>
          <a:prstGeom prst="rect">
            <a:avLst/>
          </a:prstGeom>
        </p:spPr>
      </p:pic>
      <p:sp>
        <p:nvSpPr>
          <p:cNvPr id="20" name="s_1760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1" name="s_1761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1762"/>
          <p:cNvSpPr txBox="1"/>
          <p:nvPr/>
        </p:nvSpPr>
        <p:spPr>
          <a:xfrm>
            <a:off x="548640" y="502920"/>
            <a:ext cx="2112264" cy="292608"/>
          </a:xfrm>
          <a:prstGeom prst="roundRect">
            <a:avLst>
              <a:gd name="adj" fmla="val 50000"/>
            </a:avLst>
          </a:prstGeom>
          <a:solidFill>
            <a:srgbClr val="E5F6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0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Werkzeuge &amp; Kommunikation</a:t>
            </a:r>
            <a:endParaRPr lang="en-US" sz="1000" dirty="0"/>
          </a:p>
        </p:txBody>
      </p:sp>
      <p:sp>
        <p:nvSpPr>
          <p:cNvPr id="3" name="a001_f_1763"/>
          <p:cNvSpPr txBox="1"/>
          <p:nvPr/>
        </p:nvSpPr>
        <p:spPr>
          <a:xfrm>
            <a:off x="37947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53 von 69</a:t>
            </a:r>
            <a:endParaRPr lang="en-US" sz="950" dirty="0"/>
          </a:p>
        </p:txBody>
      </p:sp>
      <p:sp>
        <p:nvSpPr>
          <p:cNvPr id="4" name="a001_f_1764"/>
          <p:cNvSpPr txBox="1"/>
          <p:nvPr/>
        </p:nvSpPr>
        <p:spPr>
          <a:xfrm>
            <a:off x="5486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Aktivitäten</a:t>
            </a:r>
            <a:endParaRPr lang="en-US" sz="3200" dirty="0"/>
          </a:p>
        </p:txBody>
      </p:sp>
      <p:sp>
        <p:nvSpPr>
          <p:cNvPr id="5" name="a001_f_1765"/>
          <p:cNvSpPr txBox="1"/>
          <p:nvPr/>
        </p:nvSpPr>
        <p:spPr>
          <a:xfrm>
            <a:off x="5486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/projects/:id/aktivitaet</a:t>
            </a:r>
            <a:endParaRPr lang="en-US" sz="1050" dirty="0"/>
          </a:p>
        </p:txBody>
      </p:sp>
      <p:sp>
        <p:nvSpPr>
          <p:cNvPr id="6" name="a003_f_1766"/>
          <p:cNvSpPr txBox="1"/>
          <p:nvPr/>
        </p:nvSpPr>
        <p:spPr>
          <a:xfrm>
            <a:off x="5486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Verlauf des Projekts – alle 30 Sekunden aktualisiert.</a:t>
            </a:r>
            <a:endParaRPr lang="en-US" sz="1400" dirty="0"/>
          </a:p>
        </p:txBody>
      </p:sp>
      <p:sp>
        <p:nvSpPr>
          <p:cNvPr id="7" name="a004_f_1767"/>
          <p:cNvSpPr/>
          <p:nvPr/>
        </p:nvSpPr>
        <p:spPr>
          <a:xfrm>
            <a:off x="566928" y="2811780"/>
            <a:ext cx="118872" cy="118872"/>
          </a:xfrm>
          <a:prstGeom prst="ellipse">
            <a:avLst/>
          </a:prstGeom>
          <a:solidFill>
            <a:srgbClr val="30B0C7"/>
          </a:solidFill>
          <a:ln/>
        </p:spPr>
      </p:sp>
      <p:sp>
        <p:nvSpPr>
          <p:cNvPr id="8" name="a004_f_1768"/>
          <p:cNvSpPr txBox="1"/>
          <p:nvPr/>
        </p:nvSpPr>
        <p:spPr>
          <a:xfrm>
            <a:off x="8229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Änderungen und Kommentare in zeitlicher Folge</a:t>
            </a:r>
            <a:endParaRPr lang="en-US" sz="1250" dirty="0"/>
          </a:p>
        </p:txBody>
      </p:sp>
      <p:sp>
        <p:nvSpPr>
          <p:cNvPr id="9" name="a005_f_1769"/>
          <p:cNvSpPr/>
          <p:nvPr/>
        </p:nvSpPr>
        <p:spPr>
          <a:xfrm>
            <a:off x="566928" y="3154680"/>
            <a:ext cx="118872" cy="118872"/>
          </a:xfrm>
          <a:prstGeom prst="ellipse">
            <a:avLst/>
          </a:prstGeom>
          <a:solidFill>
            <a:srgbClr val="30B0C7"/>
          </a:solidFill>
          <a:ln/>
        </p:spPr>
      </p:sp>
      <p:sp>
        <p:nvSpPr>
          <p:cNvPr id="10" name="a005_f_1770"/>
          <p:cNvSpPr txBox="1"/>
          <p:nvPr/>
        </p:nvSpPr>
        <p:spPr>
          <a:xfrm>
            <a:off x="8229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nach Bereich: Szenen, Cast, Stab, Budget …</a:t>
            </a:r>
            <a:endParaRPr lang="en-US" sz="1250" dirty="0"/>
          </a:p>
        </p:txBody>
      </p:sp>
      <p:sp>
        <p:nvSpPr>
          <p:cNvPr id="11" name="a006_f_1771"/>
          <p:cNvSpPr/>
          <p:nvPr/>
        </p:nvSpPr>
        <p:spPr>
          <a:xfrm>
            <a:off x="566928" y="3497580"/>
            <a:ext cx="118872" cy="118872"/>
          </a:xfrm>
          <a:prstGeom prst="ellipse">
            <a:avLst/>
          </a:prstGeom>
          <a:solidFill>
            <a:srgbClr val="30B0C7"/>
          </a:solidFill>
          <a:ln/>
        </p:spPr>
      </p:sp>
      <p:sp>
        <p:nvSpPr>
          <p:cNvPr id="12" name="a006_f_1772"/>
          <p:cNvSpPr txBox="1"/>
          <p:nvPr/>
        </p:nvSpPr>
        <p:spPr>
          <a:xfrm>
            <a:off x="8229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hat was wann getan</a:t>
            </a:r>
            <a:endParaRPr lang="en-US" sz="1250" dirty="0"/>
          </a:p>
        </p:txBody>
      </p:sp>
      <p:sp>
        <p:nvSpPr>
          <p:cNvPr id="13" name="a012_f_1773"/>
          <p:cNvSpPr txBox="1"/>
          <p:nvPr/>
        </p:nvSpPr>
        <p:spPr>
          <a:xfrm>
            <a:off x="5486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4" name="a013_f_1774"/>
          <p:cNvSpPr txBox="1"/>
          <p:nvPr/>
        </p:nvSpPr>
        <p:spPr>
          <a:xfrm>
            <a:off x="548640" y="576072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0B0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0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Audit-Log</a:t>
            </a:r>
            <a:endParaRPr lang="en-US" sz="950" dirty="0"/>
          </a:p>
        </p:txBody>
      </p:sp>
      <p:sp>
        <p:nvSpPr>
          <p:cNvPr id="15" name="a013_f_1775"/>
          <p:cNvSpPr txBox="1"/>
          <p:nvPr/>
        </p:nvSpPr>
        <p:spPr>
          <a:xfrm>
            <a:off x="1490472" y="5760720"/>
            <a:ext cx="136245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F52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Szenen-Kommentare</a:t>
            </a:r>
            <a:endParaRPr lang="en-US" sz="950" dirty="0"/>
          </a:p>
        </p:txBody>
      </p:sp>
      <p:sp>
        <p:nvSpPr>
          <p:cNvPr id="16" name="a002_f_1776"/>
          <p:cNvSpPr/>
          <p:nvPr/>
        </p:nvSpPr>
        <p:spPr>
          <a:xfrm>
            <a:off x="5617159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17" name="a002_f_1777" descr="/tmp/claude-0/-home-user-cutsheet/6324ba14-9edd-52e0-984d-db7baab43700/scratchpad/deck/img/light_projects_168_aktivitaet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455" y="1511618"/>
            <a:ext cx="5989320" cy="3743325"/>
          </a:xfrm>
          <a:prstGeom prst="rect">
            <a:avLst/>
          </a:prstGeom>
        </p:spPr>
      </p:pic>
      <p:sp>
        <p:nvSpPr>
          <p:cNvPr id="18" name="s_1778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19" name="s_1779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1780"/>
          <p:cNvSpPr txBox="1"/>
          <p:nvPr/>
        </p:nvSpPr>
        <p:spPr>
          <a:xfrm>
            <a:off x="6720840" y="502920"/>
            <a:ext cx="2112264" cy="292608"/>
          </a:xfrm>
          <a:prstGeom prst="roundRect">
            <a:avLst>
              <a:gd name="adj" fmla="val 50000"/>
            </a:avLst>
          </a:prstGeom>
          <a:solidFill>
            <a:srgbClr val="E5F6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0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Werkzeuge &amp; Kommunikation</a:t>
            </a:r>
            <a:endParaRPr lang="en-US" sz="1000" dirty="0"/>
          </a:p>
        </p:txBody>
      </p:sp>
      <p:sp>
        <p:nvSpPr>
          <p:cNvPr id="3" name="a001_f_1781"/>
          <p:cNvSpPr txBox="1"/>
          <p:nvPr/>
        </p:nvSpPr>
        <p:spPr>
          <a:xfrm>
            <a:off x="99669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54 von 69</a:t>
            </a:r>
            <a:endParaRPr lang="en-US" sz="950" dirty="0"/>
          </a:p>
        </p:txBody>
      </p:sp>
      <p:sp>
        <p:nvSpPr>
          <p:cNvPr id="4" name="a001_f_1782"/>
          <p:cNvSpPr txBox="1"/>
          <p:nvPr/>
        </p:nvSpPr>
        <p:spPr>
          <a:xfrm>
            <a:off x="67208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Suche</a:t>
            </a:r>
            <a:endParaRPr lang="en-US" sz="3200" dirty="0"/>
          </a:p>
        </p:txBody>
      </p:sp>
      <p:sp>
        <p:nvSpPr>
          <p:cNvPr id="5" name="a001_f_1783"/>
          <p:cNvSpPr txBox="1"/>
          <p:nvPr/>
        </p:nvSpPr>
        <p:spPr>
          <a:xfrm>
            <a:off x="67208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/projects/:id/suche</a:t>
            </a:r>
            <a:endParaRPr lang="en-US" sz="1050" dirty="0"/>
          </a:p>
        </p:txBody>
      </p:sp>
      <p:sp>
        <p:nvSpPr>
          <p:cNvPr id="6" name="a003_f_1784"/>
          <p:cNvSpPr txBox="1"/>
          <p:nvPr/>
        </p:nvSpPr>
        <p:spPr>
          <a:xfrm>
            <a:off x="67208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Volltextsuche über das ganze Projekt.</a:t>
            </a:r>
            <a:endParaRPr lang="en-US" sz="1400" dirty="0"/>
          </a:p>
        </p:txBody>
      </p:sp>
      <p:sp>
        <p:nvSpPr>
          <p:cNvPr id="7" name="a004_f_1785"/>
          <p:cNvSpPr/>
          <p:nvPr/>
        </p:nvSpPr>
        <p:spPr>
          <a:xfrm>
            <a:off x="6739128" y="2811780"/>
            <a:ext cx="118872" cy="118872"/>
          </a:xfrm>
          <a:prstGeom prst="ellipse">
            <a:avLst/>
          </a:prstGeom>
          <a:solidFill>
            <a:srgbClr val="30B0C7"/>
          </a:solidFill>
          <a:ln/>
        </p:spPr>
      </p:sp>
      <p:sp>
        <p:nvSpPr>
          <p:cNvPr id="8" name="a004_f_1786"/>
          <p:cNvSpPr txBox="1"/>
          <p:nvPr/>
        </p:nvSpPr>
        <p:spPr>
          <a:xfrm>
            <a:off x="69951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Szenen, Drehbuchtext, Darsteller, Crew, Motive</a:t>
            </a:r>
            <a:endParaRPr lang="en-US" sz="1250" dirty="0"/>
          </a:p>
        </p:txBody>
      </p:sp>
      <p:sp>
        <p:nvSpPr>
          <p:cNvPr id="9" name="a005_f_1787"/>
          <p:cNvSpPr/>
          <p:nvPr/>
        </p:nvSpPr>
        <p:spPr>
          <a:xfrm>
            <a:off x="6739128" y="3154680"/>
            <a:ext cx="118872" cy="118872"/>
          </a:xfrm>
          <a:prstGeom prst="ellipse">
            <a:avLst/>
          </a:prstGeom>
          <a:solidFill>
            <a:srgbClr val="30B0C7"/>
          </a:solidFill>
          <a:ln/>
        </p:spPr>
      </p:sp>
      <p:sp>
        <p:nvSpPr>
          <p:cNvPr id="10" name="a005_f_1788"/>
          <p:cNvSpPr txBox="1"/>
          <p:nvPr/>
        </p:nvSpPr>
        <p:spPr>
          <a:xfrm>
            <a:off x="69951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Treffer nach Bereich gruppiert</a:t>
            </a:r>
            <a:endParaRPr lang="en-US" sz="1250" dirty="0"/>
          </a:p>
        </p:txBody>
      </p:sp>
      <p:sp>
        <p:nvSpPr>
          <p:cNvPr id="11" name="a006_f_1789"/>
          <p:cNvSpPr/>
          <p:nvPr/>
        </p:nvSpPr>
        <p:spPr>
          <a:xfrm>
            <a:off x="6739128" y="3497580"/>
            <a:ext cx="118872" cy="118872"/>
          </a:xfrm>
          <a:prstGeom prst="ellipse">
            <a:avLst/>
          </a:prstGeom>
          <a:solidFill>
            <a:srgbClr val="30B0C7"/>
          </a:solidFill>
          <a:ln/>
        </p:spPr>
      </p:sp>
      <p:sp>
        <p:nvSpPr>
          <p:cNvPr id="12" name="a006_f_1790"/>
          <p:cNvSpPr txBox="1"/>
          <p:nvPr/>
        </p:nvSpPr>
        <p:spPr>
          <a:xfrm>
            <a:off x="69951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Sprung direkt zum Eintrag</a:t>
            </a:r>
            <a:endParaRPr lang="en-US" sz="1250" dirty="0"/>
          </a:p>
        </p:txBody>
      </p:sp>
      <p:sp>
        <p:nvSpPr>
          <p:cNvPr id="13" name="a007_f_1791"/>
          <p:cNvSpPr/>
          <p:nvPr/>
        </p:nvSpPr>
        <p:spPr>
          <a:xfrm>
            <a:off x="6739128" y="3840480"/>
            <a:ext cx="118872" cy="118872"/>
          </a:xfrm>
          <a:prstGeom prst="ellipse">
            <a:avLst/>
          </a:prstGeom>
          <a:solidFill>
            <a:srgbClr val="30B0C7"/>
          </a:solidFill>
          <a:ln/>
        </p:spPr>
      </p:sp>
      <p:sp>
        <p:nvSpPr>
          <p:cNvPr id="14" name="a007_f_1792"/>
          <p:cNvSpPr txBox="1"/>
          <p:nvPr/>
        </p:nvSpPr>
        <p:spPr>
          <a:xfrm>
            <a:off x="69951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Zusätzlich überall per ⌘K</a:t>
            </a:r>
            <a:endParaRPr lang="en-US" sz="1250" dirty="0"/>
          </a:p>
        </p:txBody>
      </p:sp>
      <p:sp>
        <p:nvSpPr>
          <p:cNvPr id="15" name="a012_f_1793"/>
          <p:cNvSpPr txBox="1"/>
          <p:nvPr/>
        </p:nvSpPr>
        <p:spPr>
          <a:xfrm>
            <a:off x="67208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6" name="a013_f_1794"/>
          <p:cNvSpPr txBox="1"/>
          <p:nvPr/>
        </p:nvSpPr>
        <p:spPr>
          <a:xfrm>
            <a:off x="6720840" y="5760720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F52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Szenen</a:t>
            </a:r>
            <a:endParaRPr lang="en-US" sz="950" dirty="0"/>
          </a:p>
        </p:txBody>
      </p:sp>
      <p:sp>
        <p:nvSpPr>
          <p:cNvPr id="17" name="a013_f_1795"/>
          <p:cNvSpPr txBox="1"/>
          <p:nvPr/>
        </p:nvSpPr>
        <p:spPr>
          <a:xfrm>
            <a:off x="7470648" y="576072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F52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Drehbuch-Editor</a:t>
            </a:r>
            <a:endParaRPr lang="en-US" sz="950" dirty="0"/>
          </a:p>
        </p:txBody>
      </p:sp>
      <p:sp>
        <p:nvSpPr>
          <p:cNvPr id="18" name="a013_f_1796"/>
          <p:cNvSpPr txBox="1"/>
          <p:nvPr/>
        </p:nvSpPr>
        <p:spPr>
          <a:xfrm>
            <a:off x="8796528" y="576072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2D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Besetzung</a:t>
            </a:r>
            <a:endParaRPr lang="en-US" sz="950" dirty="0"/>
          </a:p>
        </p:txBody>
      </p:sp>
      <p:sp>
        <p:nvSpPr>
          <p:cNvPr id="19" name="a013_f_1797"/>
          <p:cNvSpPr txBox="1"/>
          <p:nvPr/>
        </p:nvSpPr>
        <p:spPr>
          <a:xfrm>
            <a:off x="9738360" y="576072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2D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2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Stabliste</a:t>
            </a:r>
            <a:endParaRPr lang="en-US" sz="950" dirty="0"/>
          </a:p>
        </p:txBody>
      </p:sp>
      <p:sp>
        <p:nvSpPr>
          <p:cNvPr id="20" name="a013_f_1798"/>
          <p:cNvSpPr txBox="1"/>
          <p:nvPr/>
        </p:nvSpPr>
        <p:spPr>
          <a:xfrm>
            <a:off x="10680192" y="5760720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Motive</a:t>
            </a:r>
            <a:endParaRPr lang="en-US" sz="950" dirty="0"/>
          </a:p>
        </p:txBody>
      </p:sp>
      <p:sp>
        <p:nvSpPr>
          <p:cNvPr id="21" name="a002_f_1799"/>
          <p:cNvSpPr/>
          <p:nvPr/>
        </p:nvSpPr>
        <p:spPr>
          <a:xfrm>
            <a:off x="420624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2" name="a002_f_1800" descr="/tmp/claude-0/-home-user-cutsheet/6324ba14-9edd-52e0-984d-db7baab43700/scratchpad/deck/img/f_suche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11618"/>
            <a:ext cx="5989320" cy="3743325"/>
          </a:xfrm>
          <a:prstGeom prst="rect">
            <a:avLst/>
          </a:prstGeom>
        </p:spPr>
      </p:pic>
      <p:sp>
        <p:nvSpPr>
          <p:cNvPr id="23" name="s_1801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4" name="s_1802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1803"/>
          <p:cNvSpPr txBox="1"/>
          <p:nvPr/>
        </p:nvSpPr>
        <p:spPr>
          <a:xfrm>
            <a:off x="548640" y="502920"/>
            <a:ext cx="2112264" cy="292608"/>
          </a:xfrm>
          <a:prstGeom prst="roundRect">
            <a:avLst>
              <a:gd name="adj" fmla="val 50000"/>
            </a:avLst>
          </a:prstGeom>
          <a:solidFill>
            <a:srgbClr val="E5F6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0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Werkzeuge &amp; Kommunikation</a:t>
            </a:r>
            <a:endParaRPr lang="en-US" sz="1000" dirty="0"/>
          </a:p>
        </p:txBody>
      </p:sp>
      <p:sp>
        <p:nvSpPr>
          <p:cNvPr id="3" name="a001_f_1804"/>
          <p:cNvSpPr txBox="1"/>
          <p:nvPr/>
        </p:nvSpPr>
        <p:spPr>
          <a:xfrm>
            <a:off x="37947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55 von 69</a:t>
            </a:r>
            <a:endParaRPr lang="en-US" sz="950" dirty="0"/>
          </a:p>
        </p:txBody>
      </p:sp>
      <p:sp>
        <p:nvSpPr>
          <p:cNvPr id="4" name="a001_f_1805"/>
          <p:cNvSpPr txBox="1"/>
          <p:nvPr/>
        </p:nvSpPr>
        <p:spPr>
          <a:xfrm>
            <a:off x="5486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Audit-Log</a:t>
            </a:r>
            <a:endParaRPr lang="en-US" sz="3200" dirty="0"/>
          </a:p>
        </p:txBody>
      </p:sp>
      <p:sp>
        <p:nvSpPr>
          <p:cNvPr id="5" name="a001_f_1806"/>
          <p:cNvSpPr txBox="1"/>
          <p:nvPr/>
        </p:nvSpPr>
        <p:spPr>
          <a:xfrm>
            <a:off x="5486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/projects/:id/audit</a:t>
            </a:r>
            <a:endParaRPr lang="en-US" sz="1050" dirty="0"/>
          </a:p>
        </p:txBody>
      </p:sp>
      <p:sp>
        <p:nvSpPr>
          <p:cNvPr id="6" name="a003_f_1807"/>
          <p:cNvSpPr txBox="1"/>
          <p:nvPr/>
        </p:nvSpPr>
        <p:spPr>
          <a:xfrm>
            <a:off x="5486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Änderungsprotokoll: jede Änderung mit Person, Zeitpunkt und Eintrag.</a:t>
            </a:r>
            <a:endParaRPr lang="en-US" sz="1400" dirty="0"/>
          </a:p>
        </p:txBody>
      </p:sp>
      <p:sp>
        <p:nvSpPr>
          <p:cNvPr id="7" name="a004_f_1808"/>
          <p:cNvSpPr/>
          <p:nvPr/>
        </p:nvSpPr>
        <p:spPr>
          <a:xfrm>
            <a:off x="566928" y="2811780"/>
            <a:ext cx="118872" cy="118872"/>
          </a:xfrm>
          <a:prstGeom prst="ellipse">
            <a:avLst/>
          </a:prstGeom>
          <a:solidFill>
            <a:srgbClr val="30B0C7"/>
          </a:solidFill>
          <a:ln/>
        </p:spPr>
      </p:sp>
      <p:sp>
        <p:nvSpPr>
          <p:cNvPr id="8" name="a004_f_1809"/>
          <p:cNvSpPr txBox="1"/>
          <p:nvPr/>
        </p:nvSpPr>
        <p:spPr>
          <a:xfrm>
            <a:off x="8229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Angelegt, geändert, gelöscht – farbig</a:t>
            </a:r>
            <a:endParaRPr lang="en-US" sz="1250" dirty="0"/>
          </a:p>
        </p:txBody>
      </p:sp>
      <p:sp>
        <p:nvSpPr>
          <p:cNvPr id="9" name="a005_f_1810"/>
          <p:cNvSpPr/>
          <p:nvPr/>
        </p:nvSpPr>
        <p:spPr>
          <a:xfrm>
            <a:off x="566928" y="3154680"/>
            <a:ext cx="118872" cy="118872"/>
          </a:xfrm>
          <a:prstGeom prst="ellipse">
            <a:avLst/>
          </a:prstGeom>
          <a:solidFill>
            <a:srgbClr val="30B0C7"/>
          </a:solidFill>
          <a:ln/>
        </p:spPr>
      </p:sp>
      <p:sp>
        <p:nvSpPr>
          <p:cNvPr id="10" name="a005_f_1811"/>
          <p:cNvSpPr txBox="1"/>
          <p:nvPr/>
        </p:nvSpPr>
        <p:spPr>
          <a:xfrm>
            <a:off x="8229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Benutzer, Entität und Nummer</a:t>
            </a:r>
            <a:endParaRPr lang="en-US" sz="1250" dirty="0"/>
          </a:p>
        </p:txBody>
      </p:sp>
      <p:sp>
        <p:nvSpPr>
          <p:cNvPr id="11" name="a006_f_1812"/>
          <p:cNvSpPr/>
          <p:nvPr/>
        </p:nvSpPr>
        <p:spPr>
          <a:xfrm>
            <a:off x="566928" y="3497580"/>
            <a:ext cx="118872" cy="118872"/>
          </a:xfrm>
          <a:prstGeom prst="ellipse">
            <a:avLst/>
          </a:prstGeom>
          <a:solidFill>
            <a:srgbClr val="30B0C7"/>
          </a:solidFill>
          <a:ln/>
        </p:spPr>
      </p:sp>
      <p:sp>
        <p:nvSpPr>
          <p:cNvPr id="12" name="a006_f_1813"/>
          <p:cNvSpPr txBox="1"/>
          <p:nvPr/>
        </p:nvSpPr>
        <p:spPr>
          <a:xfrm>
            <a:off x="8229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Lesbare Details (Titel oder geänderte Felder)</a:t>
            </a:r>
            <a:endParaRPr lang="en-US" sz="1250" dirty="0"/>
          </a:p>
        </p:txBody>
      </p:sp>
      <p:sp>
        <p:nvSpPr>
          <p:cNvPr id="13" name="a007_f_1814"/>
          <p:cNvSpPr/>
          <p:nvPr/>
        </p:nvSpPr>
        <p:spPr>
          <a:xfrm>
            <a:off x="566928" y="3840480"/>
            <a:ext cx="118872" cy="118872"/>
          </a:xfrm>
          <a:prstGeom prst="ellipse">
            <a:avLst/>
          </a:prstGeom>
          <a:solidFill>
            <a:srgbClr val="30B0C7"/>
          </a:solidFill>
          <a:ln/>
        </p:spPr>
      </p:sp>
      <p:sp>
        <p:nvSpPr>
          <p:cNvPr id="14" name="a007_f_1815"/>
          <p:cNvSpPr txBox="1"/>
          <p:nvPr/>
        </p:nvSpPr>
        <p:spPr>
          <a:xfrm>
            <a:off x="8229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Ohne Passwörter und Rohdaten</a:t>
            </a:r>
            <a:endParaRPr lang="en-US" sz="1250" dirty="0"/>
          </a:p>
        </p:txBody>
      </p:sp>
      <p:sp>
        <p:nvSpPr>
          <p:cNvPr id="15" name="a012_f_1816"/>
          <p:cNvSpPr txBox="1"/>
          <p:nvPr/>
        </p:nvSpPr>
        <p:spPr>
          <a:xfrm>
            <a:off x="5486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6" name="a013_f_1817"/>
          <p:cNvSpPr txBox="1"/>
          <p:nvPr/>
        </p:nvSpPr>
        <p:spPr>
          <a:xfrm>
            <a:off x="548640" y="5760720"/>
            <a:ext cx="97840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0B0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0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Aktivitäten</a:t>
            </a:r>
            <a:endParaRPr lang="en-US" sz="950" dirty="0"/>
          </a:p>
        </p:txBody>
      </p:sp>
      <p:sp>
        <p:nvSpPr>
          <p:cNvPr id="17" name="a013_f_1818"/>
          <p:cNvSpPr txBox="1"/>
          <p:nvPr/>
        </p:nvSpPr>
        <p:spPr>
          <a:xfrm>
            <a:off x="1618488" y="576072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71E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Aufgaben</a:t>
            </a:r>
            <a:endParaRPr lang="en-US" sz="950" dirty="0"/>
          </a:p>
        </p:txBody>
      </p:sp>
      <p:sp>
        <p:nvSpPr>
          <p:cNvPr id="18" name="a013_f_1819"/>
          <p:cNvSpPr txBox="1"/>
          <p:nvPr/>
        </p:nvSpPr>
        <p:spPr>
          <a:xfrm>
            <a:off x="2496312" y="576072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0B0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0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Pinboard</a:t>
            </a:r>
            <a:endParaRPr lang="en-US" sz="950" dirty="0"/>
          </a:p>
        </p:txBody>
      </p:sp>
      <p:sp>
        <p:nvSpPr>
          <p:cNvPr id="19" name="a002_f_1820"/>
          <p:cNvSpPr/>
          <p:nvPr/>
        </p:nvSpPr>
        <p:spPr>
          <a:xfrm>
            <a:off x="5617159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0" name="a002_f_1821" descr="/tmp/claude-0/-home-user-cutsheet/6324ba14-9edd-52e0-984d-db7baab43700/scratchpad/deck/img/f_audit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455" y="1511618"/>
            <a:ext cx="5989320" cy="3743325"/>
          </a:xfrm>
          <a:prstGeom prst="rect">
            <a:avLst/>
          </a:prstGeom>
        </p:spPr>
      </p:pic>
      <p:sp>
        <p:nvSpPr>
          <p:cNvPr id="21" name="s_1822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2" name="s_182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z_1824"/>
          <p:cNvSpPr txBox="1"/>
          <p:nvPr/>
        </p:nvSpPr>
        <p:spPr>
          <a:xfrm>
            <a:off x="548640" y="8229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600" dirty="0"/>
          </a:p>
        </p:txBody>
      </p:sp>
      <p:sp>
        <p:nvSpPr>
          <p:cNvPr id="3" name="a002_f_1825"/>
          <p:cNvSpPr txBox="1"/>
          <p:nvPr/>
        </p:nvSpPr>
        <p:spPr>
          <a:xfrm>
            <a:off x="548640" y="23317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Creator-Modus</a:t>
            </a:r>
            <a:endParaRPr lang="en-US" sz="3600" dirty="0"/>
          </a:p>
        </p:txBody>
      </p:sp>
      <p:sp>
        <p:nvSpPr>
          <p:cNvPr id="4" name="a003_f_1826"/>
          <p:cNvSpPr txBox="1"/>
          <p:nvPr/>
        </p:nvSpPr>
        <p:spPr>
          <a:xfrm>
            <a:off x="548640" y="36576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YouTube- und Social-Produktionen: eigene Bereiche für Kanal, Videos, Veröffentlichung und Geld.</a:t>
            </a:r>
            <a:endParaRPr lang="en-US" sz="1500" dirty="0"/>
          </a:p>
        </p:txBody>
      </p:sp>
      <p:sp>
        <p:nvSpPr>
          <p:cNvPr id="5" name="a003_f_1827"/>
          <p:cNvSpPr txBox="1"/>
          <p:nvPr/>
        </p:nvSpPr>
        <p:spPr>
          <a:xfrm>
            <a:off x="548640" y="5029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Seiten</a:t>
            </a:r>
            <a:endParaRPr lang="en-US" sz="1300" dirty="0"/>
          </a:p>
        </p:txBody>
      </p:sp>
      <p:sp>
        <p:nvSpPr>
          <p:cNvPr id="6" name="a004_f_1828"/>
          <p:cNvSpPr/>
          <p:nvPr/>
        </p:nvSpPr>
        <p:spPr>
          <a:xfrm>
            <a:off x="5897880" y="859536"/>
            <a:ext cx="128016" cy="128016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7" name="a004_f_1829"/>
          <p:cNvSpPr txBox="1"/>
          <p:nvPr/>
        </p:nvSpPr>
        <p:spPr>
          <a:xfrm>
            <a:off x="6172200" y="7772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Creator-Dashboard</a:t>
            </a:r>
            <a:endParaRPr lang="en-US" sz="1350" dirty="0"/>
          </a:p>
        </p:txBody>
      </p:sp>
      <p:sp>
        <p:nvSpPr>
          <p:cNvPr id="8" name="a004_f_1830"/>
          <p:cNvSpPr txBox="1"/>
          <p:nvPr/>
        </p:nvSpPr>
        <p:spPr>
          <a:xfrm>
            <a:off x="6172200" y="10789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(Creator)</a:t>
            </a:r>
            <a:endParaRPr lang="en-US" sz="900" dirty="0"/>
          </a:p>
        </p:txBody>
      </p:sp>
      <p:sp>
        <p:nvSpPr>
          <p:cNvPr id="9" name="a005_f_1831"/>
          <p:cNvSpPr/>
          <p:nvPr/>
        </p:nvSpPr>
        <p:spPr>
          <a:xfrm>
            <a:off x="5897880" y="1591056"/>
            <a:ext cx="128016" cy="128016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0" name="a005_f_1832"/>
          <p:cNvSpPr txBox="1"/>
          <p:nvPr/>
        </p:nvSpPr>
        <p:spPr>
          <a:xfrm>
            <a:off x="6172200" y="15087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Videos</a:t>
            </a:r>
            <a:endParaRPr lang="en-US" sz="1350" dirty="0"/>
          </a:p>
        </p:txBody>
      </p:sp>
      <p:sp>
        <p:nvSpPr>
          <p:cNvPr id="11" name="a005_f_1833"/>
          <p:cNvSpPr txBox="1"/>
          <p:nvPr/>
        </p:nvSpPr>
        <p:spPr>
          <a:xfrm>
            <a:off x="6172200" y="18105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/creator</a:t>
            </a:r>
            <a:endParaRPr lang="en-US" sz="900" dirty="0"/>
          </a:p>
        </p:txBody>
      </p:sp>
      <p:sp>
        <p:nvSpPr>
          <p:cNvPr id="12" name="a006_f_1834"/>
          <p:cNvSpPr/>
          <p:nvPr/>
        </p:nvSpPr>
        <p:spPr>
          <a:xfrm>
            <a:off x="5897880" y="2322576"/>
            <a:ext cx="128016" cy="128016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3" name="a006_f_1835"/>
          <p:cNvSpPr txBox="1"/>
          <p:nvPr/>
        </p:nvSpPr>
        <p:spPr>
          <a:xfrm>
            <a:off x="6172200" y="22402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Video-Detail</a:t>
            </a:r>
            <a:endParaRPr lang="en-US" sz="1350" dirty="0"/>
          </a:p>
        </p:txBody>
      </p:sp>
      <p:sp>
        <p:nvSpPr>
          <p:cNvPr id="14" name="a006_f_1836"/>
          <p:cNvSpPr txBox="1"/>
          <p:nvPr/>
        </p:nvSpPr>
        <p:spPr>
          <a:xfrm>
            <a:off x="6172200" y="25420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/creator/:video</a:t>
            </a:r>
            <a:endParaRPr lang="en-US" sz="900" dirty="0"/>
          </a:p>
        </p:txBody>
      </p:sp>
      <p:sp>
        <p:nvSpPr>
          <p:cNvPr id="15" name="a007_f_1837"/>
          <p:cNvSpPr/>
          <p:nvPr/>
        </p:nvSpPr>
        <p:spPr>
          <a:xfrm>
            <a:off x="5897880" y="3054096"/>
            <a:ext cx="128016" cy="128016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6" name="a007_f_1838"/>
          <p:cNvSpPr txBox="1"/>
          <p:nvPr/>
        </p:nvSpPr>
        <p:spPr>
          <a:xfrm>
            <a:off x="6172200" y="2971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Ideen</a:t>
            </a:r>
            <a:endParaRPr lang="en-US" sz="1350" dirty="0"/>
          </a:p>
        </p:txBody>
      </p:sp>
      <p:sp>
        <p:nvSpPr>
          <p:cNvPr id="17" name="a007_f_1839"/>
          <p:cNvSpPr txBox="1"/>
          <p:nvPr/>
        </p:nvSpPr>
        <p:spPr>
          <a:xfrm>
            <a:off x="6172200" y="32735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/creator/ideen</a:t>
            </a:r>
            <a:endParaRPr lang="en-US" sz="900" dirty="0"/>
          </a:p>
        </p:txBody>
      </p:sp>
      <p:sp>
        <p:nvSpPr>
          <p:cNvPr id="18" name="a008_f_1840"/>
          <p:cNvSpPr/>
          <p:nvPr/>
        </p:nvSpPr>
        <p:spPr>
          <a:xfrm>
            <a:off x="5897880" y="3785616"/>
            <a:ext cx="128016" cy="128016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9" name="a008_f_1841"/>
          <p:cNvSpPr txBox="1"/>
          <p:nvPr/>
        </p:nvSpPr>
        <p:spPr>
          <a:xfrm>
            <a:off x="6172200" y="37033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Kanal</a:t>
            </a:r>
            <a:endParaRPr lang="en-US" sz="1350" dirty="0"/>
          </a:p>
        </p:txBody>
      </p:sp>
      <p:sp>
        <p:nvSpPr>
          <p:cNvPr id="20" name="a008_f_1842"/>
          <p:cNvSpPr txBox="1"/>
          <p:nvPr/>
        </p:nvSpPr>
        <p:spPr>
          <a:xfrm>
            <a:off x="6172200" y="40050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/creator/kanal</a:t>
            </a:r>
            <a:endParaRPr lang="en-US" sz="900" dirty="0"/>
          </a:p>
        </p:txBody>
      </p:sp>
      <p:sp>
        <p:nvSpPr>
          <p:cNvPr id="21" name="a009_f_1843"/>
          <p:cNvSpPr/>
          <p:nvPr/>
        </p:nvSpPr>
        <p:spPr>
          <a:xfrm>
            <a:off x="5897880" y="4517136"/>
            <a:ext cx="128016" cy="128016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22" name="a009_f_1844"/>
          <p:cNvSpPr txBox="1"/>
          <p:nvPr/>
        </p:nvSpPr>
        <p:spPr>
          <a:xfrm>
            <a:off x="6172200" y="4434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Redaktionsplan</a:t>
            </a:r>
            <a:endParaRPr lang="en-US" sz="1350" dirty="0"/>
          </a:p>
        </p:txBody>
      </p:sp>
      <p:sp>
        <p:nvSpPr>
          <p:cNvPr id="23" name="a009_f_1845"/>
          <p:cNvSpPr txBox="1"/>
          <p:nvPr/>
        </p:nvSpPr>
        <p:spPr>
          <a:xfrm>
            <a:off x="6172200" y="47365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/creator/redaktionsplan</a:t>
            </a:r>
            <a:endParaRPr lang="en-US" sz="900" dirty="0"/>
          </a:p>
        </p:txBody>
      </p:sp>
      <p:sp>
        <p:nvSpPr>
          <p:cNvPr id="24" name="a010_f_1846"/>
          <p:cNvSpPr/>
          <p:nvPr/>
        </p:nvSpPr>
        <p:spPr>
          <a:xfrm>
            <a:off x="5897880" y="5248656"/>
            <a:ext cx="128016" cy="128016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25" name="a010_f_1847"/>
          <p:cNvSpPr txBox="1"/>
          <p:nvPr/>
        </p:nvSpPr>
        <p:spPr>
          <a:xfrm>
            <a:off x="6172200" y="51663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Serien &amp; Formate</a:t>
            </a:r>
            <a:endParaRPr lang="en-US" sz="1350" dirty="0"/>
          </a:p>
        </p:txBody>
      </p:sp>
      <p:sp>
        <p:nvSpPr>
          <p:cNvPr id="26" name="a010_f_1848"/>
          <p:cNvSpPr txBox="1"/>
          <p:nvPr/>
        </p:nvSpPr>
        <p:spPr>
          <a:xfrm>
            <a:off x="6172200" y="54681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/creator/serien</a:t>
            </a:r>
            <a:endParaRPr lang="en-US" sz="900" dirty="0"/>
          </a:p>
        </p:txBody>
      </p:sp>
      <p:sp>
        <p:nvSpPr>
          <p:cNvPr id="27" name="a011_f_1849"/>
          <p:cNvSpPr/>
          <p:nvPr/>
        </p:nvSpPr>
        <p:spPr>
          <a:xfrm>
            <a:off x="8915400" y="859536"/>
            <a:ext cx="128016" cy="128016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28" name="a011_f_1850"/>
          <p:cNvSpPr txBox="1"/>
          <p:nvPr/>
        </p:nvSpPr>
        <p:spPr>
          <a:xfrm>
            <a:off x="9189720" y="7772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Titel &amp; Thumbnails</a:t>
            </a:r>
            <a:endParaRPr lang="en-US" sz="1350" dirty="0"/>
          </a:p>
        </p:txBody>
      </p:sp>
      <p:sp>
        <p:nvSpPr>
          <p:cNvPr id="29" name="a011_f_1851"/>
          <p:cNvSpPr txBox="1"/>
          <p:nvPr/>
        </p:nvSpPr>
        <p:spPr>
          <a:xfrm>
            <a:off x="9189720" y="10789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/creator/titel</a:t>
            </a:r>
            <a:endParaRPr lang="en-US" sz="900" dirty="0"/>
          </a:p>
        </p:txBody>
      </p:sp>
      <p:sp>
        <p:nvSpPr>
          <p:cNvPr id="30" name="a012_f_1852"/>
          <p:cNvSpPr/>
          <p:nvPr/>
        </p:nvSpPr>
        <p:spPr>
          <a:xfrm>
            <a:off x="8915400" y="1591056"/>
            <a:ext cx="128016" cy="128016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31" name="a012_f_1853"/>
          <p:cNvSpPr txBox="1"/>
          <p:nvPr/>
        </p:nvSpPr>
        <p:spPr>
          <a:xfrm>
            <a:off x="9189720" y="15087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Sponsoren &amp; Integrationen</a:t>
            </a:r>
            <a:endParaRPr lang="en-US" sz="1350" dirty="0"/>
          </a:p>
        </p:txBody>
      </p:sp>
      <p:sp>
        <p:nvSpPr>
          <p:cNvPr id="32" name="a012_f_1854"/>
          <p:cNvSpPr txBox="1"/>
          <p:nvPr/>
        </p:nvSpPr>
        <p:spPr>
          <a:xfrm>
            <a:off x="9189720" y="18105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/creator/sponsoren</a:t>
            </a:r>
            <a:endParaRPr lang="en-US" sz="900" dirty="0"/>
          </a:p>
        </p:txBody>
      </p:sp>
      <p:sp>
        <p:nvSpPr>
          <p:cNvPr id="33" name="a013_f_1855"/>
          <p:cNvSpPr/>
          <p:nvPr/>
        </p:nvSpPr>
        <p:spPr>
          <a:xfrm>
            <a:off x="8915400" y="2322576"/>
            <a:ext cx="128016" cy="128016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34" name="a013_f_1856"/>
          <p:cNvSpPr txBox="1"/>
          <p:nvPr/>
        </p:nvSpPr>
        <p:spPr>
          <a:xfrm>
            <a:off x="9189720" y="22402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&amp; Metadaten</a:t>
            </a:r>
            <a:endParaRPr lang="en-US" sz="1350" dirty="0"/>
          </a:p>
        </p:txBody>
      </p:sp>
      <p:sp>
        <p:nvSpPr>
          <p:cNvPr id="35" name="a013_f_1857"/>
          <p:cNvSpPr txBox="1"/>
          <p:nvPr/>
        </p:nvSpPr>
        <p:spPr>
          <a:xfrm>
            <a:off x="9189720" y="25420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/creator/seo</a:t>
            </a:r>
            <a:endParaRPr lang="en-US" sz="900" dirty="0"/>
          </a:p>
        </p:txBody>
      </p:sp>
      <p:sp>
        <p:nvSpPr>
          <p:cNvPr id="36" name="a014_f_1858"/>
          <p:cNvSpPr/>
          <p:nvPr/>
        </p:nvSpPr>
        <p:spPr>
          <a:xfrm>
            <a:off x="8915400" y="3054096"/>
            <a:ext cx="128016" cy="128016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37" name="a014_f_1859"/>
          <p:cNvSpPr txBox="1"/>
          <p:nvPr/>
        </p:nvSpPr>
        <p:spPr>
          <a:xfrm>
            <a:off x="9189720" y="2971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Rechte &amp; Lizenzen</a:t>
            </a:r>
            <a:endParaRPr lang="en-US" sz="1350" dirty="0"/>
          </a:p>
        </p:txBody>
      </p:sp>
      <p:sp>
        <p:nvSpPr>
          <p:cNvPr id="38" name="a014_f_1860"/>
          <p:cNvSpPr txBox="1"/>
          <p:nvPr/>
        </p:nvSpPr>
        <p:spPr>
          <a:xfrm>
            <a:off x="9189720" y="32735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/creator/rechte</a:t>
            </a:r>
            <a:endParaRPr lang="en-US" sz="900" dirty="0"/>
          </a:p>
        </p:txBody>
      </p:sp>
      <p:sp>
        <p:nvSpPr>
          <p:cNvPr id="39" name="a015_f_1861"/>
          <p:cNvSpPr/>
          <p:nvPr/>
        </p:nvSpPr>
        <p:spPr>
          <a:xfrm>
            <a:off x="8915400" y="3785616"/>
            <a:ext cx="128016" cy="128016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40" name="a015_f_1862"/>
          <p:cNvSpPr txBox="1"/>
          <p:nvPr/>
        </p:nvSpPr>
        <p:spPr>
          <a:xfrm>
            <a:off x="9189720" y="37033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Auskopplungen</a:t>
            </a:r>
            <a:endParaRPr lang="en-US" sz="1350" dirty="0"/>
          </a:p>
        </p:txBody>
      </p:sp>
      <p:sp>
        <p:nvSpPr>
          <p:cNvPr id="41" name="a015_f_1863"/>
          <p:cNvSpPr txBox="1"/>
          <p:nvPr/>
        </p:nvSpPr>
        <p:spPr>
          <a:xfrm>
            <a:off x="9189720" y="40050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/creator/clips</a:t>
            </a:r>
            <a:endParaRPr lang="en-US" sz="900" dirty="0"/>
          </a:p>
        </p:txBody>
      </p:sp>
      <p:sp>
        <p:nvSpPr>
          <p:cNvPr id="42" name="a016_f_1864"/>
          <p:cNvSpPr/>
          <p:nvPr/>
        </p:nvSpPr>
        <p:spPr>
          <a:xfrm>
            <a:off x="8915400" y="4517136"/>
            <a:ext cx="128016" cy="128016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43" name="a016_f_1865"/>
          <p:cNvSpPr txBox="1"/>
          <p:nvPr/>
        </p:nvSpPr>
        <p:spPr>
          <a:xfrm>
            <a:off x="9189720" y="4434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Upload-Checklisten</a:t>
            </a:r>
            <a:endParaRPr lang="en-US" sz="1350" dirty="0"/>
          </a:p>
        </p:txBody>
      </p:sp>
      <p:sp>
        <p:nvSpPr>
          <p:cNvPr id="44" name="a016_f_1866"/>
          <p:cNvSpPr txBox="1"/>
          <p:nvPr/>
        </p:nvSpPr>
        <p:spPr>
          <a:xfrm>
            <a:off x="9189720" y="47365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/creator/checklisten</a:t>
            </a:r>
            <a:endParaRPr lang="en-US" sz="900" dirty="0"/>
          </a:p>
        </p:txBody>
      </p:sp>
      <p:sp>
        <p:nvSpPr>
          <p:cNvPr id="45" name="a017_f_1867"/>
          <p:cNvSpPr/>
          <p:nvPr/>
        </p:nvSpPr>
        <p:spPr>
          <a:xfrm>
            <a:off x="8915400" y="5248656"/>
            <a:ext cx="128016" cy="128016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46" name="a017_f_1868"/>
          <p:cNvSpPr txBox="1"/>
          <p:nvPr/>
        </p:nvSpPr>
        <p:spPr>
          <a:xfrm>
            <a:off x="9189720" y="51663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Video-Performance</a:t>
            </a:r>
            <a:endParaRPr lang="en-US" sz="1350" dirty="0"/>
          </a:p>
        </p:txBody>
      </p:sp>
      <p:sp>
        <p:nvSpPr>
          <p:cNvPr id="47" name="a017_f_1869"/>
          <p:cNvSpPr txBox="1"/>
          <p:nvPr/>
        </p:nvSpPr>
        <p:spPr>
          <a:xfrm>
            <a:off x="9189720" y="54681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/creator/performance</a:t>
            </a:r>
            <a:endParaRPr lang="en-US" sz="900" dirty="0"/>
          </a:p>
        </p:txBody>
      </p:sp>
      <p:sp>
        <p:nvSpPr>
          <p:cNvPr id="48" name="s_1870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49" name="s_1871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36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9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48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48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48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48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48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48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48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48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48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48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48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48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48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48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4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48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48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48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4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48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2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48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48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42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48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48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48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48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2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8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48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42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48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48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42" presetClass="entr" presetSubtype="0" fill="hold" grpId="0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48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1" dur="48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grpId="0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8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48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2" presetClass="entr" presetSubtype="0" fill="hold" grpId="0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48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48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  <p:bldP spid="25" grpId="0" animBg="1"/>
      <p:bldP spid="26" grpId="0" animBg="1"/>
      <p:bldP spid="28" grpId="0" animBg="1"/>
      <p:bldP spid="29" grpId="0" animBg="1"/>
      <p:bldP spid="31" grpId="0" animBg="1"/>
      <p:bldP spid="32" grpId="0" animBg="1"/>
      <p:bldP spid="34" grpId="0" animBg="1"/>
      <p:bldP spid="35" grpId="0" animBg="1"/>
      <p:bldP spid="37" grpId="0" animBg="1"/>
      <p:bldP spid="38" grpId="0" animBg="1"/>
      <p:bldP spid="40" grpId="0" animBg="1"/>
      <p:bldP spid="41" grpId="0" animBg="1"/>
      <p:bldP spid="43" grpId="0" animBg="1"/>
      <p:bldP spid="44" grpId="0" animBg="1"/>
      <p:bldP spid="46" grpId="0" animBg="1"/>
      <p:bldP spid="47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1872"/>
          <p:cNvSpPr txBox="1"/>
          <p:nvPr/>
        </p:nvSpPr>
        <p:spPr>
          <a:xfrm>
            <a:off x="6720840" y="502920"/>
            <a:ext cx="1256386" cy="292608"/>
          </a:xfrm>
          <a:prstGeom prst="roundRect">
            <a:avLst>
              <a:gd name="adj" fmla="val 50000"/>
            </a:avLst>
          </a:prstGeom>
          <a:solidFill>
            <a:srgbClr val="FFEB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Creator-Modus</a:t>
            </a:r>
            <a:endParaRPr lang="en-US" sz="1000" dirty="0"/>
          </a:p>
        </p:txBody>
      </p:sp>
      <p:sp>
        <p:nvSpPr>
          <p:cNvPr id="3" name="a001_f_1873"/>
          <p:cNvSpPr txBox="1"/>
          <p:nvPr/>
        </p:nvSpPr>
        <p:spPr>
          <a:xfrm>
            <a:off x="99669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56 von 69</a:t>
            </a:r>
            <a:endParaRPr lang="en-US" sz="950" dirty="0"/>
          </a:p>
        </p:txBody>
      </p:sp>
      <p:sp>
        <p:nvSpPr>
          <p:cNvPr id="4" name="a001_f_1874"/>
          <p:cNvSpPr txBox="1"/>
          <p:nvPr/>
        </p:nvSpPr>
        <p:spPr>
          <a:xfrm>
            <a:off x="67208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Creator-Dashboard</a:t>
            </a:r>
            <a:endParaRPr lang="en-US" sz="3200" dirty="0"/>
          </a:p>
        </p:txBody>
      </p:sp>
      <p:sp>
        <p:nvSpPr>
          <p:cNvPr id="5" name="a001_f_1875"/>
          <p:cNvSpPr txBox="1"/>
          <p:nvPr/>
        </p:nvSpPr>
        <p:spPr>
          <a:xfrm>
            <a:off x="67208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 (Creator)</a:t>
            </a:r>
            <a:endParaRPr lang="en-US" sz="1050" dirty="0"/>
          </a:p>
        </p:txBody>
      </p:sp>
      <p:sp>
        <p:nvSpPr>
          <p:cNvPr id="6" name="a003_f_1876"/>
          <p:cNvSpPr txBox="1"/>
          <p:nvPr/>
        </p:nvSpPr>
        <p:spPr>
          <a:xfrm>
            <a:off x="67208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Dashboard für Kanal-Projekte: Reichweite, Geld und die nächste Veröffentlichung.</a:t>
            </a:r>
            <a:endParaRPr lang="en-US" sz="1400" dirty="0"/>
          </a:p>
        </p:txBody>
      </p:sp>
      <p:sp>
        <p:nvSpPr>
          <p:cNvPr id="7" name="a004_f_1877"/>
          <p:cNvSpPr/>
          <p:nvPr/>
        </p:nvSpPr>
        <p:spPr>
          <a:xfrm>
            <a:off x="6739128" y="28117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8" name="a004_f_1878"/>
          <p:cNvSpPr txBox="1"/>
          <p:nvPr/>
        </p:nvSpPr>
        <p:spPr>
          <a:xfrm>
            <a:off x="6995160" y="2743200"/>
            <a:ext cx="4617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 Veröffentlichung mit Countdown und Sprung zum Video</a:t>
            </a:r>
            <a:endParaRPr lang="en-US" sz="1250" dirty="0"/>
          </a:p>
        </p:txBody>
      </p:sp>
      <p:sp>
        <p:nvSpPr>
          <p:cNvPr id="9" name="a005_f_1879"/>
          <p:cNvSpPr/>
          <p:nvPr/>
        </p:nvSpPr>
        <p:spPr>
          <a:xfrm>
            <a:off x="6739128" y="3369564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0" name="a005_f_1880"/>
          <p:cNvSpPr txBox="1"/>
          <p:nvPr/>
        </p:nvSpPr>
        <p:spPr>
          <a:xfrm>
            <a:off x="6995160" y="3300984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Videos, Aufrufe, gewonnene Abos, Sponsoring-Honorare</a:t>
            </a:r>
            <a:endParaRPr lang="en-US" sz="1250" dirty="0"/>
          </a:p>
        </p:txBody>
      </p:sp>
      <p:sp>
        <p:nvSpPr>
          <p:cNvPr id="11" name="a006_f_1881"/>
          <p:cNvSpPr/>
          <p:nvPr/>
        </p:nvSpPr>
        <p:spPr>
          <a:xfrm>
            <a:off x="6739128" y="3712464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2" name="a006_f_1882"/>
          <p:cNvSpPr txBox="1"/>
          <p:nvPr/>
        </p:nvSpPr>
        <p:spPr>
          <a:xfrm>
            <a:off x="6995160" y="3643884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Fortschritt: veröffentlicht, mit Termin im Redaktionsplan</a:t>
            </a:r>
            <a:endParaRPr lang="en-US" sz="1250" dirty="0"/>
          </a:p>
        </p:txBody>
      </p:sp>
      <p:sp>
        <p:nvSpPr>
          <p:cNvPr id="13" name="a007_f_1883"/>
          <p:cNvSpPr/>
          <p:nvPr/>
        </p:nvSpPr>
        <p:spPr>
          <a:xfrm>
            <a:off x="6739128" y="4055364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4" name="a007_f_1884"/>
          <p:cNvSpPr txBox="1"/>
          <p:nvPr/>
        </p:nvSpPr>
        <p:spPr>
          <a:xfrm>
            <a:off x="6995160" y="3986784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Konfliktradar und Schnellzugriff auf die Creator-Bereiche</a:t>
            </a:r>
            <a:endParaRPr lang="en-US" sz="1250" dirty="0"/>
          </a:p>
        </p:txBody>
      </p:sp>
      <p:sp>
        <p:nvSpPr>
          <p:cNvPr id="15" name="a012_f_1885"/>
          <p:cNvSpPr txBox="1"/>
          <p:nvPr/>
        </p:nvSpPr>
        <p:spPr>
          <a:xfrm>
            <a:off x="67208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6" name="a013_f_1886"/>
          <p:cNvSpPr txBox="1"/>
          <p:nvPr/>
        </p:nvSpPr>
        <p:spPr>
          <a:xfrm>
            <a:off x="6720840" y="5760720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Videos</a:t>
            </a:r>
            <a:endParaRPr lang="en-US" sz="950" dirty="0"/>
          </a:p>
        </p:txBody>
      </p:sp>
      <p:sp>
        <p:nvSpPr>
          <p:cNvPr id="17" name="a013_f_1887"/>
          <p:cNvSpPr txBox="1"/>
          <p:nvPr/>
        </p:nvSpPr>
        <p:spPr>
          <a:xfrm>
            <a:off x="7470648" y="5760720"/>
            <a:ext cx="5943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Ideen</a:t>
            </a:r>
            <a:endParaRPr lang="en-US" sz="950" dirty="0"/>
          </a:p>
        </p:txBody>
      </p:sp>
      <p:sp>
        <p:nvSpPr>
          <p:cNvPr id="18" name="a013_f_1888"/>
          <p:cNvSpPr txBox="1"/>
          <p:nvPr/>
        </p:nvSpPr>
        <p:spPr>
          <a:xfrm>
            <a:off x="8156448" y="5760720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Redaktionsplan</a:t>
            </a:r>
            <a:endParaRPr lang="en-US" sz="950" dirty="0"/>
          </a:p>
        </p:txBody>
      </p:sp>
      <p:sp>
        <p:nvSpPr>
          <p:cNvPr id="19" name="a013_f_1889"/>
          <p:cNvSpPr txBox="1"/>
          <p:nvPr/>
        </p:nvSpPr>
        <p:spPr>
          <a:xfrm>
            <a:off x="9418320" y="5760720"/>
            <a:ext cx="5943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Kanal</a:t>
            </a:r>
            <a:endParaRPr lang="en-US" sz="950" dirty="0"/>
          </a:p>
        </p:txBody>
      </p:sp>
      <p:sp>
        <p:nvSpPr>
          <p:cNvPr id="20" name="a013_f_1890"/>
          <p:cNvSpPr txBox="1"/>
          <p:nvPr/>
        </p:nvSpPr>
        <p:spPr>
          <a:xfrm>
            <a:off x="10104120" y="576072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Sponsoren</a:t>
            </a:r>
            <a:endParaRPr lang="en-US" sz="950" dirty="0"/>
          </a:p>
        </p:txBody>
      </p:sp>
      <p:sp>
        <p:nvSpPr>
          <p:cNvPr id="21" name="a002_f_1891"/>
          <p:cNvSpPr/>
          <p:nvPr/>
        </p:nvSpPr>
        <p:spPr>
          <a:xfrm>
            <a:off x="420624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2" name="a002_f_1892" descr="/tmp/claude-0/-home-user-cutsheet/6324ba14-9edd-52e0-984d-db7baab43700/scratchpad/deck/img/_projects_2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11618"/>
            <a:ext cx="5989320" cy="3743325"/>
          </a:xfrm>
          <a:prstGeom prst="rect">
            <a:avLst/>
          </a:prstGeom>
        </p:spPr>
      </p:pic>
      <p:sp>
        <p:nvSpPr>
          <p:cNvPr id="23" name="s_1893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4" name="s_1894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1895"/>
          <p:cNvSpPr txBox="1"/>
          <p:nvPr/>
        </p:nvSpPr>
        <p:spPr>
          <a:xfrm>
            <a:off x="548640" y="502920"/>
            <a:ext cx="1256386" cy="292608"/>
          </a:xfrm>
          <a:prstGeom prst="roundRect">
            <a:avLst>
              <a:gd name="adj" fmla="val 50000"/>
            </a:avLst>
          </a:prstGeom>
          <a:solidFill>
            <a:srgbClr val="FFEB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Creator-Modus</a:t>
            </a:r>
            <a:endParaRPr lang="en-US" sz="1000" dirty="0"/>
          </a:p>
        </p:txBody>
      </p:sp>
      <p:sp>
        <p:nvSpPr>
          <p:cNvPr id="3" name="a001_f_1896"/>
          <p:cNvSpPr txBox="1"/>
          <p:nvPr/>
        </p:nvSpPr>
        <p:spPr>
          <a:xfrm>
            <a:off x="37947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57 von 69</a:t>
            </a:r>
            <a:endParaRPr lang="en-US" sz="950" dirty="0"/>
          </a:p>
        </p:txBody>
      </p:sp>
      <p:sp>
        <p:nvSpPr>
          <p:cNvPr id="4" name="a001_f_1897"/>
          <p:cNvSpPr txBox="1"/>
          <p:nvPr/>
        </p:nvSpPr>
        <p:spPr>
          <a:xfrm>
            <a:off x="5486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Videos</a:t>
            </a:r>
            <a:endParaRPr lang="en-US" sz="3200" dirty="0"/>
          </a:p>
        </p:txBody>
      </p:sp>
      <p:sp>
        <p:nvSpPr>
          <p:cNvPr id="5" name="a001_f_1898"/>
          <p:cNvSpPr txBox="1"/>
          <p:nvPr/>
        </p:nvSpPr>
        <p:spPr>
          <a:xfrm>
            <a:off x="5486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/projects/:id/creator</a:t>
            </a:r>
            <a:endParaRPr lang="en-US" sz="1050" dirty="0"/>
          </a:p>
        </p:txBody>
      </p:sp>
      <p:sp>
        <p:nvSpPr>
          <p:cNvPr id="6" name="a003_f_1899"/>
          <p:cNvSpPr txBox="1"/>
          <p:nvPr/>
        </p:nvSpPr>
        <p:spPr>
          <a:xfrm>
            <a:off x="5486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Videos des Kanals mit Status, Laufzeit und Sprechtext.</a:t>
            </a:r>
            <a:endParaRPr lang="en-US" sz="1400" dirty="0"/>
          </a:p>
        </p:txBody>
      </p:sp>
      <p:sp>
        <p:nvSpPr>
          <p:cNvPr id="7" name="a004_f_1900"/>
          <p:cNvSpPr/>
          <p:nvPr/>
        </p:nvSpPr>
        <p:spPr>
          <a:xfrm>
            <a:off x="566928" y="28117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8" name="a004_f_1901"/>
          <p:cNvSpPr txBox="1"/>
          <p:nvPr/>
        </p:nvSpPr>
        <p:spPr>
          <a:xfrm>
            <a:off x="822960" y="2743200"/>
            <a:ext cx="4617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Neues Video mit Arbeitstitel, Plattform, Ziel-Laufzeit, Hook</a:t>
            </a:r>
            <a:endParaRPr lang="en-US" sz="1250" dirty="0"/>
          </a:p>
        </p:txBody>
      </p:sp>
      <p:sp>
        <p:nvSpPr>
          <p:cNvPr id="9" name="a005_f_1902"/>
          <p:cNvSpPr/>
          <p:nvPr/>
        </p:nvSpPr>
        <p:spPr>
          <a:xfrm>
            <a:off x="566928" y="3369564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0" name="a005_f_1903"/>
          <p:cNvSpPr txBox="1"/>
          <p:nvPr/>
        </p:nvSpPr>
        <p:spPr>
          <a:xfrm>
            <a:off x="822960" y="3300984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Geschätzte Laufzeit aus dem Sprechtext</a:t>
            </a:r>
            <a:endParaRPr lang="en-US" sz="1250" dirty="0"/>
          </a:p>
        </p:txBody>
      </p:sp>
      <p:sp>
        <p:nvSpPr>
          <p:cNvPr id="11" name="a006_f_1904"/>
          <p:cNvSpPr/>
          <p:nvPr/>
        </p:nvSpPr>
        <p:spPr>
          <a:xfrm>
            <a:off x="566928" y="3712464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2" name="a006_f_1905"/>
          <p:cNvSpPr txBox="1"/>
          <p:nvPr/>
        </p:nvSpPr>
        <p:spPr>
          <a:xfrm>
            <a:off x="822960" y="3643884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Wörter im Sprechtext</a:t>
            </a:r>
            <a:endParaRPr lang="en-US" sz="1250" dirty="0"/>
          </a:p>
        </p:txBody>
      </p:sp>
      <p:sp>
        <p:nvSpPr>
          <p:cNvPr id="13" name="a007_f_1906"/>
          <p:cNvSpPr/>
          <p:nvPr/>
        </p:nvSpPr>
        <p:spPr>
          <a:xfrm>
            <a:off x="566928" y="4055364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4" name="a007_f_1907"/>
          <p:cNvSpPr txBox="1"/>
          <p:nvPr/>
        </p:nvSpPr>
        <p:spPr>
          <a:xfrm>
            <a:off x="822960" y="3986784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direkt ändern</a:t>
            </a:r>
            <a:endParaRPr lang="en-US" sz="1250" dirty="0"/>
          </a:p>
        </p:txBody>
      </p:sp>
      <p:sp>
        <p:nvSpPr>
          <p:cNvPr id="15" name="a012_f_1908"/>
          <p:cNvSpPr txBox="1"/>
          <p:nvPr/>
        </p:nvSpPr>
        <p:spPr>
          <a:xfrm>
            <a:off x="5486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6" name="a013_f_1909"/>
          <p:cNvSpPr txBox="1"/>
          <p:nvPr/>
        </p:nvSpPr>
        <p:spPr>
          <a:xfrm>
            <a:off x="548640" y="5760720"/>
            <a:ext cx="104241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Video-Detail</a:t>
            </a:r>
            <a:endParaRPr lang="en-US" sz="950" dirty="0"/>
          </a:p>
        </p:txBody>
      </p:sp>
      <p:sp>
        <p:nvSpPr>
          <p:cNvPr id="17" name="a013_f_1910"/>
          <p:cNvSpPr txBox="1"/>
          <p:nvPr/>
        </p:nvSpPr>
        <p:spPr>
          <a:xfrm>
            <a:off x="1682496" y="5760720"/>
            <a:ext cx="5943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Ideen</a:t>
            </a:r>
            <a:endParaRPr lang="en-US" sz="950" dirty="0"/>
          </a:p>
        </p:txBody>
      </p:sp>
      <p:sp>
        <p:nvSpPr>
          <p:cNvPr id="18" name="a013_f_1911"/>
          <p:cNvSpPr txBox="1"/>
          <p:nvPr/>
        </p:nvSpPr>
        <p:spPr>
          <a:xfrm>
            <a:off x="2368296" y="5760720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Redaktionsplan</a:t>
            </a:r>
            <a:endParaRPr lang="en-US" sz="950" dirty="0"/>
          </a:p>
        </p:txBody>
      </p:sp>
      <p:sp>
        <p:nvSpPr>
          <p:cNvPr id="19" name="a002_f_1912"/>
          <p:cNvSpPr/>
          <p:nvPr/>
        </p:nvSpPr>
        <p:spPr>
          <a:xfrm>
            <a:off x="5617159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0" name="a002_f_1913" descr="/tmp/claude-0/-home-user-cutsheet/6324ba14-9edd-52e0-984d-db7baab43700/scratchpad/deck/img/_projects_2_creator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455" y="1511618"/>
            <a:ext cx="5989320" cy="3743325"/>
          </a:xfrm>
          <a:prstGeom prst="rect">
            <a:avLst/>
          </a:prstGeom>
        </p:spPr>
      </p:pic>
      <p:sp>
        <p:nvSpPr>
          <p:cNvPr id="21" name="s_1914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2" name="s_1915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1916"/>
          <p:cNvSpPr txBox="1"/>
          <p:nvPr/>
        </p:nvSpPr>
        <p:spPr>
          <a:xfrm>
            <a:off x="6720840" y="502920"/>
            <a:ext cx="1256386" cy="292608"/>
          </a:xfrm>
          <a:prstGeom prst="roundRect">
            <a:avLst>
              <a:gd name="adj" fmla="val 50000"/>
            </a:avLst>
          </a:prstGeom>
          <a:solidFill>
            <a:srgbClr val="FFEB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Creator-Modus</a:t>
            </a:r>
            <a:endParaRPr lang="en-US" sz="1000" dirty="0"/>
          </a:p>
        </p:txBody>
      </p:sp>
      <p:sp>
        <p:nvSpPr>
          <p:cNvPr id="3" name="a001_f_1917"/>
          <p:cNvSpPr txBox="1"/>
          <p:nvPr/>
        </p:nvSpPr>
        <p:spPr>
          <a:xfrm>
            <a:off x="99669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58 von 69</a:t>
            </a:r>
            <a:endParaRPr lang="en-US" sz="950" dirty="0"/>
          </a:p>
        </p:txBody>
      </p:sp>
      <p:sp>
        <p:nvSpPr>
          <p:cNvPr id="4" name="a001_f_1918"/>
          <p:cNvSpPr txBox="1"/>
          <p:nvPr/>
        </p:nvSpPr>
        <p:spPr>
          <a:xfrm>
            <a:off x="67208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Video-Detail</a:t>
            </a:r>
            <a:endParaRPr lang="en-US" sz="3200" dirty="0"/>
          </a:p>
        </p:txBody>
      </p:sp>
      <p:sp>
        <p:nvSpPr>
          <p:cNvPr id="5" name="a001_f_1919"/>
          <p:cNvSpPr txBox="1"/>
          <p:nvPr/>
        </p:nvSpPr>
        <p:spPr>
          <a:xfrm>
            <a:off x="67208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/projects/:id/creator/:video</a:t>
            </a:r>
            <a:endParaRPr lang="en-US" sz="1050" dirty="0"/>
          </a:p>
        </p:txBody>
      </p:sp>
      <p:sp>
        <p:nvSpPr>
          <p:cNvPr id="6" name="a003_f_1920"/>
          <p:cNvSpPr txBox="1"/>
          <p:nvPr/>
        </p:nvSpPr>
        <p:spPr>
          <a:xfrm>
            <a:off x="67208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Video komplett: Skript, Upload, Rechte, Auskopplungen, Zahlen.</a:t>
            </a:r>
            <a:endParaRPr lang="en-US" sz="1400" dirty="0"/>
          </a:p>
        </p:txBody>
      </p:sp>
      <p:sp>
        <p:nvSpPr>
          <p:cNvPr id="7" name="a004_f_1921"/>
          <p:cNvSpPr/>
          <p:nvPr/>
        </p:nvSpPr>
        <p:spPr>
          <a:xfrm>
            <a:off x="6739128" y="28117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8" name="a004_f_1922"/>
          <p:cNvSpPr txBox="1"/>
          <p:nvPr/>
        </p:nvSpPr>
        <p:spPr>
          <a:xfrm>
            <a:off x="6995160" y="2743200"/>
            <a:ext cx="4617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Skript in Abschnitten: Hook, Intro, Sponsor, Segment, Outro</a:t>
            </a:r>
            <a:endParaRPr lang="en-US" sz="1250" dirty="0"/>
          </a:p>
        </p:txBody>
      </p:sp>
      <p:sp>
        <p:nvSpPr>
          <p:cNvPr id="9" name="a005_f_1923"/>
          <p:cNvSpPr/>
          <p:nvPr/>
        </p:nvSpPr>
        <p:spPr>
          <a:xfrm>
            <a:off x="6739128" y="3369564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0" name="a005_f_1924"/>
          <p:cNvSpPr txBox="1"/>
          <p:nvPr/>
        </p:nvSpPr>
        <p:spPr>
          <a:xfrm>
            <a:off x="6995160" y="3300984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Teleprompter mit Tempo und Schrift, Skript als PDF</a:t>
            </a:r>
            <a:endParaRPr lang="en-US" sz="1250" dirty="0"/>
          </a:p>
        </p:txBody>
      </p:sp>
      <p:sp>
        <p:nvSpPr>
          <p:cNvPr id="11" name="a006_f_1925"/>
          <p:cNvSpPr/>
          <p:nvPr/>
        </p:nvSpPr>
        <p:spPr>
          <a:xfrm>
            <a:off x="6739128" y="3712464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2" name="a006_f_1926"/>
          <p:cNvSpPr txBox="1"/>
          <p:nvPr/>
        </p:nvSpPr>
        <p:spPr>
          <a:xfrm>
            <a:off x="6995160" y="3643884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Titel-Varianten, Thumbnails, Kapitel, Tags, Beschreibung</a:t>
            </a:r>
            <a:endParaRPr lang="en-US" sz="1250" dirty="0"/>
          </a:p>
        </p:txBody>
      </p:sp>
      <p:sp>
        <p:nvSpPr>
          <p:cNvPr id="13" name="a007_f_1927"/>
          <p:cNvSpPr/>
          <p:nvPr/>
        </p:nvSpPr>
        <p:spPr>
          <a:xfrm>
            <a:off x="6739128" y="4055364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4" name="a007_f_1928"/>
          <p:cNvSpPr txBox="1"/>
          <p:nvPr/>
        </p:nvSpPr>
        <p:spPr>
          <a:xfrm>
            <a:off x="6995160" y="3986784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Sponsoring mit Kennzeichnungspflicht</a:t>
            </a:r>
            <a:endParaRPr lang="en-US" sz="1250" dirty="0"/>
          </a:p>
        </p:txBody>
      </p:sp>
      <p:sp>
        <p:nvSpPr>
          <p:cNvPr id="15" name="a008_f_1929"/>
          <p:cNvSpPr/>
          <p:nvPr/>
        </p:nvSpPr>
        <p:spPr>
          <a:xfrm>
            <a:off x="6739128" y="4398264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6" name="a008_f_1930"/>
          <p:cNvSpPr txBox="1"/>
          <p:nvPr/>
        </p:nvSpPr>
        <p:spPr>
          <a:xfrm>
            <a:off x="6995160" y="4329684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mit Lizenz und Content-ID-Risiko</a:t>
            </a:r>
            <a:endParaRPr lang="en-US" sz="1250" dirty="0"/>
          </a:p>
        </p:txBody>
      </p:sp>
      <p:sp>
        <p:nvSpPr>
          <p:cNvPr id="17" name="a009_f_1931"/>
          <p:cNvSpPr/>
          <p:nvPr/>
        </p:nvSpPr>
        <p:spPr>
          <a:xfrm>
            <a:off x="6739128" y="4741164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8" name="a009_f_1932"/>
          <p:cNvSpPr txBox="1"/>
          <p:nvPr/>
        </p:nvSpPr>
        <p:spPr>
          <a:xfrm>
            <a:off x="6995160" y="4672584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Auskopplungen, Checkliste, Haltequote</a:t>
            </a:r>
            <a:endParaRPr lang="en-US" sz="1250" dirty="0"/>
          </a:p>
        </p:txBody>
      </p:sp>
      <p:sp>
        <p:nvSpPr>
          <p:cNvPr id="19" name="a012_f_1933"/>
          <p:cNvSpPr txBox="1"/>
          <p:nvPr/>
        </p:nvSpPr>
        <p:spPr>
          <a:xfrm>
            <a:off x="6720840" y="53400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20" name="a013_f_1934"/>
          <p:cNvSpPr txBox="1"/>
          <p:nvPr/>
        </p:nvSpPr>
        <p:spPr>
          <a:xfrm>
            <a:off x="6720840" y="5614416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Videos</a:t>
            </a:r>
            <a:endParaRPr lang="en-US" sz="950" dirty="0"/>
          </a:p>
        </p:txBody>
      </p:sp>
      <p:sp>
        <p:nvSpPr>
          <p:cNvPr id="21" name="a013_f_1935"/>
          <p:cNvSpPr txBox="1"/>
          <p:nvPr/>
        </p:nvSpPr>
        <p:spPr>
          <a:xfrm>
            <a:off x="7470648" y="5614416"/>
            <a:ext cx="142646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Titel &amp; Thumbnails</a:t>
            </a:r>
            <a:endParaRPr lang="en-US" sz="950" dirty="0"/>
          </a:p>
        </p:txBody>
      </p:sp>
      <p:sp>
        <p:nvSpPr>
          <p:cNvPr id="22" name="a013_f_1936"/>
          <p:cNvSpPr txBox="1"/>
          <p:nvPr/>
        </p:nvSpPr>
        <p:spPr>
          <a:xfrm>
            <a:off x="8988552" y="5614416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&amp; Metadaten</a:t>
            </a:r>
            <a:endParaRPr lang="en-US" sz="950" dirty="0"/>
          </a:p>
        </p:txBody>
      </p:sp>
      <p:sp>
        <p:nvSpPr>
          <p:cNvPr id="23" name="a013_f_1937"/>
          <p:cNvSpPr txBox="1"/>
          <p:nvPr/>
        </p:nvSpPr>
        <p:spPr>
          <a:xfrm>
            <a:off x="10314432" y="5614416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Sponsoren</a:t>
            </a:r>
            <a:endParaRPr lang="en-US" sz="950" dirty="0"/>
          </a:p>
        </p:txBody>
      </p:sp>
      <p:sp>
        <p:nvSpPr>
          <p:cNvPr id="24" name="a013_f_1938"/>
          <p:cNvSpPr txBox="1"/>
          <p:nvPr/>
        </p:nvSpPr>
        <p:spPr>
          <a:xfrm>
            <a:off x="6720840" y="5961888"/>
            <a:ext cx="136245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Rechte &amp; Lizenzen</a:t>
            </a:r>
            <a:endParaRPr lang="en-US" sz="950" dirty="0"/>
          </a:p>
        </p:txBody>
      </p:sp>
      <p:sp>
        <p:nvSpPr>
          <p:cNvPr id="25" name="a013_f_1939"/>
          <p:cNvSpPr txBox="1"/>
          <p:nvPr/>
        </p:nvSpPr>
        <p:spPr>
          <a:xfrm>
            <a:off x="8174736" y="5961888"/>
            <a:ext cx="110642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Auskopplungen</a:t>
            </a:r>
            <a:endParaRPr lang="en-US" sz="950" dirty="0"/>
          </a:p>
        </p:txBody>
      </p:sp>
      <p:sp>
        <p:nvSpPr>
          <p:cNvPr id="26" name="a002_f_1940"/>
          <p:cNvSpPr/>
          <p:nvPr/>
        </p:nvSpPr>
        <p:spPr>
          <a:xfrm>
            <a:off x="420624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7" name="a002_f_1941" descr="/tmp/claude-0/-home-user-cutsheet/6324ba14-9edd-52e0-984d-db7baab43700/scratchpad/deck/img/_projects_2_creator_1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11618"/>
            <a:ext cx="5989320" cy="3743325"/>
          </a:xfrm>
          <a:prstGeom prst="rect">
            <a:avLst/>
          </a:prstGeom>
        </p:spPr>
      </p:pic>
      <p:sp>
        <p:nvSpPr>
          <p:cNvPr id="28" name="s_1942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9" name="s_194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48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48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48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48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48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1944"/>
          <p:cNvSpPr txBox="1"/>
          <p:nvPr/>
        </p:nvSpPr>
        <p:spPr>
          <a:xfrm>
            <a:off x="548640" y="502920"/>
            <a:ext cx="1256386" cy="292608"/>
          </a:xfrm>
          <a:prstGeom prst="roundRect">
            <a:avLst>
              <a:gd name="adj" fmla="val 50000"/>
            </a:avLst>
          </a:prstGeom>
          <a:solidFill>
            <a:srgbClr val="FFEB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Creator-Modus</a:t>
            </a:r>
            <a:endParaRPr lang="en-US" sz="1000" dirty="0"/>
          </a:p>
        </p:txBody>
      </p:sp>
      <p:sp>
        <p:nvSpPr>
          <p:cNvPr id="3" name="a001_f_1945"/>
          <p:cNvSpPr txBox="1"/>
          <p:nvPr/>
        </p:nvSpPr>
        <p:spPr>
          <a:xfrm>
            <a:off x="37947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59 von 69</a:t>
            </a:r>
            <a:endParaRPr lang="en-US" sz="950" dirty="0"/>
          </a:p>
        </p:txBody>
      </p:sp>
      <p:sp>
        <p:nvSpPr>
          <p:cNvPr id="4" name="a001_f_1946"/>
          <p:cNvSpPr txBox="1"/>
          <p:nvPr/>
        </p:nvSpPr>
        <p:spPr>
          <a:xfrm>
            <a:off x="5486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Ideen</a:t>
            </a:r>
            <a:endParaRPr lang="en-US" sz="3200" dirty="0"/>
          </a:p>
        </p:txBody>
      </p:sp>
      <p:sp>
        <p:nvSpPr>
          <p:cNvPr id="5" name="a001_f_1947"/>
          <p:cNvSpPr txBox="1"/>
          <p:nvPr/>
        </p:nvSpPr>
        <p:spPr>
          <a:xfrm>
            <a:off x="5486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/projects/:id/creator/ideen</a:t>
            </a:r>
            <a:endParaRPr lang="en-US" sz="1050" dirty="0"/>
          </a:p>
        </p:txBody>
      </p:sp>
      <p:sp>
        <p:nvSpPr>
          <p:cNvPr id="6" name="a003_f_1948"/>
          <p:cNvSpPr txBox="1"/>
          <p:nvPr/>
        </p:nvSpPr>
        <p:spPr>
          <a:xfrm>
            <a:off x="5486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Ideen sammeln und nach Wirkung zu Aufwand priorisieren.</a:t>
            </a:r>
            <a:endParaRPr lang="en-US" sz="1400" dirty="0"/>
          </a:p>
        </p:txBody>
      </p:sp>
      <p:sp>
        <p:nvSpPr>
          <p:cNvPr id="7" name="a004_f_1949"/>
          <p:cNvSpPr/>
          <p:nvPr/>
        </p:nvSpPr>
        <p:spPr>
          <a:xfrm>
            <a:off x="566928" y="28117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8" name="a004_f_1950"/>
          <p:cNvSpPr txBox="1"/>
          <p:nvPr/>
        </p:nvSpPr>
        <p:spPr>
          <a:xfrm>
            <a:off x="8229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Idee mit Notiz zu Winkel, Hook, Quelle</a:t>
            </a:r>
            <a:endParaRPr lang="en-US" sz="1250" dirty="0"/>
          </a:p>
        </p:txBody>
      </p:sp>
      <p:sp>
        <p:nvSpPr>
          <p:cNvPr id="9" name="a005_f_1951"/>
          <p:cNvSpPr/>
          <p:nvPr/>
        </p:nvSpPr>
        <p:spPr>
          <a:xfrm>
            <a:off x="566928" y="31546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0" name="a005_f_1952"/>
          <p:cNvSpPr txBox="1"/>
          <p:nvPr/>
        </p:nvSpPr>
        <p:spPr>
          <a:xfrm>
            <a:off x="8229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Wirkung und Aufwand bewerten</a:t>
            </a:r>
            <a:endParaRPr lang="en-US" sz="1250" dirty="0"/>
          </a:p>
        </p:txBody>
      </p:sp>
      <p:sp>
        <p:nvSpPr>
          <p:cNvPr id="11" name="a006_f_1953"/>
          <p:cNvSpPr/>
          <p:nvPr/>
        </p:nvSpPr>
        <p:spPr>
          <a:xfrm>
            <a:off x="566928" y="34975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2" name="a006_f_1954"/>
          <p:cNvSpPr txBox="1"/>
          <p:nvPr/>
        </p:nvSpPr>
        <p:spPr>
          <a:xfrm>
            <a:off x="8229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Sortiert nach Priorität</a:t>
            </a:r>
            <a:endParaRPr lang="en-US" sz="1250" dirty="0"/>
          </a:p>
        </p:txBody>
      </p:sp>
      <p:sp>
        <p:nvSpPr>
          <p:cNvPr id="13" name="a007_f_1955"/>
          <p:cNvSpPr/>
          <p:nvPr/>
        </p:nvSpPr>
        <p:spPr>
          <a:xfrm>
            <a:off x="566928" y="38404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4" name="a007_f_1956"/>
          <p:cNvSpPr txBox="1"/>
          <p:nvPr/>
        </p:nvSpPr>
        <p:spPr>
          <a:xfrm>
            <a:off x="8229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einem Klick zum Video machen</a:t>
            </a:r>
            <a:endParaRPr lang="en-US" sz="1250" dirty="0"/>
          </a:p>
        </p:txBody>
      </p:sp>
      <p:sp>
        <p:nvSpPr>
          <p:cNvPr id="15" name="a012_f_1957"/>
          <p:cNvSpPr txBox="1"/>
          <p:nvPr/>
        </p:nvSpPr>
        <p:spPr>
          <a:xfrm>
            <a:off x="5486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6" name="a013_f_1958"/>
          <p:cNvSpPr txBox="1"/>
          <p:nvPr/>
        </p:nvSpPr>
        <p:spPr>
          <a:xfrm>
            <a:off x="548640" y="5760720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Videos</a:t>
            </a:r>
            <a:endParaRPr lang="en-US" sz="950" dirty="0"/>
          </a:p>
        </p:txBody>
      </p:sp>
      <p:sp>
        <p:nvSpPr>
          <p:cNvPr id="17" name="a013_f_1959"/>
          <p:cNvSpPr txBox="1"/>
          <p:nvPr/>
        </p:nvSpPr>
        <p:spPr>
          <a:xfrm>
            <a:off x="1298448" y="5760720"/>
            <a:ext cx="104241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Video-Detail</a:t>
            </a:r>
            <a:endParaRPr lang="en-US" sz="950" dirty="0"/>
          </a:p>
        </p:txBody>
      </p:sp>
      <p:sp>
        <p:nvSpPr>
          <p:cNvPr id="18" name="a002_f_1960"/>
          <p:cNvSpPr/>
          <p:nvPr/>
        </p:nvSpPr>
        <p:spPr>
          <a:xfrm>
            <a:off x="5617159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19" name="a002_f_1961" descr="/tmp/claude-0/-home-user-cutsheet/6324ba14-9edd-52e0-984d-db7baab43700/scratchpad/deck/img/_projects_2_creator_ideen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455" y="1511618"/>
            <a:ext cx="5989320" cy="3743325"/>
          </a:xfrm>
          <a:prstGeom prst="rect">
            <a:avLst/>
          </a:prstGeom>
        </p:spPr>
      </p:pic>
      <p:sp>
        <p:nvSpPr>
          <p:cNvPr id="20" name="s_1962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1" name="s_196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1964"/>
          <p:cNvSpPr txBox="1"/>
          <p:nvPr/>
        </p:nvSpPr>
        <p:spPr>
          <a:xfrm>
            <a:off x="6720840" y="502920"/>
            <a:ext cx="1256386" cy="292608"/>
          </a:xfrm>
          <a:prstGeom prst="roundRect">
            <a:avLst>
              <a:gd name="adj" fmla="val 50000"/>
            </a:avLst>
          </a:prstGeom>
          <a:solidFill>
            <a:srgbClr val="FFEB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Creator-Modus</a:t>
            </a:r>
            <a:endParaRPr lang="en-US" sz="1000" dirty="0"/>
          </a:p>
        </p:txBody>
      </p:sp>
      <p:sp>
        <p:nvSpPr>
          <p:cNvPr id="3" name="a001_f_1965"/>
          <p:cNvSpPr txBox="1"/>
          <p:nvPr/>
        </p:nvSpPr>
        <p:spPr>
          <a:xfrm>
            <a:off x="99669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60 von 69</a:t>
            </a:r>
            <a:endParaRPr lang="en-US" sz="950" dirty="0"/>
          </a:p>
        </p:txBody>
      </p:sp>
      <p:sp>
        <p:nvSpPr>
          <p:cNvPr id="4" name="a001_f_1966"/>
          <p:cNvSpPr txBox="1"/>
          <p:nvPr/>
        </p:nvSpPr>
        <p:spPr>
          <a:xfrm>
            <a:off x="67208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Kanal</a:t>
            </a:r>
            <a:endParaRPr lang="en-US" sz="3200" dirty="0"/>
          </a:p>
        </p:txBody>
      </p:sp>
      <p:sp>
        <p:nvSpPr>
          <p:cNvPr id="5" name="a001_f_1967"/>
          <p:cNvSpPr txBox="1"/>
          <p:nvPr/>
        </p:nvSpPr>
        <p:spPr>
          <a:xfrm>
            <a:off x="67208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/projects/:id/creator/kanal</a:t>
            </a:r>
            <a:endParaRPr lang="en-US" sz="1050" dirty="0"/>
          </a:p>
        </p:txBody>
      </p:sp>
      <p:sp>
        <p:nvSpPr>
          <p:cNvPr id="6" name="a003_f_1968"/>
          <p:cNvSpPr txBox="1"/>
          <p:nvPr/>
        </p:nvSpPr>
        <p:spPr>
          <a:xfrm>
            <a:off x="67208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Kanal als Ganzes: Rhythmus, Muster und YouTube-Anbindung.</a:t>
            </a:r>
            <a:endParaRPr lang="en-US" sz="1400" dirty="0"/>
          </a:p>
        </p:txBody>
      </p:sp>
      <p:sp>
        <p:nvSpPr>
          <p:cNvPr id="7" name="a004_f_1969"/>
          <p:cNvSpPr/>
          <p:nvPr/>
        </p:nvSpPr>
        <p:spPr>
          <a:xfrm>
            <a:off x="6739128" y="28117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8" name="a004_f_1970"/>
          <p:cNvSpPr txBox="1"/>
          <p:nvPr/>
        </p:nvSpPr>
        <p:spPr>
          <a:xfrm>
            <a:off x="69951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Aufrufe, Likes, gewonnene Abos, Sponsoring</a:t>
            </a:r>
            <a:endParaRPr lang="en-US" sz="1250" dirty="0"/>
          </a:p>
        </p:txBody>
      </p:sp>
      <p:sp>
        <p:nvSpPr>
          <p:cNvPr id="9" name="a005_f_1971"/>
          <p:cNvSpPr/>
          <p:nvPr/>
        </p:nvSpPr>
        <p:spPr>
          <a:xfrm>
            <a:off x="6739128" y="31546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0" name="a005_f_1972"/>
          <p:cNvSpPr txBox="1"/>
          <p:nvPr/>
        </p:nvSpPr>
        <p:spPr>
          <a:xfrm>
            <a:off x="69951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Veröffentlichungskalender</a:t>
            </a:r>
            <a:endParaRPr lang="en-US" sz="1250" dirty="0"/>
          </a:p>
        </p:txBody>
      </p:sp>
      <p:sp>
        <p:nvSpPr>
          <p:cNvPr id="11" name="a006_f_1973"/>
          <p:cNvSpPr/>
          <p:nvPr/>
        </p:nvSpPr>
        <p:spPr>
          <a:xfrm>
            <a:off x="6739128" y="34975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2" name="a006_f_1974"/>
          <p:cNvSpPr txBox="1"/>
          <p:nvPr/>
        </p:nvSpPr>
        <p:spPr>
          <a:xfrm>
            <a:off x="69951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Muster über den Kanal</a:t>
            </a:r>
            <a:endParaRPr lang="en-US" sz="1250" dirty="0"/>
          </a:p>
        </p:txBody>
      </p:sp>
      <p:sp>
        <p:nvSpPr>
          <p:cNvPr id="13" name="a007_f_1975"/>
          <p:cNvSpPr/>
          <p:nvPr/>
        </p:nvSpPr>
        <p:spPr>
          <a:xfrm>
            <a:off x="6739128" y="38404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4" name="a007_f_1976"/>
          <p:cNvSpPr txBox="1"/>
          <p:nvPr/>
        </p:nvSpPr>
        <p:spPr>
          <a:xfrm>
            <a:off x="69951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verbinden und abgleichen</a:t>
            </a:r>
            <a:endParaRPr lang="en-US" sz="1250" dirty="0"/>
          </a:p>
        </p:txBody>
      </p:sp>
      <p:sp>
        <p:nvSpPr>
          <p:cNvPr id="15" name="a012_f_1977"/>
          <p:cNvSpPr txBox="1"/>
          <p:nvPr/>
        </p:nvSpPr>
        <p:spPr>
          <a:xfrm>
            <a:off x="67208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6" name="a013_f_1978"/>
          <p:cNvSpPr txBox="1"/>
          <p:nvPr/>
        </p:nvSpPr>
        <p:spPr>
          <a:xfrm>
            <a:off x="6720840" y="5760720"/>
            <a:ext cx="136245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Video-Performance</a:t>
            </a:r>
            <a:endParaRPr lang="en-US" sz="950" dirty="0"/>
          </a:p>
        </p:txBody>
      </p:sp>
      <p:sp>
        <p:nvSpPr>
          <p:cNvPr id="17" name="a013_f_1979"/>
          <p:cNvSpPr txBox="1"/>
          <p:nvPr/>
        </p:nvSpPr>
        <p:spPr>
          <a:xfrm>
            <a:off x="8174736" y="5760720"/>
            <a:ext cx="104241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Video-Detail</a:t>
            </a:r>
            <a:endParaRPr lang="en-US" sz="950" dirty="0"/>
          </a:p>
        </p:txBody>
      </p:sp>
      <p:sp>
        <p:nvSpPr>
          <p:cNvPr id="18" name="a013_f_1980"/>
          <p:cNvSpPr txBox="1"/>
          <p:nvPr/>
        </p:nvSpPr>
        <p:spPr>
          <a:xfrm>
            <a:off x="9308592" y="5760720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Redaktionsplan</a:t>
            </a:r>
            <a:endParaRPr lang="en-US" sz="950" dirty="0"/>
          </a:p>
        </p:txBody>
      </p:sp>
      <p:sp>
        <p:nvSpPr>
          <p:cNvPr id="19" name="a002_f_1981"/>
          <p:cNvSpPr/>
          <p:nvPr/>
        </p:nvSpPr>
        <p:spPr>
          <a:xfrm>
            <a:off x="420624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20" name="a002_f_1982" descr="/tmp/claude-0/-home-user-cutsheet/6324ba14-9edd-52e0-984d-db7baab43700/scratchpad/deck/img/_projects_2_creator_kanal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11618"/>
            <a:ext cx="5989320" cy="3743325"/>
          </a:xfrm>
          <a:prstGeom prst="rect">
            <a:avLst/>
          </a:prstGeom>
        </p:spPr>
      </p:pic>
      <p:sp>
        <p:nvSpPr>
          <p:cNvPr id="21" name="s_1983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2" name="s_1984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1985"/>
          <p:cNvSpPr txBox="1"/>
          <p:nvPr/>
        </p:nvSpPr>
        <p:spPr>
          <a:xfrm>
            <a:off x="548640" y="502920"/>
            <a:ext cx="1256386" cy="292608"/>
          </a:xfrm>
          <a:prstGeom prst="roundRect">
            <a:avLst>
              <a:gd name="adj" fmla="val 50000"/>
            </a:avLst>
          </a:prstGeom>
          <a:solidFill>
            <a:srgbClr val="FFEB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Creator-Modus</a:t>
            </a:r>
            <a:endParaRPr lang="en-US" sz="1000" dirty="0"/>
          </a:p>
        </p:txBody>
      </p:sp>
      <p:sp>
        <p:nvSpPr>
          <p:cNvPr id="3" name="a001_f_1986"/>
          <p:cNvSpPr txBox="1"/>
          <p:nvPr/>
        </p:nvSpPr>
        <p:spPr>
          <a:xfrm>
            <a:off x="37947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61 von 69</a:t>
            </a:r>
            <a:endParaRPr lang="en-US" sz="950" dirty="0"/>
          </a:p>
        </p:txBody>
      </p:sp>
      <p:sp>
        <p:nvSpPr>
          <p:cNvPr id="4" name="a001_f_1987"/>
          <p:cNvSpPr txBox="1"/>
          <p:nvPr/>
        </p:nvSpPr>
        <p:spPr>
          <a:xfrm>
            <a:off x="5486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Redaktionsplan</a:t>
            </a:r>
            <a:endParaRPr lang="en-US" sz="3200" dirty="0"/>
          </a:p>
        </p:txBody>
      </p:sp>
      <p:sp>
        <p:nvSpPr>
          <p:cNvPr id="5" name="a001_f_1988"/>
          <p:cNvSpPr txBox="1"/>
          <p:nvPr/>
        </p:nvSpPr>
        <p:spPr>
          <a:xfrm>
            <a:off x="5486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/projects/:id/creator/redaktionsplan</a:t>
            </a:r>
            <a:endParaRPr lang="en-US" sz="1050" dirty="0"/>
          </a:p>
        </p:txBody>
      </p:sp>
      <p:sp>
        <p:nvSpPr>
          <p:cNvPr id="6" name="a003_f_1989"/>
          <p:cNvSpPr txBox="1"/>
          <p:nvPr/>
        </p:nvSpPr>
        <p:spPr>
          <a:xfrm>
            <a:off x="5486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 was erscheint – und was überfällig ist.</a:t>
            </a:r>
            <a:endParaRPr lang="en-US" sz="1400" dirty="0"/>
          </a:p>
        </p:txBody>
      </p:sp>
      <p:sp>
        <p:nvSpPr>
          <p:cNvPr id="7" name="a004_f_1990"/>
          <p:cNvSpPr/>
          <p:nvPr/>
        </p:nvSpPr>
        <p:spPr>
          <a:xfrm>
            <a:off x="566928" y="28117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8" name="a004_f_1991"/>
          <p:cNvSpPr txBox="1"/>
          <p:nvPr/>
        </p:nvSpPr>
        <p:spPr>
          <a:xfrm>
            <a:off x="8229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Datum, Video, Serie, Plattform, Status</a:t>
            </a:r>
            <a:endParaRPr lang="en-US" sz="1250" dirty="0"/>
          </a:p>
        </p:txBody>
      </p:sp>
      <p:sp>
        <p:nvSpPr>
          <p:cNvPr id="9" name="a005_f_1992"/>
          <p:cNvSpPr/>
          <p:nvPr/>
        </p:nvSpPr>
        <p:spPr>
          <a:xfrm>
            <a:off x="566928" y="31546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0" name="a005_f_1993"/>
          <p:cNvSpPr txBox="1"/>
          <p:nvPr/>
        </p:nvSpPr>
        <p:spPr>
          <a:xfrm>
            <a:off x="8229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Plan, überfällig, ohne Datum</a:t>
            </a:r>
            <a:endParaRPr lang="en-US" sz="1250" dirty="0"/>
          </a:p>
        </p:txBody>
      </p:sp>
      <p:sp>
        <p:nvSpPr>
          <p:cNvPr id="11" name="a006_f_1994"/>
          <p:cNvSpPr/>
          <p:nvPr/>
        </p:nvSpPr>
        <p:spPr>
          <a:xfrm>
            <a:off x="566928" y="34975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2" name="a006_f_1995"/>
          <p:cNvSpPr txBox="1"/>
          <p:nvPr/>
        </p:nvSpPr>
        <p:spPr>
          <a:xfrm>
            <a:off x="8229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Sprung zum Video</a:t>
            </a:r>
            <a:endParaRPr lang="en-US" sz="1250" dirty="0"/>
          </a:p>
        </p:txBody>
      </p:sp>
      <p:sp>
        <p:nvSpPr>
          <p:cNvPr id="13" name="a012_f_1996"/>
          <p:cNvSpPr txBox="1"/>
          <p:nvPr/>
        </p:nvSpPr>
        <p:spPr>
          <a:xfrm>
            <a:off x="5486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4" name="a013_f_1997"/>
          <p:cNvSpPr txBox="1"/>
          <p:nvPr/>
        </p:nvSpPr>
        <p:spPr>
          <a:xfrm>
            <a:off x="548640" y="5760720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Videos</a:t>
            </a:r>
            <a:endParaRPr lang="en-US" sz="950" dirty="0"/>
          </a:p>
        </p:txBody>
      </p:sp>
      <p:sp>
        <p:nvSpPr>
          <p:cNvPr id="15" name="a013_f_1998"/>
          <p:cNvSpPr txBox="1"/>
          <p:nvPr/>
        </p:nvSpPr>
        <p:spPr>
          <a:xfrm>
            <a:off x="1298448" y="5760720"/>
            <a:ext cx="129844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Serien &amp; Formate</a:t>
            </a:r>
            <a:endParaRPr lang="en-US" sz="950" dirty="0"/>
          </a:p>
        </p:txBody>
      </p:sp>
      <p:sp>
        <p:nvSpPr>
          <p:cNvPr id="16" name="a013_f_1999"/>
          <p:cNvSpPr txBox="1"/>
          <p:nvPr/>
        </p:nvSpPr>
        <p:spPr>
          <a:xfrm>
            <a:off x="2688336" y="5760720"/>
            <a:ext cx="5943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Kanal</a:t>
            </a:r>
            <a:endParaRPr lang="en-US" sz="950" dirty="0"/>
          </a:p>
        </p:txBody>
      </p:sp>
      <p:sp>
        <p:nvSpPr>
          <p:cNvPr id="17" name="a002_f_2000"/>
          <p:cNvSpPr/>
          <p:nvPr/>
        </p:nvSpPr>
        <p:spPr>
          <a:xfrm>
            <a:off x="5617159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18" name="a002_f_2001" descr="/tmp/claude-0/-home-user-cutsheet/6324ba14-9edd-52e0-984d-db7baab43700/scratchpad/deck/img/_projects_2_creator_redaktionsplan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455" y="1511618"/>
            <a:ext cx="5989320" cy="3743325"/>
          </a:xfrm>
          <a:prstGeom prst="rect">
            <a:avLst/>
          </a:prstGeom>
        </p:spPr>
      </p:pic>
      <p:sp>
        <p:nvSpPr>
          <p:cNvPr id="19" name="s_2002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0" name="s_200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2004"/>
          <p:cNvSpPr txBox="1"/>
          <p:nvPr/>
        </p:nvSpPr>
        <p:spPr>
          <a:xfrm>
            <a:off x="6720840" y="502920"/>
            <a:ext cx="1256386" cy="292608"/>
          </a:xfrm>
          <a:prstGeom prst="roundRect">
            <a:avLst>
              <a:gd name="adj" fmla="val 50000"/>
            </a:avLst>
          </a:prstGeom>
          <a:solidFill>
            <a:srgbClr val="FFEB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Creator-Modus</a:t>
            </a:r>
            <a:endParaRPr lang="en-US" sz="1000" dirty="0"/>
          </a:p>
        </p:txBody>
      </p:sp>
      <p:sp>
        <p:nvSpPr>
          <p:cNvPr id="3" name="a001_f_2005"/>
          <p:cNvSpPr txBox="1"/>
          <p:nvPr/>
        </p:nvSpPr>
        <p:spPr>
          <a:xfrm>
            <a:off x="99669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62 von 69</a:t>
            </a:r>
            <a:endParaRPr lang="en-US" sz="950" dirty="0"/>
          </a:p>
        </p:txBody>
      </p:sp>
      <p:sp>
        <p:nvSpPr>
          <p:cNvPr id="4" name="a001_f_2006"/>
          <p:cNvSpPr txBox="1"/>
          <p:nvPr/>
        </p:nvSpPr>
        <p:spPr>
          <a:xfrm>
            <a:off x="67208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Serien &amp; Formate</a:t>
            </a:r>
            <a:endParaRPr lang="en-US" sz="3200" dirty="0"/>
          </a:p>
        </p:txBody>
      </p:sp>
      <p:sp>
        <p:nvSpPr>
          <p:cNvPr id="5" name="a001_f_2007"/>
          <p:cNvSpPr txBox="1"/>
          <p:nvPr/>
        </p:nvSpPr>
        <p:spPr>
          <a:xfrm>
            <a:off x="67208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/projects/:id/creator/serien</a:t>
            </a:r>
            <a:endParaRPr lang="en-US" sz="1050" dirty="0"/>
          </a:p>
        </p:txBody>
      </p:sp>
      <p:sp>
        <p:nvSpPr>
          <p:cNvPr id="6" name="a003_f_2008"/>
          <p:cNvSpPr txBox="1"/>
          <p:nvPr/>
        </p:nvSpPr>
        <p:spPr>
          <a:xfrm>
            <a:off x="67208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Formate tragen den Kanal?</a:t>
            </a:r>
            <a:endParaRPr lang="en-US" sz="1400" dirty="0"/>
          </a:p>
        </p:txBody>
      </p:sp>
      <p:sp>
        <p:nvSpPr>
          <p:cNvPr id="7" name="a004_f_2009"/>
          <p:cNvSpPr/>
          <p:nvPr/>
        </p:nvSpPr>
        <p:spPr>
          <a:xfrm>
            <a:off x="6739128" y="28117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8" name="a004_f_2010"/>
          <p:cNvSpPr txBox="1"/>
          <p:nvPr/>
        </p:nvSpPr>
        <p:spPr>
          <a:xfrm>
            <a:off x="69951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Videos je Serie, veröffentlicht und geplant</a:t>
            </a:r>
            <a:endParaRPr lang="en-US" sz="1250" dirty="0"/>
          </a:p>
        </p:txBody>
      </p:sp>
      <p:sp>
        <p:nvSpPr>
          <p:cNvPr id="9" name="a005_f_2011"/>
          <p:cNvSpPr/>
          <p:nvPr/>
        </p:nvSpPr>
        <p:spPr>
          <a:xfrm>
            <a:off x="6739128" y="31546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0" name="a005_f_2012"/>
          <p:cNvSpPr txBox="1"/>
          <p:nvPr/>
        </p:nvSpPr>
        <p:spPr>
          <a:xfrm>
            <a:off x="69951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Aufrufe im Schnitt</a:t>
            </a:r>
            <a:endParaRPr lang="en-US" sz="1250" dirty="0"/>
          </a:p>
        </p:txBody>
      </p:sp>
      <p:sp>
        <p:nvSpPr>
          <p:cNvPr id="11" name="a006_f_2013"/>
          <p:cNvSpPr/>
          <p:nvPr/>
        </p:nvSpPr>
        <p:spPr>
          <a:xfrm>
            <a:off x="6739128" y="34975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2" name="a006_f_2014"/>
          <p:cNvSpPr txBox="1"/>
          <p:nvPr/>
        </p:nvSpPr>
        <p:spPr>
          <a:xfrm>
            <a:off x="69951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Stärkste Folge und stärkste Serie</a:t>
            </a:r>
            <a:endParaRPr lang="en-US" sz="1250" dirty="0"/>
          </a:p>
        </p:txBody>
      </p:sp>
      <p:sp>
        <p:nvSpPr>
          <p:cNvPr id="13" name="a007_f_2015"/>
          <p:cNvSpPr/>
          <p:nvPr/>
        </p:nvSpPr>
        <p:spPr>
          <a:xfrm>
            <a:off x="6739128" y="38404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4" name="a007_f_2016"/>
          <p:cNvSpPr txBox="1"/>
          <p:nvPr/>
        </p:nvSpPr>
        <p:spPr>
          <a:xfrm>
            <a:off x="69951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Videos ohne Serie</a:t>
            </a:r>
            <a:endParaRPr lang="en-US" sz="1250" dirty="0"/>
          </a:p>
        </p:txBody>
      </p:sp>
      <p:sp>
        <p:nvSpPr>
          <p:cNvPr id="15" name="a012_f_2017"/>
          <p:cNvSpPr txBox="1"/>
          <p:nvPr/>
        </p:nvSpPr>
        <p:spPr>
          <a:xfrm>
            <a:off x="67208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6" name="a013_f_2018"/>
          <p:cNvSpPr txBox="1"/>
          <p:nvPr/>
        </p:nvSpPr>
        <p:spPr>
          <a:xfrm>
            <a:off x="6720840" y="5760720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Videos</a:t>
            </a:r>
            <a:endParaRPr lang="en-US" sz="950" dirty="0"/>
          </a:p>
        </p:txBody>
      </p:sp>
      <p:sp>
        <p:nvSpPr>
          <p:cNvPr id="17" name="a013_f_2019"/>
          <p:cNvSpPr txBox="1"/>
          <p:nvPr/>
        </p:nvSpPr>
        <p:spPr>
          <a:xfrm>
            <a:off x="7470648" y="5760720"/>
            <a:ext cx="136245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Video-Performance</a:t>
            </a:r>
            <a:endParaRPr lang="en-US" sz="950" dirty="0"/>
          </a:p>
        </p:txBody>
      </p:sp>
      <p:sp>
        <p:nvSpPr>
          <p:cNvPr id="18" name="a002_f_2020"/>
          <p:cNvSpPr/>
          <p:nvPr/>
        </p:nvSpPr>
        <p:spPr>
          <a:xfrm>
            <a:off x="420624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19" name="a002_f_2021" descr="/tmp/claude-0/-home-user-cutsheet/6324ba14-9edd-52e0-984d-db7baab43700/scratchpad/deck/img/_projects_2_creator_serien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11618"/>
            <a:ext cx="5989320" cy="3743325"/>
          </a:xfrm>
          <a:prstGeom prst="rect">
            <a:avLst/>
          </a:prstGeom>
        </p:spPr>
      </p:pic>
      <p:sp>
        <p:nvSpPr>
          <p:cNvPr id="20" name="s_2022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1" name="s_202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2024"/>
          <p:cNvSpPr txBox="1"/>
          <p:nvPr/>
        </p:nvSpPr>
        <p:spPr>
          <a:xfrm>
            <a:off x="548640" y="502920"/>
            <a:ext cx="1256386" cy="292608"/>
          </a:xfrm>
          <a:prstGeom prst="roundRect">
            <a:avLst>
              <a:gd name="adj" fmla="val 50000"/>
            </a:avLst>
          </a:prstGeom>
          <a:solidFill>
            <a:srgbClr val="FFEB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Creator-Modus</a:t>
            </a:r>
            <a:endParaRPr lang="en-US" sz="1000" dirty="0"/>
          </a:p>
        </p:txBody>
      </p:sp>
      <p:sp>
        <p:nvSpPr>
          <p:cNvPr id="3" name="a001_f_2025"/>
          <p:cNvSpPr txBox="1"/>
          <p:nvPr/>
        </p:nvSpPr>
        <p:spPr>
          <a:xfrm>
            <a:off x="37947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63 von 69</a:t>
            </a:r>
            <a:endParaRPr lang="en-US" sz="950" dirty="0"/>
          </a:p>
        </p:txBody>
      </p:sp>
      <p:sp>
        <p:nvSpPr>
          <p:cNvPr id="4" name="a001_f_2026"/>
          <p:cNvSpPr txBox="1"/>
          <p:nvPr/>
        </p:nvSpPr>
        <p:spPr>
          <a:xfrm>
            <a:off x="5486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Titel &amp; Thumbnails</a:t>
            </a:r>
            <a:endParaRPr lang="en-US" sz="3200" dirty="0"/>
          </a:p>
        </p:txBody>
      </p:sp>
      <p:sp>
        <p:nvSpPr>
          <p:cNvPr id="5" name="a001_f_2027"/>
          <p:cNvSpPr txBox="1"/>
          <p:nvPr/>
        </p:nvSpPr>
        <p:spPr>
          <a:xfrm>
            <a:off x="5486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/projects/:id/creator/titel</a:t>
            </a:r>
            <a:endParaRPr lang="en-US" sz="1050" dirty="0"/>
          </a:p>
        </p:txBody>
      </p:sp>
      <p:sp>
        <p:nvSpPr>
          <p:cNvPr id="6" name="a003_f_2028"/>
          <p:cNvSpPr txBox="1"/>
          <p:nvPr/>
        </p:nvSpPr>
        <p:spPr>
          <a:xfrm>
            <a:off x="5486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Titelvarianten und Thumbnail-Ideen im Vergleich.</a:t>
            </a:r>
            <a:endParaRPr lang="en-US" sz="1400" dirty="0"/>
          </a:p>
        </p:txBody>
      </p:sp>
      <p:sp>
        <p:nvSpPr>
          <p:cNvPr id="7" name="a004_f_2029"/>
          <p:cNvSpPr/>
          <p:nvPr/>
        </p:nvSpPr>
        <p:spPr>
          <a:xfrm>
            <a:off x="566928" y="28117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8" name="a004_f_2030"/>
          <p:cNvSpPr txBox="1"/>
          <p:nvPr/>
        </p:nvSpPr>
        <p:spPr>
          <a:xfrm>
            <a:off x="8229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Varianten je Video</a:t>
            </a:r>
            <a:endParaRPr lang="en-US" sz="1250" dirty="0"/>
          </a:p>
        </p:txBody>
      </p:sp>
      <p:sp>
        <p:nvSpPr>
          <p:cNvPr id="9" name="a005_f_2031"/>
          <p:cNvSpPr/>
          <p:nvPr/>
        </p:nvSpPr>
        <p:spPr>
          <a:xfrm>
            <a:off x="566928" y="31546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0" name="a005_f_2032"/>
          <p:cNvSpPr txBox="1"/>
          <p:nvPr/>
        </p:nvSpPr>
        <p:spPr>
          <a:xfrm>
            <a:off x="8229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Thumbnail-Ideen</a:t>
            </a:r>
            <a:endParaRPr lang="en-US" sz="1250" dirty="0"/>
          </a:p>
        </p:txBody>
      </p:sp>
      <p:sp>
        <p:nvSpPr>
          <p:cNvPr id="11" name="a006_f_2033"/>
          <p:cNvSpPr/>
          <p:nvPr/>
        </p:nvSpPr>
        <p:spPr>
          <a:xfrm>
            <a:off x="566928" y="34975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2" name="a006_f_2034"/>
          <p:cNvSpPr txBox="1"/>
          <p:nvPr/>
        </p:nvSpPr>
        <p:spPr>
          <a:xfrm>
            <a:off x="8229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Videos ohne Vergleich markiert</a:t>
            </a:r>
            <a:endParaRPr lang="en-US" sz="1250" dirty="0"/>
          </a:p>
        </p:txBody>
      </p:sp>
      <p:sp>
        <p:nvSpPr>
          <p:cNvPr id="13" name="a012_f_2035"/>
          <p:cNvSpPr txBox="1"/>
          <p:nvPr/>
        </p:nvSpPr>
        <p:spPr>
          <a:xfrm>
            <a:off x="5486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4" name="a013_f_2036"/>
          <p:cNvSpPr txBox="1"/>
          <p:nvPr/>
        </p:nvSpPr>
        <p:spPr>
          <a:xfrm>
            <a:off x="548640" y="5760720"/>
            <a:ext cx="104241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Video-Detail</a:t>
            </a:r>
            <a:endParaRPr lang="en-US" sz="950" dirty="0"/>
          </a:p>
        </p:txBody>
      </p:sp>
      <p:sp>
        <p:nvSpPr>
          <p:cNvPr id="15" name="a013_f_2037"/>
          <p:cNvSpPr txBox="1"/>
          <p:nvPr/>
        </p:nvSpPr>
        <p:spPr>
          <a:xfrm>
            <a:off x="1682496" y="576072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&amp; Metadaten</a:t>
            </a:r>
            <a:endParaRPr lang="en-US" sz="950" dirty="0"/>
          </a:p>
        </p:txBody>
      </p:sp>
      <p:sp>
        <p:nvSpPr>
          <p:cNvPr id="16" name="a002_f_2038"/>
          <p:cNvSpPr/>
          <p:nvPr/>
        </p:nvSpPr>
        <p:spPr>
          <a:xfrm>
            <a:off x="5617159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17" name="a002_f_2039" descr="/tmp/claude-0/-home-user-cutsheet/6324ba14-9edd-52e0-984d-db7baab43700/scratchpad/deck/img/_projects_2_creator_titel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455" y="1511618"/>
            <a:ext cx="5989320" cy="3743325"/>
          </a:xfrm>
          <a:prstGeom prst="rect">
            <a:avLst/>
          </a:prstGeom>
        </p:spPr>
      </p:pic>
      <p:sp>
        <p:nvSpPr>
          <p:cNvPr id="18" name="s_2040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19" name="s_2041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2042"/>
          <p:cNvSpPr txBox="1"/>
          <p:nvPr/>
        </p:nvSpPr>
        <p:spPr>
          <a:xfrm>
            <a:off x="6720840" y="502920"/>
            <a:ext cx="1256386" cy="292608"/>
          </a:xfrm>
          <a:prstGeom prst="roundRect">
            <a:avLst>
              <a:gd name="adj" fmla="val 50000"/>
            </a:avLst>
          </a:prstGeom>
          <a:solidFill>
            <a:srgbClr val="FFEB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Creator-Modus</a:t>
            </a:r>
            <a:endParaRPr lang="en-US" sz="1000" dirty="0"/>
          </a:p>
        </p:txBody>
      </p:sp>
      <p:sp>
        <p:nvSpPr>
          <p:cNvPr id="3" name="a001_f_2043"/>
          <p:cNvSpPr txBox="1"/>
          <p:nvPr/>
        </p:nvSpPr>
        <p:spPr>
          <a:xfrm>
            <a:off x="99669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64 von 69</a:t>
            </a:r>
            <a:endParaRPr lang="en-US" sz="950" dirty="0"/>
          </a:p>
        </p:txBody>
      </p:sp>
      <p:sp>
        <p:nvSpPr>
          <p:cNvPr id="4" name="a001_f_2044"/>
          <p:cNvSpPr txBox="1"/>
          <p:nvPr/>
        </p:nvSpPr>
        <p:spPr>
          <a:xfrm>
            <a:off x="67208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Sponsoren &amp; Integrationen</a:t>
            </a:r>
            <a:endParaRPr lang="en-US" sz="2400" dirty="0"/>
          </a:p>
        </p:txBody>
      </p:sp>
      <p:sp>
        <p:nvSpPr>
          <p:cNvPr id="5" name="a001_f_2045"/>
          <p:cNvSpPr txBox="1"/>
          <p:nvPr/>
        </p:nvSpPr>
        <p:spPr>
          <a:xfrm>
            <a:off x="67208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/projects/:id/creator/sponsoren</a:t>
            </a:r>
            <a:endParaRPr lang="en-US" sz="1050" dirty="0"/>
          </a:p>
        </p:txBody>
      </p:sp>
      <p:sp>
        <p:nvSpPr>
          <p:cNvPr id="6" name="a003_f_2046"/>
          <p:cNvSpPr txBox="1"/>
          <p:nvPr/>
        </p:nvSpPr>
        <p:spPr>
          <a:xfrm>
            <a:off x="67208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Werbepartner, Honorare, Fristen – und die Kennzeichnung.</a:t>
            </a:r>
            <a:endParaRPr lang="en-US" sz="1400" dirty="0"/>
          </a:p>
        </p:txBody>
      </p:sp>
      <p:sp>
        <p:nvSpPr>
          <p:cNvPr id="7" name="a004_f_2047"/>
          <p:cNvSpPr/>
          <p:nvPr/>
        </p:nvSpPr>
        <p:spPr>
          <a:xfrm>
            <a:off x="6739128" y="28117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8" name="a004_f_2048"/>
          <p:cNvSpPr txBox="1"/>
          <p:nvPr/>
        </p:nvSpPr>
        <p:spPr>
          <a:xfrm>
            <a:off x="69951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Marke, Video, zugesagte Leistungen</a:t>
            </a:r>
            <a:endParaRPr lang="en-US" sz="1250" dirty="0"/>
          </a:p>
        </p:txBody>
      </p:sp>
      <p:sp>
        <p:nvSpPr>
          <p:cNvPr id="9" name="a005_f_2049"/>
          <p:cNvSpPr/>
          <p:nvPr/>
        </p:nvSpPr>
        <p:spPr>
          <a:xfrm>
            <a:off x="6739128" y="31546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0" name="a005_f_2050"/>
          <p:cNvSpPr txBox="1"/>
          <p:nvPr/>
        </p:nvSpPr>
        <p:spPr>
          <a:xfrm>
            <a:off x="69951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Honorar gesamt und noch offen</a:t>
            </a:r>
            <a:endParaRPr lang="en-US" sz="1250" dirty="0"/>
          </a:p>
        </p:txBody>
      </p:sp>
      <p:sp>
        <p:nvSpPr>
          <p:cNvPr id="11" name="a006_f_2051"/>
          <p:cNvSpPr/>
          <p:nvPr/>
        </p:nvSpPr>
        <p:spPr>
          <a:xfrm>
            <a:off x="6739128" y="34975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2" name="a006_f_2052"/>
          <p:cNvSpPr txBox="1"/>
          <p:nvPr/>
        </p:nvSpPr>
        <p:spPr>
          <a:xfrm>
            <a:off x="69951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Fristen, überschrittene hervorgehoben</a:t>
            </a:r>
            <a:endParaRPr lang="en-US" sz="1250" dirty="0"/>
          </a:p>
        </p:txBody>
      </p:sp>
      <p:sp>
        <p:nvSpPr>
          <p:cNvPr id="13" name="a007_f_2053"/>
          <p:cNvSpPr/>
          <p:nvPr/>
        </p:nvSpPr>
        <p:spPr>
          <a:xfrm>
            <a:off x="6739128" y="38404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4" name="a007_f_2054"/>
          <p:cNvSpPr txBox="1"/>
          <p:nvPr/>
        </p:nvSpPr>
        <p:spPr>
          <a:xfrm>
            <a:off x="69951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Werbekennzeichnung geprüft</a:t>
            </a:r>
            <a:endParaRPr lang="en-US" sz="1250" dirty="0"/>
          </a:p>
        </p:txBody>
      </p:sp>
      <p:sp>
        <p:nvSpPr>
          <p:cNvPr id="15" name="a012_f_2055"/>
          <p:cNvSpPr txBox="1"/>
          <p:nvPr/>
        </p:nvSpPr>
        <p:spPr>
          <a:xfrm>
            <a:off x="67208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6" name="a013_f_2056"/>
          <p:cNvSpPr txBox="1"/>
          <p:nvPr/>
        </p:nvSpPr>
        <p:spPr>
          <a:xfrm>
            <a:off x="6720840" y="5760720"/>
            <a:ext cx="104241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Video-Detail</a:t>
            </a:r>
            <a:endParaRPr lang="en-US" sz="950" dirty="0"/>
          </a:p>
        </p:txBody>
      </p:sp>
      <p:sp>
        <p:nvSpPr>
          <p:cNvPr id="17" name="a013_f_2057"/>
          <p:cNvSpPr txBox="1"/>
          <p:nvPr/>
        </p:nvSpPr>
        <p:spPr>
          <a:xfrm>
            <a:off x="7854696" y="5760720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950" dirty="0"/>
          </a:p>
        </p:txBody>
      </p:sp>
      <p:sp>
        <p:nvSpPr>
          <p:cNvPr id="18" name="a002_f_2058"/>
          <p:cNvSpPr/>
          <p:nvPr/>
        </p:nvSpPr>
        <p:spPr>
          <a:xfrm>
            <a:off x="420624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19" name="a002_f_2059" descr="/tmp/claude-0/-home-user-cutsheet/6324ba14-9edd-52e0-984d-db7baab43700/scratchpad/deck/img/_projects_2_creator_sponsoren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11618"/>
            <a:ext cx="5989320" cy="3743325"/>
          </a:xfrm>
          <a:prstGeom prst="rect">
            <a:avLst/>
          </a:prstGeom>
        </p:spPr>
      </p:pic>
      <p:sp>
        <p:nvSpPr>
          <p:cNvPr id="20" name="s_2060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1" name="s_2061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2062"/>
          <p:cNvSpPr txBox="1"/>
          <p:nvPr/>
        </p:nvSpPr>
        <p:spPr>
          <a:xfrm>
            <a:off x="548640" y="502920"/>
            <a:ext cx="1256386" cy="292608"/>
          </a:xfrm>
          <a:prstGeom prst="roundRect">
            <a:avLst>
              <a:gd name="adj" fmla="val 50000"/>
            </a:avLst>
          </a:prstGeom>
          <a:solidFill>
            <a:srgbClr val="FFEB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Creator-Modus</a:t>
            </a:r>
            <a:endParaRPr lang="en-US" sz="1000" dirty="0"/>
          </a:p>
        </p:txBody>
      </p:sp>
      <p:sp>
        <p:nvSpPr>
          <p:cNvPr id="3" name="a001_f_2063"/>
          <p:cNvSpPr txBox="1"/>
          <p:nvPr/>
        </p:nvSpPr>
        <p:spPr>
          <a:xfrm>
            <a:off x="37947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65 von 69</a:t>
            </a:r>
            <a:endParaRPr lang="en-US" sz="950" dirty="0"/>
          </a:p>
        </p:txBody>
      </p:sp>
      <p:sp>
        <p:nvSpPr>
          <p:cNvPr id="4" name="a001_f_2064"/>
          <p:cNvSpPr txBox="1"/>
          <p:nvPr/>
        </p:nvSpPr>
        <p:spPr>
          <a:xfrm>
            <a:off x="5486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&amp; Metadaten</a:t>
            </a:r>
            <a:endParaRPr lang="en-US" sz="3200" dirty="0"/>
          </a:p>
        </p:txBody>
      </p:sp>
      <p:sp>
        <p:nvSpPr>
          <p:cNvPr id="5" name="a001_f_2065"/>
          <p:cNvSpPr txBox="1"/>
          <p:nvPr/>
        </p:nvSpPr>
        <p:spPr>
          <a:xfrm>
            <a:off x="5486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/projects/:id/creator/seo</a:t>
            </a:r>
            <a:endParaRPr lang="en-US" sz="1050" dirty="0"/>
          </a:p>
        </p:txBody>
      </p:sp>
      <p:sp>
        <p:nvSpPr>
          <p:cNvPr id="6" name="a003_f_2066"/>
          <p:cNvSpPr txBox="1"/>
          <p:nvPr/>
        </p:nvSpPr>
        <p:spPr>
          <a:xfrm>
            <a:off x="5486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Sind Titel, Zielbegriff, Schlagworte und Beschreibung vollständig?</a:t>
            </a:r>
            <a:endParaRPr lang="en-US" sz="1400" dirty="0"/>
          </a:p>
        </p:txBody>
      </p:sp>
      <p:sp>
        <p:nvSpPr>
          <p:cNvPr id="7" name="a004_f_2067"/>
          <p:cNvSpPr/>
          <p:nvPr/>
        </p:nvSpPr>
        <p:spPr>
          <a:xfrm>
            <a:off x="566928" y="28117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8" name="a004_f_2068"/>
          <p:cNvSpPr txBox="1"/>
          <p:nvPr/>
        </p:nvSpPr>
        <p:spPr>
          <a:xfrm>
            <a:off x="8229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Prüfung je Video</a:t>
            </a:r>
            <a:endParaRPr lang="en-US" sz="1250" dirty="0"/>
          </a:p>
        </p:txBody>
      </p:sp>
      <p:sp>
        <p:nvSpPr>
          <p:cNvPr id="9" name="a005_f_2069"/>
          <p:cNvSpPr/>
          <p:nvPr/>
        </p:nvSpPr>
        <p:spPr>
          <a:xfrm>
            <a:off x="566928" y="31546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0" name="a005_f_2070"/>
          <p:cNvSpPr txBox="1"/>
          <p:nvPr/>
        </p:nvSpPr>
        <p:spPr>
          <a:xfrm>
            <a:off x="8229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fehlt, steht in der Zeile</a:t>
            </a:r>
            <a:endParaRPr lang="en-US" sz="1250" dirty="0"/>
          </a:p>
        </p:txBody>
      </p:sp>
      <p:sp>
        <p:nvSpPr>
          <p:cNvPr id="11" name="a006_f_2071"/>
          <p:cNvSpPr/>
          <p:nvPr/>
        </p:nvSpPr>
        <p:spPr>
          <a:xfrm>
            <a:off x="566928" y="34975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2" name="a006_f_2072"/>
          <p:cNvSpPr txBox="1"/>
          <p:nvPr/>
        </p:nvSpPr>
        <p:spPr>
          <a:xfrm>
            <a:off x="8229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Vollständig vs. mit Mängeln</a:t>
            </a:r>
            <a:endParaRPr lang="en-US" sz="1250" dirty="0"/>
          </a:p>
        </p:txBody>
      </p:sp>
      <p:sp>
        <p:nvSpPr>
          <p:cNvPr id="13" name="a012_f_2073"/>
          <p:cNvSpPr txBox="1"/>
          <p:nvPr/>
        </p:nvSpPr>
        <p:spPr>
          <a:xfrm>
            <a:off x="5486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4" name="a013_f_2074"/>
          <p:cNvSpPr txBox="1"/>
          <p:nvPr/>
        </p:nvSpPr>
        <p:spPr>
          <a:xfrm>
            <a:off x="548640" y="5760720"/>
            <a:ext cx="104241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Video-Detail</a:t>
            </a:r>
            <a:endParaRPr lang="en-US" sz="950" dirty="0"/>
          </a:p>
        </p:txBody>
      </p:sp>
      <p:sp>
        <p:nvSpPr>
          <p:cNvPr id="15" name="a013_f_2075"/>
          <p:cNvSpPr txBox="1"/>
          <p:nvPr/>
        </p:nvSpPr>
        <p:spPr>
          <a:xfrm>
            <a:off x="1682496" y="5760720"/>
            <a:ext cx="142646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Titel &amp; Thumbnails</a:t>
            </a:r>
            <a:endParaRPr lang="en-US" sz="950" dirty="0"/>
          </a:p>
        </p:txBody>
      </p:sp>
      <p:sp>
        <p:nvSpPr>
          <p:cNvPr id="16" name="a002_f_2076"/>
          <p:cNvSpPr/>
          <p:nvPr/>
        </p:nvSpPr>
        <p:spPr>
          <a:xfrm>
            <a:off x="5617159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17" name="a002_f_2077" descr="/tmp/claude-0/-home-user-cutsheet/6324ba14-9edd-52e0-984d-db7baab43700/scratchpad/deck/img/_projects_2_creator_seo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455" y="1511618"/>
            <a:ext cx="5989320" cy="3743325"/>
          </a:xfrm>
          <a:prstGeom prst="rect">
            <a:avLst/>
          </a:prstGeom>
        </p:spPr>
      </p:pic>
      <p:sp>
        <p:nvSpPr>
          <p:cNvPr id="18" name="s_2078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19" name="s_2079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2080"/>
          <p:cNvSpPr txBox="1"/>
          <p:nvPr/>
        </p:nvSpPr>
        <p:spPr>
          <a:xfrm>
            <a:off x="6720840" y="502920"/>
            <a:ext cx="1256386" cy="292608"/>
          </a:xfrm>
          <a:prstGeom prst="roundRect">
            <a:avLst>
              <a:gd name="adj" fmla="val 50000"/>
            </a:avLst>
          </a:prstGeom>
          <a:solidFill>
            <a:srgbClr val="FFEB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Creator-Modus</a:t>
            </a:r>
            <a:endParaRPr lang="en-US" sz="1000" dirty="0"/>
          </a:p>
        </p:txBody>
      </p:sp>
      <p:sp>
        <p:nvSpPr>
          <p:cNvPr id="3" name="a001_f_2081"/>
          <p:cNvSpPr txBox="1"/>
          <p:nvPr/>
        </p:nvSpPr>
        <p:spPr>
          <a:xfrm>
            <a:off x="99669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66 von 69</a:t>
            </a:r>
            <a:endParaRPr lang="en-US" sz="950" dirty="0"/>
          </a:p>
        </p:txBody>
      </p:sp>
      <p:sp>
        <p:nvSpPr>
          <p:cNvPr id="4" name="a001_f_2082"/>
          <p:cNvSpPr txBox="1"/>
          <p:nvPr/>
        </p:nvSpPr>
        <p:spPr>
          <a:xfrm>
            <a:off x="67208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Rechte &amp; Lizenzen</a:t>
            </a:r>
            <a:endParaRPr lang="en-US" sz="3200" dirty="0"/>
          </a:p>
        </p:txBody>
      </p:sp>
      <p:sp>
        <p:nvSpPr>
          <p:cNvPr id="5" name="a001_f_2083"/>
          <p:cNvSpPr txBox="1"/>
          <p:nvPr/>
        </p:nvSpPr>
        <p:spPr>
          <a:xfrm>
            <a:off x="67208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/projects/:id/creator/rechte</a:t>
            </a:r>
            <a:endParaRPr lang="en-US" sz="1050" dirty="0"/>
          </a:p>
        </p:txBody>
      </p:sp>
      <p:sp>
        <p:nvSpPr>
          <p:cNvPr id="6" name="a003_f_2084"/>
          <p:cNvSpPr txBox="1"/>
          <p:nvPr/>
        </p:nvSpPr>
        <p:spPr>
          <a:xfrm>
            <a:off x="67208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Musik und Fremdmaterial mit Lizenz – bevor Content-ID zuschlägt.</a:t>
            </a:r>
            <a:endParaRPr lang="en-US" sz="1400" dirty="0"/>
          </a:p>
        </p:txBody>
      </p:sp>
      <p:sp>
        <p:nvSpPr>
          <p:cNvPr id="7" name="a004_f_2085"/>
          <p:cNvSpPr/>
          <p:nvPr/>
        </p:nvSpPr>
        <p:spPr>
          <a:xfrm>
            <a:off x="6739128" y="28117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8" name="a004_f_2086"/>
          <p:cNvSpPr txBox="1"/>
          <p:nvPr/>
        </p:nvSpPr>
        <p:spPr>
          <a:xfrm>
            <a:off x="69951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je Video</a:t>
            </a:r>
            <a:endParaRPr lang="en-US" sz="1250" dirty="0"/>
          </a:p>
        </p:txBody>
      </p:sp>
      <p:sp>
        <p:nvSpPr>
          <p:cNvPr id="9" name="a005_f_2087"/>
          <p:cNvSpPr/>
          <p:nvPr/>
        </p:nvSpPr>
        <p:spPr>
          <a:xfrm>
            <a:off x="6739128" y="31546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0" name="a005_f_2088"/>
          <p:cNvSpPr txBox="1"/>
          <p:nvPr/>
        </p:nvSpPr>
        <p:spPr>
          <a:xfrm>
            <a:off x="69951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Ohne Lizenz markiert</a:t>
            </a:r>
            <a:endParaRPr lang="en-US" sz="1250" dirty="0"/>
          </a:p>
        </p:txBody>
      </p:sp>
      <p:sp>
        <p:nvSpPr>
          <p:cNvPr id="11" name="a006_f_2089"/>
          <p:cNvSpPr/>
          <p:nvPr/>
        </p:nvSpPr>
        <p:spPr>
          <a:xfrm>
            <a:off x="6739128" y="34975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2" name="a006_f_2090"/>
          <p:cNvSpPr txBox="1"/>
          <p:nvPr/>
        </p:nvSpPr>
        <p:spPr>
          <a:xfrm>
            <a:off x="69951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und Beanstandungen</a:t>
            </a:r>
            <a:endParaRPr lang="en-US" sz="1250" dirty="0"/>
          </a:p>
        </p:txBody>
      </p:sp>
      <p:sp>
        <p:nvSpPr>
          <p:cNvPr id="13" name="a007_f_2091"/>
          <p:cNvSpPr/>
          <p:nvPr/>
        </p:nvSpPr>
        <p:spPr>
          <a:xfrm>
            <a:off x="6739128" y="38404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4" name="a007_f_2092"/>
          <p:cNvSpPr txBox="1"/>
          <p:nvPr/>
        </p:nvSpPr>
        <p:spPr>
          <a:xfrm>
            <a:off x="6995160" y="37719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Videos mit hohem Risiko gezählt</a:t>
            </a:r>
            <a:endParaRPr lang="en-US" sz="1250" dirty="0"/>
          </a:p>
        </p:txBody>
      </p:sp>
      <p:sp>
        <p:nvSpPr>
          <p:cNvPr id="15" name="a012_f_2093"/>
          <p:cNvSpPr txBox="1"/>
          <p:nvPr/>
        </p:nvSpPr>
        <p:spPr>
          <a:xfrm>
            <a:off x="67208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6" name="a013_f_2094"/>
          <p:cNvSpPr txBox="1"/>
          <p:nvPr/>
        </p:nvSpPr>
        <p:spPr>
          <a:xfrm>
            <a:off x="6720840" y="5760720"/>
            <a:ext cx="104241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Video-Detail</a:t>
            </a:r>
            <a:endParaRPr lang="en-US" sz="950" dirty="0"/>
          </a:p>
        </p:txBody>
      </p:sp>
      <p:sp>
        <p:nvSpPr>
          <p:cNvPr id="17" name="a013_f_2095"/>
          <p:cNvSpPr txBox="1"/>
          <p:nvPr/>
        </p:nvSpPr>
        <p:spPr>
          <a:xfrm>
            <a:off x="7854696" y="576072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856D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8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Musikliste</a:t>
            </a:r>
            <a:endParaRPr lang="en-US" sz="950" dirty="0"/>
          </a:p>
        </p:txBody>
      </p:sp>
      <p:sp>
        <p:nvSpPr>
          <p:cNvPr id="18" name="a002_f_2096"/>
          <p:cNvSpPr/>
          <p:nvPr/>
        </p:nvSpPr>
        <p:spPr>
          <a:xfrm>
            <a:off x="420624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19" name="a002_f_2097" descr="/tmp/claude-0/-home-user-cutsheet/6324ba14-9edd-52e0-984d-db7baab43700/scratchpad/deck/img/_projects_2_creator_rechte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11618"/>
            <a:ext cx="5989320" cy="3743325"/>
          </a:xfrm>
          <a:prstGeom prst="rect">
            <a:avLst/>
          </a:prstGeom>
        </p:spPr>
      </p:pic>
      <p:sp>
        <p:nvSpPr>
          <p:cNvPr id="20" name="s_2098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1" name="s_2099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2100"/>
          <p:cNvSpPr txBox="1"/>
          <p:nvPr/>
        </p:nvSpPr>
        <p:spPr>
          <a:xfrm>
            <a:off x="548640" y="502920"/>
            <a:ext cx="1256386" cy="292608"/>
          </a:xfrm>
          <a:prstGeom prst="roundRect">
            <a:avLst>
              <a:gd name="adj" fmla="val 50000"/>
            </a:avLst>
          </a:prstGeom>
          <a:solidFill>
            <a:srgbClr val="FFEB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Creator-Modus</a:t>
            </a:r>
            <a:endParaRPr lang="en-US" sz="1000" dirty="0"/>
          </a:p>
        </p:txBody>
      </p:sp>
      <p:sp>
        <p:nvSpPr>
          <p:cNvPr id="3" name="a001_f_2101"/>
          <p:cNvSpPr txBox="1"/>
          <p:nvPr/>
        </p:nvSpPr>
        <p:spPr>
          <a:xfrm>
            <a:off x="37947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67 von 69</a:t>
            </a:r>
            <a:endParaRPr lang="en-US" sz="950" dirty="0"/>
          </a:p>
        </p:txBody>
      </p:sp>
      <p:sp>
        <p:nvSpPr>
          <p:cNvPr id="4" name="a001_f_2102"/>
          <p:cNvSpPr txBox="1"/>
          <p:nvPr/>
        </p:nvSpPr>
        <p:spPr>
          <a:xfrm>
            <a:off x="5486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Auskopplungen</a:t>
            </a:r>
            <a:endParaRPr lang="en-US" sz="3200" dirty="0"/>
          </a:p>
        </p:txBody>
      </p:sp>
      <p:sp>
        <p:nvSpPr>
          <p:cNvPr id="5" name="a001_f_2103"/>
          <p:cNvSpPr txBox="1"/>
          <p:nvPr/>
        </p:nvSpPr>
        <p:spPr>
          <a:xfrm>
            <a:off x="5486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/projects/:id/creator/clips</a:t>
            </a:r>
            <a:endParaRPr lang="en-US" sz="1050" dirty="0"/>
          </a:p>
        </p:txBody>
      </p:sp>
      <p:sp>
        <p:nvSpPr>
          <p:cNvPr id="6" name="a003_f_2104"/>
          <p:cNvSpPr txBox="1"/>
          <p:nvPr/>
        </p:nvSpPr>
        <p:spPr>
          <a:xfrm>
            <a:off x="5486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Shorts und Clips aus den Langvideos.</a:t>
            </a:r>
            <a:endParaRPr lang="en-US" sz="1400" dirty="0"/>
          </a:p>
        </p:txBody>
      </p:sp>
      <p:sp>
        <p:nvSpPr>
          <p:cNvPr id="7" name="a004_f_2105"/>
          <p:cNvSpPr/>
          <p:nvPr/>
        </p:nvSpPr>
        <p:spPr>
          <a:xfrm>
            <a:off x="566928" y="28117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8" name="a004_f_2106"/>
          <p:cNvSpPr txBox="1"/>
          <p:nvPr/>
        </p:nvSpPr>
        <p:spPr>
          <a:xfrm>
            <a:off x="8229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 aus Video, Plattform, Start, Dauer</a:t>
            </a:r>
            <a:endParaRPr lang="en-US" sz="1250" dirty="0"/>
          </a:p>
        </p:txBody>
      </p:sp>
      <p:sp>
        <p:nvSpPr>
          <p:cNvPr id="9" name="a005_f_2107"/>
          <p:cNvSpPr/>
          <p:nvPr/>
        </p:nvSpPr>
        <p:spPr>
          <a:xfrm>
            <a:off x="566928" y="31546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0" name="a005_f_2108"/>
          <p:cNvSpPr txBox="1"/>
          <p:nvPr/>
        </p:nvSpPr>
        <p:spPr>
          <a:xfrm>
            <a:off x="8229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und Beanstandungen</a:t>
            </a:r>
            <a:endParaRPr lang="en-US" sz="1250" dirty="0"/>
          </a:p>
        </p:txBody>
      </p:sp>
      <p:sp>
        <p:nvSpPr>
          <p:cNvPr id="11" name="a006_f_2109"/>
          <p:cNvSpPr/>
          <p:nvPr/>
        </p:nvSpPr>
        <p:spPr>
          <a:xfrm>
            <a:off x="566928" y="34975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2" name="a006_f_2110"/>
          <p:cNvSpPr txBox="1"/>
          <p:nvPr/>
        </p:nvSpPr>
        <p:spPr>
          <a:xfrm>
            <a:off x="8229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Gesamtlänge</a:t>
            </a:r>
            <a:endParaRPr lang="en-US" sz="1250" dirty="0"/>
          </a:p>
        </p:txBody>
      </p:sp>
      <p:sp>
        <p:nvSpPr>
          <p:cNvPr id="13" name="a012_f_2111"/>
          <p:cNvSpPr txBox="1"/>
          <p:nvPr/>
        </p:nvSpPr>
        <p:spPr>
          <a:xfrm>
            <a:off x="5486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4" name="a013_f_2112"/>
          <p:cNvSpPr txBox="1"/>
          <p:nvPr/>
        </p:nvSpPr>
        <p:spPr>
          <a:xfrm>
            <a:off x="548640" y="5760720"/>
            <a:ext cx="104241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Video-Detail</a:t>
            </a:r>
            <a:endParaRPr lang="en-US" sz="950" dirty="0"/>
          </a:p>
        </p:txBody>
      </p:sp>
      <p:sp>
        <p:nvSpPr>
          <p:cNvPr id="15" name="a002_f_2113"/>
          <p:cNvSpPr/>
          <p:nvPr/>
        </p:nvSpPr>
        <p:spPr>
          <a:xfrm>
            <a:off x="5617159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16" name="a002_f_2114" descr="/tmp/claude-0/-home-user-cutsheet/6324ba14-9edd-52e0-984d-db7baab43700/scratchpad/deck/img/_projects_2_creator_clips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455" y="1511618"/>
            <a:ext cx="5989320" cy="3743325"/>
          </a:xfrm>
          <a:prstGeom prst="rect">
            <a:avLst/>
          </a:prstGeom>
        </p:spPr>
      </p:pic>
      <p:sp>
        <p:nvSpPr>
          <p:cNvPr id="17" name="s_2115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18" name="s_2116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2117"/>
          <p:cNvSpPr txBox="1"/>
          <p:nvPr/>
        </p:nvSpPr>
        <p:spPr>
          <a:xfrm>
            <a:off x="6720840" y="502920"/>
            <a:ext cx="1256386" cy="292608"/>
          </a:xfrm>
          <a:prstGeom prst="roundRect">
            <a:avLst>
              <a:gd name="adj" fmla="val 50000"/>
            </a:avLst>
          </a:prstGeom>
          <a:solidFill>
            <a:srgbClr val="FFEB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Creator-Modus</a:t>
            </a:r>
            <a:endParaRPr lang="en-US" sz="1000" dirty="0"/>
          </a:p>
        </p:txBody>
      </p:sp>
      <p:sp>
        <p:nvSpPr>
          <p:cNvPr id="3" name="a001_f_2118"/>
          <p:cNvSpPr txBox="1"/>
          <p:nvPr/>
        </p:nvSpPr>
        <p:spPr>
          <a:xfrm>
            <a:off x="99669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68 von 69</a:t>
            </a:r>
            <a:endParaRPr lang="en-US" sz="950" dirty="0"/>
          </a:p>
        </p:txBody>
      </p:sp>
      <p:sp>
        <p:nvSpPr>
          <p:cNvPr id="4" name="a001_f_2119"/>
          <p:cNvSpPr txBox="1"/>
          <p:nvPr/>
        </p:nvSpPr>
        <p:spPr>
          <a:xfrm>
            <a:off x="67208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Upload-Checklisten</a:t>
            </a:r>
            <a:endParaRPr lang="en-US" sz="3200" dirty="0"/>
          </a:p>
        </p:txBody>
      </p:sp>
      <p:sp>
        <p:nvSpPr>
          <p:cNvPr id="5" name="a001_f_2120"/>
          <p:cNvSpPr txBox="1"/>
          <p:nvPr/>
        </p:nvSpPr>
        <p:spPr>
          <a:xfrm>
            <a:off x="67208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/projects/:id/creator/checklisten</a:t>
            </a:r>
            <a:endParaRPr lang="en-US" sz="1050" dirty="0"/>
          </a:p>
        </p:txBody>
      </p:sp>
      <p:sp>
        <p:nvSpPr>
          <p:cNvPr id="6" name="a003_f_2121"/>
          <p:cNvSpPr txBox="1"/>
          <p:nvPr/>
        </p:nvSpPr>
        <p:spPr>
          <a:xfrm>
            <a:off x="67208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vor dem Upload noch fehlt – für jedes Video.</a:t>
            </a:r>
            <a:endParaRPr lang="en-US" sz="1400" dirty="0"/>
          </a:p>
        </p:txBody>
      </p:sp>
      <p:sp>
        <p:nvSpPr>
          <p:cNvPr id="7" name="a004_f_2122"/>
          <p:cNvSpPr/>
          <p:nvPr/>
        </p:nvSpPr>
        <p:spPr>
          <a:xfrm>
            <a:off x="6739128" y="28117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8" name="a004_f_2123"/>
          <p:cNvSpPr txBox="1"/>
          <p:nvPr/>
        </p:nvSpPr>
        <p:spPr>
          <a:xfrm>
            <a:off x="69951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Fortschritt je Video</a:t>
            </a:r>
            <a:endParaRPr lang="en-US" sz="1250" dirty="0"/>
          </a:p>
        </p:txBody>
      </p:sp>
      <p:sp>
        <p:nvSpPr>
          <p:cNvPr id="9" name="a005_f_2124"/>
          <p:cNvSpPr/>
          <p:nvPr/>
        </p:nvSpPr>
        <p:spPr>
          <a:xfrm>
            <a:off x="6739128" y="31546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0" name="a005_f_2125"/>
          <p:cNvSpPr txBox="1"/>
          <p:nvPr/>
        </p:nvSpPr>
        <p:spPr>
          <a:xfrm>
            <a:off x="69951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Offene Punkte im Klartext</a:t>
            </a:r>
            <a:endParaRPr lang="en-US" sz="1250" dirty="0"/>
          </a:p>
        </p:txBody>
      </p:sp>
      <p:sp>
        <p:nvSpPr>
          <p:cNvPr id="11" name="a006_f_2126"/>
          <p:cNvSpPr/>
          <p:nvPr/>
        </p:nvSpPr>
        <p:spPr>
          <a:xfrm>
            <a:off x="6739128" y="34975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2" name="a006_f_2127"/>
          <p:cNvSpPr txBox="1"/>
          <p:nvPr/>
        </p:nvSpPr>
        <p:spPr>
          <a:xfrm>
            <a:off x="69951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Bereit zum Upload vs. ohne Checkliste</a:t>
            </a:r>
            <a:endParaRPr lang="en-US" sz="1250" dirty="0"/>
          </a:p>
        </p:txBody>
      </p:sp>
      <p:sp>
        <p:nvSpPr>
          <p:cNvPr id="13" name="a012_f_2128"/>
          <p:cNvSpPr txBox="1"/>
          <p:nvPr/>
        </p:nvSpPr>
        <p:spPr>
          <a:xfrm>
            <a:off x="67208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4" name="a013_f_2129"/>
          <p:cNvSpPr txBox="1"/>
          <p:nvPr/>
        </p:nvSpPr>
        <p:spPr>
          <a:xfrm>
            <a:off x="6720840" y="5760720"/>
            <a:ext cx="104241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Video-Detail</a:t>
            </a:r>
            <a:endParaRPr lang="en-US" sz="950" dirty="0"/>
          </a:p>
        </p:txBody>
      </p:sp>
      <p:sp>
        <p:nvSpPr>
          <p:cNvPr id="15" name="a002_f_2130"/>
          <p:cNvSpPr/>
          <p:nvPr/>
        </p:nvSpPr>
        <p:spPr>
          <a:xfrm>
            <a:off x="420624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16" name="a002_f_2131" descr="/tmp/claude-0/-home-user-cutsheet/6324ba14-9edd-52e0-984d-db7baab43700/scratchpad/deck/img/_projects_2_creator_checklisten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11618"/>
            <a:ext cx="5989320" cy="3743325"/>
          </a:xfrm>
          <a:prstGeom prst="rect">
            <a:avLst/>
          </a:prstGeom>
        </p:spPr>
      </p:pic>
      <p:sp>
        <p:nvSpPr>
          <p:cNvPr id="17" name="s_2132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18" name="s_2133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2134"/>
          <p:cNvSpPr txBox="1"/>
          <p:nvPr/>
        </p:nvSpPr>
        <p:spPr>
          <a:xfrm>
            <a:off x="548640" y="502920"/>
            <a:ext cx="1256386" cy="292608"/>
          </a:xfrm>
          <a:prstGeom prst="roundRect">
            <a:avLst>
              <a:gd name="adj" fmla="val 50000"/>
            </a:avLst>
          </a:prstGeom>
          <a:solidFill>
            <a:srgbClr val="FFEB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Creator-Modus</a:t>
            </a:r>
            <a:endParaRPr lang="en-US" sz="1000" dirty="0"/>
          </a:p>
        </p:txBody>
      </p:sp>
      <p:sp>
        <p:nvSpPr>
          <p:cNvPr id="3" name="a001_f_2135"/>
          <p:cNvSpPr txBox="1"/>
          <p:nvPr/>
        </p:nvSpPr>
        <p:spPr>
          <a:xfrm>
            <a:off x="3794760" y="530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 69 von 69</a:t>
            </a:r>
            <a:endParaRPr lang="en-US" sz="950" dirty="0"/>
          </a:p>
        </p:txBody>
      </p:sp>
      <p:sp>
        <p:nvSpPr>
          <p:cNvPr id="4" name="a001_f_2136"/>
          <p:cNvSpPr txBox="1"/>
          <p:nvPr/>
        </p:nvSpPr>
        <p:spPr>
          <a:xfrm>
            <a:off x="548640" y="914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Video-Performance</a:t>
            </a:r>
            <a:endParaRPr lang="en-US" sz="3200" dirty="0"/>
          </a:p>
        </p:txBody>
      </p:sp>
      <p:sp>
        <p:nvSpPr>
          <p:cNvPr id="5" name="a001_f_2137"/>
          <p:cNvSpPr txBox="1"/>
          <p:nvPr/>
        </p:nvSpPr>
        <p:spPr>
          <a:xfrm>
            <a:off x="548640" y="15910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/projects/:id/creator/performance</a:t>
            </a:r>
            <a:endParaRPr lang="en-US" sz="1050" dirty="0"/>
          </a:p>
        </p:txBody>
      </p:sp>
      <p:sp>
        <p:nvSpPr>
          <p:cNvPr id="6" name="a003_f_2138"/>
          <p:cNvSpPr txBox="1"/>
          <p:nvPr/>
        </p:nvSpPr>
        <p:spPr>
          <a:xfrm>
            <a:off x="548640" y="19385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die veröffentlichten Videos laufen.</a:t>
            </a:r>
            <a:endParaRPr lang="en-US" sz="1400" dirty="0"/>
          </a:p>
        </p:txBody>
      </p:sp>
      <p:sp>
        <p:nvSpPr>
          <p:cNvPr id="7" name="a004_f_2139"/>
          <p:cNvSpPr/>
          <p:nvPr/>
        </p:nvSpPr>
        <p:spPr>
          <a:xfrm>
            <a:off x="566928" y="28117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8" name="a004_f_2140"/>
          <p:cNvSpPr txBox="1"/>
          <p:nvPr/>
        </p:nvSpPr>
        <p:spPr>
          <a:xfrm>
            <a:off x="822960" y="27432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Aufrufe, Klickrate, Haltequote, Abos</a:t>
            </a:r>
            <a:endParaRPr lang="en-US" sz="1250" dirty="0"/>
          </a:p>
        </p:txBody>
      </p:sp>
      <p:sp>
        <p:nvSpPr>
          <p:cNvPr id="9" name="a005_f_2141"/>
          <p:cNvSpPr/>
          <p:nvPr/>
        </p:nvSpPr>
        <p:spPr>
          <a:xfrm>
            <a:off x="566928" y="31546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0" name="a005_f_2142"/>
          <p:cNvSpPr txBox="1"/>
          <p:nvPr/>
        </p:nvSpPr>
        <p:spPr>
          <a:xfrm>
            <a:off x="822960" y="30861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Einordnung gegen den Kanal</a:t>
            </a:r>
            <a:endParaRPr lang="en-US" sz="1250" dirty="0"/>
          </a:p>
        </p:txBody>
      </p:sp>
      <p:sp>
        <p:nvSpPr>
          <p:cNvPr id="11" name="a006_f_2143"/>
          <p:cNvSpPr/>
          <p:nvPr/>
        </p:nvSpPr>
        <p:spPr>
          <a:xfrm>
            <a:off x="566928" y="3497580"/>
            <a:ext cx="118872" cy="11887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2" name="a006_f_2144"/>
          <p:cNvSpPr txBox="1"/>
          <p:nvPr/>
        </p:nvSpPr>
        <p:spPr>
          <a:xfrm>
            <a:off x="822960" y="3429000"/>
            <a:ext cx="46177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Schnittwerte über alle Videos</a:t>
            </a:r>
            <a:endParaRPr lang="en-US" sz="1250" dirty="0"/>
          </a:p>
        </p:txBody>
      </p:sp>
      <p:sp>
        <p:nvSpPr>
          <p:cNvPr id="13" name="a012_f_2145"/>
          <p:cNvSpPr txBox="1"/>
          <p:nvPr/>
        </p:nvSpPr>
        <p:spPr>
          <a:xfrm>
            <a:off x="54864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VERBUNDEN MIT</a:t>
            </a:r>
            <a:endParaRPr lang="en-US" sz="850" dirty="0"/>
          </a:p>
        </p:txBody>
      </p:sp>
      <p:sp>
        <p:nvSpPr>
          <p:cNvPr id="14" name="a013_f_2146"/>
          <p:cNvSpPr txBox="1"/>
          <p:nvPr/>
        </p:nvSpPr>
        <p:spPr>
          <a:xfrm>
            <a:off x="548640" y="5760720"/>
            <a:ext cx="5943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Kanal</a:t>
            </a:r>
            <a:endParaRPr lang="en-US" sz="950" dirty="0"/>
          </a:p>
        </p:txBody>
      </p:sp>
      <p:sp>
        <p:nvSpPr>
          <p:cNvPr id="15" name="a013_f_2147"/>
          <p:cNvSpPr txBox="1"/>
          <p:nvPr/>
        </p:nvSpPr>
        <p:spPr>
          <a:xfrm>
            <a:off x="1234440" y="5760720"/>
            <a:ext cx="129844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Serien &amp; Formate</a:t>
            </a:r>
            <a:endParaRPr lang="en-US" sz="950" dirty="0"/>
          </a:p>
        </p:txBody>
      </p:sp>
      <p:sp>
        <p:nvSpPr>
          <p:cNvPr id="16" name="a013_f_2148"/>
          <p:cNvSpPr txBox="1"/>
          <p:nvPr/>
        </p:nvSpPr>
        <p:spPr>
          <a:xfrm>
            <a:off x="2624328" y="5760720"/>
            <a:ext cx="104241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3B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Video-Detail</a:t>
            </a:r>
            <a:endParaRPr lang="en-US" sz="950" dirty="0"/>
          </a:p>
        </p:txBody>
      </p:sp>
      <p:sp>
        <p:nvSpPr>
          <p:cNvPr id="17" name="a002_f_2149"/>
          <p:cNvSpPr/>
          <p:nvPr/>
        </p:nvSpPr>
        <p:spPr>
          <a:xfrm>
            <a:off x="5617159" y="1429322"/>
            <a:ext cx="6153912" cy="3907917"/>
          </a:xfrm>
          <a:prstGeom prst="roundRect">
            <a:avLst>
              <a:gd name="adj" fmla="val 327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6000"/>
              </a:srgbClr>
            </a:outerShdw>
          </a:effectLst>
        </p:spPr>
      </p:sp>
      <p:pic>
        <p:nvPicPr>
          <p:cNvPr id="18" name="a002_f_2150" descr="/tmp/claude-0/-home-user-cutsheet/6324ba14-9edd-52e0-984d-db7baab43700/scratchpad/deck/img/_projects_2_creator_performance-16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9455" y="1511618"/>
            <a:ext cx="5989320" cy="3743325"/>
          </a:xfrm>
          <a:prstGeom prst="rect">
            <a:avLst/>
          </a:prstGeom>
        </p:spPr>
      </p:pic>
      <p:sp>
        <p:nvSpPr>
          <p:cNvPr id="19" name="s_2151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20" name="s_2152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8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8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01_f_2153"/>
          <p:cNvSpPr txBox="1"/>
          <p:nvPr/>
        </p:nvSpPr>
        <p:spPr>
          <a:xfrm>
            <a:off x="548640" y="502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Alles, was rausgeht – und reinkommt</a:t>
            </a:r>
            <a:endParaRPr lang="en-US" sz="3400" dirty="0"/>
          </a:p>
        </p:txBody>
      </p:sp>
      <p:sp>
        <p:nvSpPr>
          <p:cNvPr id="3" name="a002_f_2154"/>
          <p:cNvSpPr/>
          <p:nvPr/>
        </p:nvSpPr>
        <p:spPr>
          <a:xfrm>
            <a:off x="548640" y="1463040"/>
            <a:ext cx="2651760" cy="480060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4" name="a002_f_2155"/>
          <p:cNvSpPr txBox="1"/>
          <p:nvPr/>
        </p:nvSpPr>
        <p:spPr>
          <a:xfrm>
            <a:off x="749808" y="1645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PDF-Dokumente</a:t>
            </a:r>
            <a:endParaRPr lang="en-US" sz="1500" dirty="0"/>
          </a:p>
        </p:txBody>
      </p:sp>
      <p:sp>
        <p:nvSpPr>
          <p:cNvPr id="5" name="a002_f_2156"/>
          <p:cNvSpPr txBox="1"/>
          <p:nvPr/>
        </p:nvSpPr>
        <p:spPr>
          <a:xfrm>
            <a:off x="749808" y="2240280"/>
            <a:ext cx="2286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Tagesdispo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Sides je Drehtag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Drehplan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 Brief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Tagesbericht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Kamerabericht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Shotlist (Szenen / Drehtage)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Drehbuch (+ Anmerkungen)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Stabliste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Besetzungsliste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Motivliste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Motivvertrag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Kalkulation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Förderantrag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Equipmentliste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Catering-Tagesliste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Set-Plan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Creator-Skript</a:t>
            </a:r>
            <a:endParaRPr lang="en-US" sz="950" dirty="0"/>
          </a:p>
        </p:txBody>
      </p:sp>
      <p:sp>
        <p:nvSpPr>
          <p:cNvPr id="6" name="a003_f_2157"/>
          <p:cNvSpPr/>
          <p:nvPr/>
        </p:nvSpPr>
        <p:spPr>
          <a:xfrm>
            <a:off x="3383280" y="1463040"/>
            <a:ext cx="2651760" cy="480060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7" name="a003_f_2158"/>
          <p:cNvSpPr txBox="1"/>
          <p:nvPr/>
        </p:nvSpPr>
        <p:spPr>
          <a:xfrm>
            <a:off x="3584448" y="1645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Tabellen &amp; Adressen</a:t>
            </a:r>
            <a:endParaRPr lang="en-US" sz="1500" dirty="0"/>
          </a:p>
        </p:txBody>
      </p:sp>
      <p:sp>
        <p:nvSpPr>
          <p:cNvPr id="8" name="a003_f_2159"/>
          <p:cNvSpPr txBox="1"/>
          <p:nvPr/>
        </p:nvSpPr>
        <p:spPr>
          <a:xfrm>
            <a:off x="3584448" y="2240280"/>
            <a:ext cx="2286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CSV: Stab, Besetzung, Kontakte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CSV: Day Out of Days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CSV: Timesheets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CSV: Lohnexport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CSV: Musikliste im GEMA-Format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vCard fürs Adressbuch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JSON: eigene Daten (DSGVO)</a:t>
            </a:r>
            <a:endParaRPr lang="en-US" sz="1150" dirty="0"/>
          </a:p>
        </p:txBody>
      </p:sp>
      <p:sp>
        <p:nvSpPr>
          <p:cNvPr id="9" name="a004_f_2160"/>
          <p:cNvSpPr/>
          <p:nvPr/>
        </p:nvSpPr>
        <p:spPr>
          <a:xfrm>
            <a:off x="6217920" y="1463040"/>
            <a:ext cx="2651760" cy="480060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10" name="a004_f_2161"/>
          <p:cNvSpPr txBox="1"/>
          <p:nvPr/>
        </p:nvSpPr>
        <p:spPr>
          <a:xfrm>
            <a:off x="6419088" y="1645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F5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Drehbuch rein &amp; raus</a:t>
            </a:r>
            <a:endParaRPr lang="en-US" sz="1500" dirty="0"/>
          </a:p>
        </p:txBody>
      </p:sp>
      <p:sp>
        <p:nvSpPr>
          <p:cNvPr id="11" name="a004_f_2162"/>
          <p:cNvSpPr txBox="1"/>
          <p:nvPr/>
        </p:nvSpPr>
        <p:spPr>
          <a:xfrm>
            <a:off x="6419088" y="2240280"/>
            <a:ext cx="2286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Import: Final Draft (FDX)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Import: Celtx, Fountain beim Anlegen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Import: Szenen aus Text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Export: Fountain (Highland, Slugline, Final Draft)</a:t>
            </a:r>
            <a:endParaRPr lang="en-US" sz="1150" dirty="0"/>
          </a:p>
        </p:txBody>
      </p:sp>
      <p:sp>
        <p:nvSpPr>
          <p:cNvPr id="12" name="a005_f_2163"/>
          <p:cNvSpPr/>
          <p:nvPr/>
        </p:nvSpPr>
        <p:spPr>
          <a:xfrm>
            <a:off x="9052560" y="1463040"/>
            <a:ext cx="2651760" cy="480060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13" name="a005_f_2164"/>
          <p:cNvSpPr txBox="1"/>
          <p:nvPr/>
        </p:nvSpPr>
        <p:spPr>
          <a:xfrm>
            <a:off x="9253728" y="1645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Kalender, Telefon, offline</a:t>
            </a:r>
            <a:endParaRPr lang="en-US" sz="1500" dirty="0"/>
          </a:p>
        </p:txBody>
      </p:sp>
      <p:sp>
        <p:nvSpPr>
          <p:cNvPr id="14" name="a005_f_2165"/>
          <p:cNvSpPr txBox="1"/>
          <p:nvPr/>
        </p:nvSpPr>
        <p:spPr>
          <a:xfrm>
            <a:off x="9253728" y="2240280"/>
            <a:ext cx="2286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Drehtage und Termine als .ics (Google, Apple, Outlook)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Persönliche Dispo-Links mit Zusage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Set-Daten drei Tage offline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bei Dispo-Versand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Installierbar; Android-App vorbereitet</a:t>
            </a:r>
            <a:endParaRPr lang="en-US" sz="1150" dirty="0"/>
          </a:p>
        </p:txBody>
      </p:sp>
      <p:sp>
        <p:nvSpPr>
          <p:cNvPr id="15" name="s_2166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CutSheet</a:t>
            </a:r>
            <a:endParaRPr lang="en-US" sz="900" dirty="0"/>
          </a:p>
        </p:txBody>
      </p:sp>
      <p:sp>
        <p:nvSpPr>
          <p:cNvPr id="16" name="s_2167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8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8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8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001_z_2168" descr="/tmp/claude-0/-home-user-cutsheet/6324ba14-9edd-52e0-984d-db7baab43700/scratchpad/deck/img/app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2928" y="1325880"/>
            <a:ext cx="1005840" cy="1005840"/>
          </a:xfrm>
          <a:prstGeom prst="rect">
            <a:avLst/>
          </a:prstGeom>
        </p:spPr>
      </p:pic>
      <p:sp>
        <p:nvSpPr>
          <p:cNvPr id="3" name="a002_f_2169"/>
          <p:cNvSpPr txBox="1"/>
          <p:nvPr/>
        </p:nvSpPr>
        <p:spPr>
          <a:xfrm>
            <a:off x="548640" y="2606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 Seiten. Ein Werkzeug.</a:t>
            </a:r>
            <a:endParaRPr lang="en-US" sz="4800" dirty="0"/>
          </a:p>
        </p:txBody>
      </p:sp>
      <p:sp>
        <p:nvSpPr>
          <p:cNvPr id="4" name="a003_f_2170"/>
          <p:cNvSpPr txBox="1"/>
          <p:nvPr/>
        </p:nvSpPr>
        <p:spPr>
          <a:xfrm>
            <a:off x="1371600" y="3611880"/>
            <a:ext cx="94484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ersten Drehbuchblock bis zum GEMA-Cuesheet – jede Seite liest, was die vorige geschrieben hat.</a:t>
            </a:r>
            <a:endParaRPr lang="en-US" sz="1800" dirty="0"/>
          </a:p>
        </p:txBody>
      </p:sp>
      <p:sp>
        <p:nvSpPr>
          <p:cNvPr id="5" name="a004_z_2171"/>
          <p:cNvSpPr txBox="1"/>
          <p:nvPr/>
        </p:nvSpPr>
        <p:spPr>
          <a:xfrm>
            <a:off x="2011680" y="4754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Testversion</a:t>
            </a:r>
            <a:endParaRPr lang="en-US" sz="2200" dirty="0"/>
          </a:p>
        </p:txBody>
      </p:sp>
      <p:sp>
        <p:nvSpPr>
          <p:cNvPr id="6" name="a004_f_2172"/>
          <p:cNvSpPr txBox="1"/>
          <p:nvPr/>
        </p:nvSpPr>
        <p:spPr>
          <a:xfrm>
            <a:off x="2011680" y="5212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Großproduktion „Nordlicht“</a:t>
            </a:r>
            <a:endParaRPr lang="en-US" sz="1150" dirty="0"/>
          </a:p>
        </p:txBody>
      </p:sp>
      <p:sp>
        <p:nvSpPr>
          <p:cNvPr id="7" name="a005_z_2173"/>
          <p:cNvSpPr txBox="1"/>
          <p:nvPr/>
        </p:nvSpPr>
        <p:spPr>
          <a:xfrm>
            <a:off x="4846320" y="4754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Nutzer</a:t>
            </a:r>
            <a:endParaRPr lang="en-US" sz="2200" dirty="0"/>
          </a:p>
        </p:txBody>
      </p:sp>
      <p:sp>
        <p:nvSpPr>
          <p:cNvPr id="8" name="a005_f_2174"/>
          <p:cNvSpPr txBox="1"/>
          <p:nvPr/>
        </p:nvSpPr>
        <p:spPr>
          <a:xfrm>
            <a:off x="4846320" y="5212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gleichzeitig, 0 Fehler im Lasttest</a:t>
            </a:r>
            <a:endParaRPr lang="en-US" sz="1150" dirty="0"/>
          </a:p>
        </p:txBody>
      </p:sp>
      <p:sp>
        <p:nvSpPr>
          <p:cNvPr id="9" name="a006_z_2175"/>
          <p:cNvSpPr txBox="1"/>
          <p:nvPr/>
        </p:nvSpPr>
        <p:spPr>
          <a:xfrm>
            <a:off x="7680960" y="4754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Tests</a:t>
            </a:r>
            <a:endParaRPr lang="en-US" sz="2200" dirty="0"/>
          </a:p>
        </p:txBody>
      </p:sp>
      <p:sp>
        <p:nvSpPr>
          <p:cNvPr id="10" name="a006_f_2176"/>
          <p:cNvSpPr txBox="1"/>
          <p:nvPr/>
        </p:nvSpPr>
        <p:spPr>
          <a:xfrm>
            <a:off x="7680960" y="5212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Server, alle grün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8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8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8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8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8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8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48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8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8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87</Slides>
  <Notes>87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CutSheet – Jede Seite. Jede Funktion.</dc:title>
  <dc:subject>PptxGenJS Presentation</dc:subject>
  <dc:creator>CutSheet</dc:creator>
  <cp:lastModifiedBy>CutSheet</cp:lastModifiedBy>
  <cp:revision>1</cp:revision>
  <dcterms:created xsi:type="dcterms:W3CDTF">2026-09-27T19:58:14Z</dcterms:created>
  <dcterms:modified xsi:type="dcterms:W3CDTF">2026-09-27T19:58:14Z</dcterms:modified>
</cp:coreProperties>
</file>